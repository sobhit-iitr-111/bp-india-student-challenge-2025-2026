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3" r:id="rId3"/>
    <p:sldId id="264" r:id="rId4"/>
    <p:sldId id="265" r:id="rId5"/>
    <p:sldId id="261" r:id="rId6"/>
    <p:sldId id="259" r:id="rId7"/>
    <p:sldId id="334" r:id="rId8"/>
    <p:sldId id="335" r:id="rId9"/>
    <p:sldId id="262" r:id="rId10"/>
    <p:sldId id="257" r:id="rId11"/>
    <p:sldId id="258" r:id="rId12"/>
  </p:sldIdLst>
  <p:sldSz cx="10160000" cy="5715000"/>
  <p:notesSz cx="6858000" cy="9144000"/>
  <p:defaultTextStyle>
    <a:defPPr>
      <a:defRPr lang="en-US"/>
    </a:defPPr>
    <a:lvl1pPr marL="0" algn="l" defTabSz="356616" rtl="0" eaLnBrk="1" latinLnBrk="0" hangingPunct="1">
      <a:defRPr sz="1404" kern="1200">
        <a:solidFill>
          <a:schemeClr val="tx1"/>
        </a:solidFill>
        <a:latin typeface="+mn-lt"/>
        <a:ea typeface="+mn-ea"/>
        <a:cs typeface="+mn-cs"/>
      </a:defRPr>
    </a:lvl1pPr>
    <a:lvl2pPr marL="356616" algn="l" defTabSz="356616" rtl="0" eaLnBrk="1" latinLnBrk="0" hangingPunct="1">
      <a:defRPr sz="1404" kern="1200">
        <a:solidFill>
          <a:schemeClr val="tx1"/>
        </a:solidFill>
        <a:latin typeface="+mn-lt"/>
        <a:ea typeface="+mn-ea"/>
        <a:cs typeface="+mn-cs"/>
      </a:defRPr>
    </a:lvl2pPr>
    <a:lvl3pPr marL="713232" algn="l" defTabSz="356616" rtl="0" eaLnBrk="1" latinLnBrk="0" hangingPunct="1">
      <a:defRPr sz="1404" kern="1200">
        <a:solidFill>
          <a:schemeClr val="tx1"/>
        </a:solidFill>
        <a:latin typeface="+mn-lt"/>
        <a:ea typeface="+mn-ea"/>
        <a:cs typeface="+mn-cs"/>
      </a:defRPr>
    </a:lvl3pPr>
    <a:lvl4pPr marL="1069848" algn="l" defTabSz="356616" rtl="0" eaLnBrk="1" latinLnBrk="0" hangingPunct="1">
      <a:defRPr sz="1404" kern="1200">
        <a:solidFill>
          <a:schemeClr val="tx1"/>
        </a:solidFill>
        <a:latin typeface="+mn-lt"/>
        <a:ea typeface="+mn-ea"/>
        <a:cs typeface="+mn-cs"/>
      </a:defRPr>
    </a:lvl4pPr>
    <a:lvl5pPr marL="1426464" algn="l" defTabSz="356616" rtl="0" eaLnBrk="1" latinLnBrk="0" hangingPunct="1">
      <a:defRPr sz="1404" kern="1200">
        <a:solidFill>
          <a:schemeClr val="tx1"/>
        </a:solidFill>
        <a:latin typeface="+mn-lt"/>
        <a:ea typeface="+mn-ea"/>
        <a:cs typeface="+mn-cs"/>
      </a:defRPr>
    </a:lvl5pPr>
    <a:lvl6pPr marL="1783080" algn="l" defTabSz="356616" rtl="0" eaLnBrk="1" latinLnBrk="0" hangingPunct="1">
      <a:defRPr sz="1404" kern="1200">
        <a:solidFill>
          <a:schemeClr val="tx1"/>
        </a:solidFill>
        <a:latin typeface="+mn-lt"/>
        <a:ea typeface="+mn-ea"/>
        <a:cs typeface="+mn-cs"/>
      </a:defRPr>
    </a:lvl6pPr>
    <a:lvl7pPr marL="2139696" algn="l" defTabSz="356616" rtl="0" eaLnBrk="1" latinLnBrk="0" hangingPunct="1">
      <a:defRPr sz="1404" kern="1200">
        <a:solidFill>
          <a:schemeClr val="tx1"/>
        </a:solidFill>
        <a:latin typeface="+mn-lt"/>
        <a:ea typeface="+mn-ea"/>
        <a:cs typeface="+mn-cs"/>
      </a:defRPr>
    </a:lvl7pPr>
    <a:lvl8pPr marL="2496312" algn="l" defTabSz="356616" rtl="0" eaLnBrk="1" latinLnBrk="0" hangingPunct="1">
      <a:defRPr sz="1404" kern="1200">
        <a:solidFill>
          <a:schemeClr val="tx1"/>
        </a:solidFill>
        <a:latin typeface="+mn-lt"/>
        <a:ea typeface="+mn-ea"/>
        <a:cs typeface="+mn-cs"/>
      </a:defRPr>
    </a:lvl8pPr>
    <a:lvl9pPr marL="2852928" algn="l" defTabSz="356616"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2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snapToObjects="1">
      <p:cViewPr>
        <p:scale>
          <a:sx n="100" d="100"/>
          <a:sy n="100" d="100"/>
        </p:scale>
        <p:origin x="629" y="96"/>
      </p:cViewPr>
      <p:guideLst>
        <p:guide orient="horz" pos="1800"/>
        <p:guide pos="320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4:35:03.183"/>
    </inkml:context>
    <inkml:brush xml:id="br0">
      <inkml:brushProperty name="width" value="0.025" units="cm"/>
      <inkml:brushProperty name="height" value="0.025" units="cm"/>
      <inkml:brushProperty name="color" value="#FFFFFF"/>
    </inkml:brush>
  </inkml:definitions>
  <inkml:trace contextRef="#ctx0" brushRef="#br0">815 0 24575,'-17'7'0,"1"-1"0,-1 2 0,1-1 0,-21 15 0,27-15 0,-37 27 0,37-25 0,-2-1 0,1 0 0,-19 10 0,21-15 0,1 0 0,0-1 0,-1 0 0,1 0 0,-16-1 0,15 0 0,-1 0 0,0 1 0,1-1 0,-12 5 0,11 0 0,0 0 0,0 0 0,0 0 0,-14 15 0,13-11 0,-1-1 0,0 1 0,0-2 0,-19 9 0,8-7 0,0 0 0,0-2 0,-1-1 0,1-1 0,-32 5 0,28-5-341,2 1 0,-1 1-1,-43 19 1,62-23-6485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4:35:03.184"/>
    </inkml:context>
    <inkml:brush xml:id="br0">
      <inkml:brushProperty name="width" value="0.025" units="cm"/>
      <inkml:brushProperty name="height" value="0.025" units="cm"/>
      <inkml:brushProperty name="color" value="#FFFFFF"/>
    </inkml:brush>
  </inkml:definitions>
  <inkml:trace contextRef="#ctx0" brushRef="#br0">22 1 24575,'0'30'0,"0"33"0,0-61 0,-1 0 0,1 0 0,-1 0 0,0-1 0,1 1 0,-1 0 0,0-1 0,1 0 0,-2 1 0,1 0 0,0-1 0,-2 3 0,-7 10 0,10-13 0,0-1 0,0 0 0,0 0 0,0 1 0,1-1 0,-1 1 0,0-1 0,0 1 0,0-1 0,0 1 0,0-1 0,1 1 0,-1-1 0,0 0 0,0 0 0,0 0 0,0 1 0,0-1 0,1 1 0,-1-1 0,1 0 0,-1 1 0,0-1 0,1 0 0,-1 0 0,1 1 0,-1-1 0,1 0 0,-1 0 0,0 0 0,0 1 0,0-1 0,1 0 0,-1 0 0,1 0 0,-1 0 0,1 0 0,-1 0 0,1 0 0,-1 0 0,1 0 0,23 0 0,-22 0 0,88-1-1365,-79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4:40:40.219"/>
    </inkml:context>
    <inkml:brush xml:id="br0">
      <inkml:brushProperty name="width" value="0.025" units="cm"/>
      <inkml:brushProperty name="height" value="0.025" units="cm"/>
    </inkml:brush>
  </inkml:definitions>
  <inkml:trace contextRef="#ctx0" brushRef="#br0">1 0 24575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4:48:32.957"/>
    </inkml:context>
    <inkml:brush xml:id="br0">
      <inkml:brushProperty name="width" value="0.1" units="cm"/>
      <inkml:brushProperty name="height" value="0.1" units="cm"/>
      <inkml:brushProperty name="color" value="#E71224"/>
    </inkml:brush>
  </inkml:definitions>
  <inkml:trace contextRef="#ctx0" brushRef="#br0">1 0 24575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4:48:32.958"/>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14:48:32.959"/>
    </inkml:context>
    <inkml:brush xml:id="br0">
      <inkml:brushProperty name="width" value="0.1" units="cm"/>
      <inkml:brushProperty name="height" value="0.1"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54A2F0-978C-4540-B470-DB1ACF058F7C}"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5B86BB-791C-407B-B709-4722D188BF20}" type="slidenum">
              <a:rPr lang="en-IN" smtClean="0"/>
              <a:t>‹#›</a:t>
            </a:fld>
            <a:endParaRPr lang="en-IN"/>
          </a:p>
        </p:txBody>
      </p:sp>
    </p:spTree>
    <p:extLst>
      <p:ext uri="{BB962C8B-B14F-4D97-AF65-F5344CB8AC3E}">
        <p14:creationId xmlns:p14="http://schemas.microsoft.com/office/powerpoint/2010/main" val="221157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A98BF6-702F-4243-8C4A-F4339A17D96C}" type="slidenum">
              <a:rPr lang="en-IN" smtClean="0"/>
              <a:t>1</a:t>
            </a:fld>
            <a:endParaRPr lang="en-IN"/>
          </a:p>
        </p:txBody>
      </p:sp>
    </p:spTree>
    <p:extLst>
      <p:ext uri="{BB962C8B-B14F-4D97-AF65-F5344CB8AC3E}">
        <p14:creationId xmlns:p14="http://schemas.microsoft.com/office/powerpoint/2010/main" val="3088543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47AB58-4B76-4D9B-8DD1-39AC56FEB433}" type="slidenum">
              <a:rPr lang="en-IN" smtClean="0"/>
              <a:t>7</a:t>
            </a:fld>
            <a:endParaRPr lang="en-IN"/>
          </a:p>
        </p:txBody>
      </p:sp>
    </p:spTree>
    <p:extLst>
      <p:ext uri="{BB962C8B-B14F-4D97-AF65-F5344CB8AC3E}">
        <p14:creationId xmlns:p14="http://schemas.microsoft.com/office/powerpoint/2010/main" val="2014565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775360"/>
            <a:ext cx="8636000" cy="1225021"/>
          </a:xfrm>
        </p:spPr>
        <p:txBody>
          <a:bodyPr/>
          <a:lstStyle/>
          <a:p>
            <a:r>
              <a:rPr lang="en-US"/>
              <a:t>Click to edit Master title style</a:t>
            </a:r>
          </a:p>
        </p:txBody>
      </p:sp>
      <p:sp>
        <p:nvSpPr>
          <p:cNvPr id="3" name="Subtitle 2"/>
          <p:cNvSpPr>
            <a:spLocks noGrp="1"/>
          </p:cNvSpPr>
          <p:nvPr>
            <p:ph type="subTitle" idx="1"/>
          </p:nvPr>
        </p:nvSpPr>
        <p:spPr>
          <a:xfrm>
            <a:off x="1524000" y="3238500"/>
            <a:ext cx="7112000" cy="1460500"/>
          </a:xfrm>
        </p:spPr>
        <p:txBody>
          <a:bodyPr/>
          <a:lstStyle>
            <a:lvl1pPr marL="0" indent="0" algn="ctr">
              <a:buNone/>
              <a:defRPr>
                <a:solidFill>
                  <a:schemeClr val="tx1">
                    <a:tint val="75000"/>
                  </a:schemeClr>
                </a:solidFill>
              </a:defRPr>
            </a:lvl1pPr>
            <a:lvl2pPr marL="285747" indent="0" algn="ctr">
              <a:buNone/>
              <a:defRPr>
                <a:solidFill>
                  <a:schemeClr val="tx1">
                    <a:tint val="75000"/>
                  </a:schemeClr>
                </a:solidFill>
              </a:defRPr>
            </a:lvl2pPr>
            <a:lvl3pPr marL="571494" indent="0" algn="ctr">
              <a:buNone/>
              <a:defRPr>
                <a:solidFill>
                  <a:schemeClr val="tx1">
                    <a:tint val="75000"/>
                  </a:schemeClr>
                </a:solidFill>
              </a:defRPr>
            </a:lvl3pPr>
            <a:lvl4pPr marL="857241" indent="0" algn="ctr">
              <a:buNone/>
              <a:defRPr>
                <a:solidFill>
                  <a:schemeClr val="tx1">
                    <a:tint val="75000"/>
                  </a:schemeClr>
                </a:solidFill>
              </a:defRPr>
            </a:lvl4pPr>
            <a:lvl5pPr marL="1142989" indent="0" algn="ctr">
              <a:buNone/>
              <a:defRPr>
                <a:solidFill>
                  <a:schemeClr val="tx1">
                    <a:tint val="75000"/>
                  </a:schemeClr>
                </a:solidFill>
              </a:defRPr>
            </a:lvl5pPr>
            <a:lvl6pPr marL="1428736" indent="0" algn="ctr">
              <a:buNone/>
              <a:defRPr>
                <a:solidFill>
                  <a:schemeClr val="tx1">
                    <a:tint val="75000"/>
                  </a:schemeClr>
                </a:solidFill>
              </a:defRPr>
            </a:lvl6pPr>
            <a:lvl7pPr marL="1714483" indent="0" algn="ctr">
              <a:buNone/>
              <a:defRPr>
                <a:solidFill>
                  <a:schemeClr val="tx1">
                    <a:tint val="75000"/>
                  </a:schemeClr>
                </a:solidFill>
              </a:defRPr>
            </a:lvl7pPr>
            <a:lvl8pPr marL="2000230" indent="0" algn="ctr">
              <a:buNone/>
              <a:defRPr>
                <a:solidFill>
                  <a:schemeClr val="tx1">
                    <a:tint val="75000"/>
                  </a:schemeClr>
                </a:solidFill>
              </a:defRPr>
            </a:lvl8pPr>
            <a:lvl9pPr marL="228597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2570" y="3672422"/>
            <a:ext cx="8636000" cy="1135063"/>
          </a:xfrm>
        </p:spPr>
        <p:txBody>
          <a:bodyPr anchor="t"/>
          <a:lstStyle>
            <a:lvl1pPr algn="l">
              <a:defRPr sz="2500" b="1" cap="all"/>
            </a:lvl1pPr>
          </a:lstStyle>
          <a:p>
            <a:r>
              <a:rPr lang="en-US"/>
              <a:t>Click to edit Master title style</a:t>
            </a:r>
          </a:p>
        </p:txBody>
      </p:sp>
      <p:sp>
        <p:nvSpPr>
          <p:cNvPr id="3" name="Text Placeholder 2"/>
          <p:cNvSpPr>
            <a:spLocks noGrp="1"/>
          </p:cNvSpPr>
          <p:nvPr>
            <p:ph type="body" idx="1"/>
          </p:nvPr>
        </p:nvSpPr>
        <p:spPr>
          <a:xfrm>
            <a:off x="802570" y="2422261"/>
            <a:ext cx="8636000" cy="1250156"/>
          </a:xfrm>
        </p:spPr>
        <p:txBody>
          <a:bodyPr anchor="b"/>
          <a:lstStyle>
            <a:lvl1pPr marL="0" indent="0">
              <a:buNone/>
              <a:defRPr sz="1250">
                <a:solidFill>
                  <a:schemeClr val="tx1">
                    <a:tint val="75000"/>
                  </a:schemeClr>
                </a:solidFill>
              </a:defRPr>
            </a:lvl1pPr>
            <a:lvl2pPr marL="285747" indent="0">
              <a:buNone/>
              <a:defRPr sz="1126">
                <a:solidFill>
                  <a:schemeClr val="tx1">
                    <a:tint val="75000"/>
                  </a:schemeClr>
                </a:solidFill>
              </a:defRPr>
            </a:lvl2pPr>
            <a:lvl3pPr marL="571494" indent="0">
              <a:buNone/>
              <a:defRPr sz="1000">
                <a:solidFill>
                  <a:schemeClr val="tx1">
                    <a:tint val="75000"/>
                  </a:schemeClr>
                </a:solidFill>
              </a:defRPr>
            </a:lvl3pPr>
            <a:lvl4pPr marL="857241" indent="0">
              <a:buNone/>
              <a:defRPr sz="876">
                <a:solidFill>
                  <a:schemeClr val="tx1">
                    <a:tint val="75000"/>
                  </a:schemeClr>
                </a:solidFill>
              </a:defRPr>
            </a:lvl4pPr>
            <a:lvl5pPr marL="1142989" indent="0">
              <a:buNone/>
              <a:defRPr sz="876">
                <a:solidFill>
                  <a:schemeClr val="tx1">
                    <a:tint val="75000"/>
                  </a:schemeClr>
                </a:solidFill>
              </a:defRPr>
            </a:lvl5pPr>
            <a:lvl6pPr marL="1428736" indent="0">
              <a:buNone/>
              <a:defRPr sz="876">
                <a:solidFill>
                  <a:schemeClr val="tx1">
                    <a:tint val="75000"/>
                  </a:schemeClr>
                </a:solidFill>
              </a:defRPr>
            </a:lvl6pPr>
            <a:lvl7pPr marL="1714483" indent="0">
              <a:buNone/>
              <a:defRPr sz="876">
                <a:solidFill>
                  <a:schemeClr val="tx1">
                    <a:tint val="75000"/>
                  </a:schemeClr>
                </a:solidFill>
              </a:defRPr>
            </a:lvl7pPr>
            <a:lvl8pPr marL="2000230" indent="0">
              <a:buNone/>
              <a:defRPr sz="876">
                <a:solidFill>
                  <a:schemeClr val="tx1">
                    <a:tint val="75000"/>
                  </a:schemeClr>
                </a:solidFill>
              </a:defRPr>
            </a:lvl8pPr>
            <a:lvl9pPr marL="2285977" indent="0">
              <a:buNone/>
              <a:defRPr sz="87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333505"/>
            <a:ext cx="4487333" cy="3771636"/>
          </a:xfrm>
        </p:spPr>
        <p:txBody>
          <a:bodyPr/>
          <a:lstStyle>
            <a:lvl1pPr>
              <a:defRPr sz="1750"/>
            </a:lvl1pPr>
            <a:lvl2pPr>
              <a:defRPr sz="1500"/>
            </a:lvl2pPr>
            <a:lvl3pPr>
              <a:defRPr sz="1250"/>
            </a:lvl3pPr>
            <a:lvl4pPr>
              <a:defRPr sz="1126"/>
            </a:lvl4pPr>
            <a:lvl5pPr>
              <a:defRPr sz="1126"/>
            </a:lvl5pPr>
            <a:lvl6pPr>
              <a:defRPr sz="1126"/>
            </a:lvl6pPr>
            <a:lvl7pPr>
              <a:defRPr sz="1126"/>
            </a:lvl7pPr>
            <a:lvl8pPr>
              <a:defRPr sz="1126"/>
            </a:lvl8pPr>
            <a:lvl9pPr>
              <a:defRPr sz="1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64667" y="1333505"/>
            <a:ext cx="4487333" cy="3771636"/>
          </a:xfrm>
        </p:spPr>
        <p:txBody>
          <a:bodyPr/>
          <a:lstStyle>
            <a:lvl1pPr>
              <a:defRPr sz="1750"/>
            </a:lvl1pPr>
            <a:lvl2pPr>
              <a:defRPr sz="1500"/>
            </a:lvl2pPr>
            <a:lvl3pPr>
              <a:defRPr sz="1250"/>
            </a:lvl3pPr>
            <a:lvl4pPr>
              <a:defRPr sz="1126"/>
            </a:lvl4pPr>
            <a:lvl5pPr>
              <a:defRPr sz="1126"/>
            </a:lvl5pPr>
            <a:lvl6pPr>
              <a:defRPr sz="1126"/>
            </a:lvl6pPr>
            <a:lvl7pPr>
              <a:defRPr sz="1126"/>
            </a:lvl7pPr>
            <a:lvl8pPr>
              <a:defRPr sz="1126"/>
            </a:lvl8pPr>
            <a:lvl9pPr>
              <a:defRPr sz="1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279262"/>
            <a:ext cx="4489098" cy="533135"/>
          </a:xfrm>
        </p:spPr>
        <p:txBody>
          <a:bodyPr anchor="b"/>
          <a:lstStyle>
            <a:lvl1pPr marL="0" indent="0">
              <a:buNone/>
              <a:defRPr sz="1500" b="1"/>
            </a:lvl1pPr>
            <a:lvl2pPr marL="285747" indent="0">
              <a:buNone/>
              <a:defRPr sz="1250" b="1"/>
            </a:lvl2pPr>
            <a:lvl3pPr marL="571494" indent="0">
              <a:buNone/>
              <a:defRPr sz="1126" b="1"/>
            </a:lvl3pPr>
            <a:lvl4pPr marL="857241" indent="0">
              <a:buNone/>
              <a:defRPr sz="1000" b="1"/>
            </a:lvl4pPr>
            <a:lvl5pPr marL="1142989" indent="0">
              <a:buNone/>
              <a:defRPr sz="1000" b="1"/>
            </a:lvl5pPr>
            <a:lvl6pPr marL="1428736" indent="0">
              <a:buNone/>
              <a:defRPr sz="1000" b="1"/>
            </a:lvl6pPr>
            <a:lvl7pPr marL="1714483" indent="0">
              <a:buNone/>
              <a:defRPr sz="1000" b="1"/>
            </a:lvl7pPr>
            <a:lvl8pPr marL="2000230" indent="0">
              <a:buNone/>
              <a:defRPr sz="1000" b="1"/>
            </a:lvl8pPr>
            <a:lvl9pPr marL="2285977" indent="0">
              <a:buNone/>
              <a:defRPr sz="1000" b="1"/>
            </a:lvl9pPr>
          </a:lstStyle>
          <a:p>
            <a:pPr lvl="0"/>
            <a:r>
              <a:rPr lang="en-US"/>
              <a:t>Click to edit Master text styles</a:t>
            </a:r>
          </a:p>
        </p:txBody>
      </p:sp>
      <p:sp>
        <p:nvSpPr>
          <p:cNvPr id="4" name="Content Placeholder 3"/>
          <p:cNvSpPr>
            <a:spLocks noGrp="1"/>
          </p:cNvSpPr>
          <p:nvPr>
            <p:ph sz="half" idx="2"/>
          </p:nvPr>
        </p:nvSpPr>
        <p:spPr>
          <a:xfrm>
            <a:off x="508000" y="1812396"/>
            <a:ext cx="4489098" cy="3292740"/>
          </a:xfrm>
        </p:spPr>
        <p:txBody>
          <a:bodyPr/>
          <a:lstStyle>
            <a:lvl1pPr>
              <a:defRPr sz="1500"/>
            </a:lvl1pPr>
            <a:lvl2pPr>
              <a:defRPr sz="1250"/>
            </a:lvl2pPr>
            <a:lvl3pPr>
              <a:defRPr sz="1126"/>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61143" y="1279262"/>
            <a:ext cx="4490861" cy="533135"/>
          </a:xfrm>
        </p:spPr>
        <p:txBody>
          <a:bodyPr anchor="b"/>
          <a:lstStyle>
            <a:lvl1pPr marL="0" indent="0">
              <a:buNone/>
              <a:defRPr sz="1500" b="1"/>
            </a:lvl1pPr>
            <a:lvl2pPr marL="285747" indent="0">
              <a:buNone/>
              <a:defRPr sz="1250" b="1"/>
            </a:lvl2pPr>
            <a:lvl3pPr marL="571494" indent="0">
              <a:buNone/>
              <a:defRPr sz="1126" b="1"/>
            </a:lvl3pPr>
            <a:lvl4pPr marL="857241" indent="0">
              <a:buNone/>
              <a:defRPr sz="1000" b="1"/>
            </a:lvl4pPr>
            <a:lvl5pPr marL="1142989" indent="0">
              <a:buNone/>
              <a:defRPr sz="1000" b="1"/>
            </a:lvl5pPr>
            <a:lvl6pPr marL="1428736" indent="0">
              <a:buNone/>
              <a:defRPr sz="1000" b="1"/>
            </a:lvl6pPr>
            <a:lvl7pPr marL="1714483" indent="0">
              <a:buNone/>
              <a:defRPr sz="1000" b="1"/>
            </a:lvl7pPr>
            <a:lvl8pPr marL="2000230" indent="0">
              <a:buNone/>
              <a:defRPr sz="1000" b="1"/>
            </a:lvl8pPr>
            <a:lvl9pPr marL="2285977" indent="0">
              <a:buNone/>
              <a:defRPr sz="1000" b="1"/>
            </a:lvl9pPr>
          </a:lstStyle>
          <a:p>
            <a:pPr lvl="0"/>
            <a:r>
              <a:rPr lang="en-US"/>
              <a:t>Click to edit Master text styles</a:t>
            </a:r>
          </a:p>
        </p:txBody>
      </p:sp>
      <p:sp>
        <p:nvSpPr>
          <p:cNvPr id="6" name="Content Placeholder 5"/>
          <p:cNvSpPr>
            <a:spLocks noGrp="1"/>
          </p:cNvSpPr>
          <p:nvPr>
            <p:ph sz="quarter" idx="4"/>
          </p:nvPr>
        </p:nvSpPr>
        <p:spPr>
          <a:xfrm>
            <a:off x="5161143" y="1812396"/>
            <a:ext cx="4490861" cy="3292740"/>
          </a:xfrm>
        </p:spPr>
        <p:txBody>
          <a:bodyPr/>
          <a:lstStyle>
            <a:lvl1pPr>
              <a:defRPr sz="1500"/>
            </a:lvl1pPr>
            <a:lvl2pPr>
              <a:defRPr sz="1250"/>
            </a:lvl2pPr>
            <a:lvl3pPr>
              <a:defRPr sz="1126"/>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214E7-89B2-C00C-EDE0-C61EA6E735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B1B062-BA8E-978E-4FB7-FE269D4F1B5A}"/>
              </a:ext>
            </a:extLst>
          </p:cNvPr>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a:extLst>
              <a:ext uri="{FF2B5EF4-FFF2-40B4-BE49-F238E27FC236}">
                <a16:creationId xmlns:a16="http://schemas.microsoft.com/office/drawing/2014/main" id="{5621D7C9-65CF-51DC-BDC1-4EF0C290F9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A145B6-C1BF-2BAD-280B-B56E1FCC888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185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87F07-DB7E-EC74-B1DB-D7042C6297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7F40FB-3529-5F7C-2C51-2BFF733B564A}"/>
              </a:ext>
            </a:extLst>
          </p:cNvPr>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a:extLst>
              <a:ext uri="{FF2B5EF4-FFF2-40B4-BE49-F238E27FC236}">
                <a16:creationId xmlns:a16="http://schemas.microsoft.com/office/drawing/2014/main" id="{6CA4FF04-CC16-CA6C-E82C-D862C133B1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7E0509-4496-BABA-F753-22A17B5DC92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4571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3" y="227543"/>
            <a:ext cx="3342570" cy="968375"/>
          </a:xfrm>
        </p:spPr>
        <p:txBody>
          <a:bodyPr anchor="b"/>
          <a:lstStyle>
            <a:lvl1pPr algn="l">
              <a:defRPr sz="1250" b="1"/>
            </a:lvl1pPr>
          </a:lstStyle>
          <a:p>
            <a:r>
              <a:rPr lang="en-US"/>
              <a:t>Click to edit Master title style</a:t>
            </a:r>
          </a:p>
        </p:txBody>
      </p:sp>
      <p:sp>
        <p:nvSpPr>
          <p:cNvPr id="3" name="Content Placeholder 2"/>
          <p:cNvSpPr>
            <a:spLocks noGrp="1"/>
          </p:cNvSpPr>
          <p:nvPr>
            <p:ph idx="1"/>
          </p:nvPr>
        </p:nvSpPr>
        <p:spPr>
          <a:xfrm>
            <a:off x="3972278" y="227546"/>
            <a:ext cx="5679722" cy="4877594"/>
          </a:xfrm>
        </p:spPr>
        <p:txBody>
          <a:bodyPr/>
          <a:lstStyle>
            <a:lvl1pPr>
              <a:defRPr sz="2000"/>
            </a:lvl1pPr>
            <a:lvl2pPr>
              <a:defRPr sz="1750"/>
            </a:lvl2pPr>
            <a:lvl3pPr>
              <a:defRPr sz="1500"/>
            </a:lvl3pPr>
            <a:lvl4pPr>
              <a:defRPr sz="1250"/>
            </a:lvl4pPr>
            <a:lvl5pPr>
              <a:defRPr sz="1250"/>
            </a:lvl5pPr>
            <a:lvl6pPr>
              <a:defRPr sz="1250"/>
            </a:lvl6pPr>
            <a:lvl7pPr>
              <a:defRPr sz="1250"/>
            </a:lvl7pPr>
            <a:lvl8pPr>
              <a:defRPr sz="1250"/>
            </a:lvl8pPr>
            <a:lvl9pPr>
              <a:defRPr sz="1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3" y="1195920"/>
            <a:ext cx="3342570" cy="3909219"/>
          </a:xfrm>
        </p:spPr>
        <p:txBody>
          <a:bodyPr/>
          <a:lstStyle>
            <a:lvl1pPr marL="0" indent="0">
              <a:buNone/>
              <a:defRPr sz="876"/>
            </a:lvl1pPr>
            <a:lvl2pPr marL="285747" indent="0">
              <a:buNone/>
              <a:defRPr sz="750"/>
            </a:lvl2pPr>
            <a:lvl3pPr marL="571494" indent="0">
              <a:buNone/>
              <a:defRPr sz="626"/>
            </a:lvl3pPr>
            <a:lvl4pPr marL="857241" indent="0">
              <a:buNone/>
              <a:defRPr sz="562"/>
            </a:lvl4pPr>
            <a:lvl5pPr marL="1142989" indent="0">
              <a:buNone/>
              <a:defRPr sz="562"/>
            </a:lvl5pPr>
            <a:lvl6pPr marL="1428736" indent="0">
              <a:buNone/>
              <a:defRPr sz="562"/>
            </a:lvl6pPr>
            <a:lvl7pPr marL="1714483" indent="0">
              <a:buNone/>
              <a:defRPr sz="562"/>
            </a:lvl7pPr>
            <a:lvl8pPr marL="2000230" indent="0">
              <a:buNone/>
              <a:defRPr sz="562"/>
            </a:lvl8pPr>
            <a:lvl9pPr marL="2285977" indent="0">
              <a:buNone/>
              <a:defRPr sz="562"/>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1431" y="4000500"/>
            <a:ext cx="6096000" cy="472282"/>
          </a:xfrm>
        </p:spPr>
        <p:txBody>
          <a:bodyPr anchor="b"/>
          <a:lstStyle>
            <a:lvl1pPr algn="l">
              <a:defRPr sz="1250" b="1"/>
            </a:lvl1pPr>
          </a:lstStyle>
          <a:p>
            <a:r>
              <a:rPr lang="en-US"/>
              <a:t>Click to edit Master title style</a:t>
            </a:r>
          </a:p>
        </p:txBody>
      </p:sp>
      <p:sp>
        <p:nvSpPr>
          <p:cNvPr id="3" name="Picture Placeholder 2"/>
          <p:cNvSpPr>
            <a:spLocks noGrp="1"/>
          </p:cNvSpPr>
          <p:nvPr>
            <p:ph type="pic" idx="1"/>
          </p:nvPr>
        </p:nvSpPr>
        <p:spPr>
          <a:xfrm>
            <a:off x="1991431" y="510646"/>
            <a:ext cx="6096000" cy="3429000"/>
          </a:xfrm>
        </p:spPr>
        <p:txBody>
          <a:bodyPr/>
          <a:lstStyle>
            <a:lvl1pPr marL="0" indent="0">
              <a:buNone/>
              <a:defRPr sz="2000"/>
            </a:lvl1pPr>
            <a:lvl2pPr marL="285747" indent="0">
              <a:buNone/>
              <a:defRPr sz="1750"/>
            </a:lvl2pPr>
            <a:lvl3pPr marL="571494" indent="0">
              <a:buNone/>
              <a:defRPr sz="1500"/>
            </a:lvl3pPr>
            <a:lvl4pPr marL="857241" indent="0">
              <a:buNone/>
              <a:defRPr sz="1250"/>
            </a:lvl4pPr>
            <a:lvl5pPr marL="1142989" indent="0">
              <a:buNone/>
              <a:defRPr sz="1250"/>
            </a:lvl5pPr>
            <a:lvl6pPr marL="1428736" indent="0">
              <a:buNone/>
              <a:defRPr sz="1250"/>
            </a:lvl6pPr>
            <a:lvl7pPr marL="1714483" indent="0">
              <a:buNone/>
              <a:defRPr sz="1250"/>
            </a:lvl7pPr>
            <a:lvl8pPr marL="2000230" indent="0">
              <a:buNone/>
              <a:defRPr sz="1250"/>
            </a:lvl8pPr>
            <a:lvl9pPr marL="2285977" indent="0">
              <a:buNone/>
              <a:defRPr sz="1250"/>
            </a:lvl9pPr>
          </a:lstStyle>
          <a:p>
            <a:endParaRPr lang="en-US"/>
          </a:p>
        </p:txBody>
      </p:sp>
      <p:sp>
        <p:nvSpPr>
          <p:cNvPr id="4" name="Text Placeholder 3"/>
          <p:cNvSpPr>
            <a:spLocks noGrp="1"/>
          </p:cNvSpPr>
          <p:nvPr>
            <p:ph type="body" sz="half" idx="2"/>
          </p:nvPr>
        </p:nvSpPr>
        <p:spPr>
          <a:xfrm>
            <a:off x="1991431" y="4472782"/>
            <a:ext cx="6096000" cy="670718"/>
          </a:xfrm>
        </p:spPr>
        <p:txBody>
          <a:bodyPr/>
          <a:lstStyle>
            <a:lvl1pPr marL="0" indent="0">
              <a:buNone/>
              <a:defRPr sz="876"/>
            </a:lvl1pPr>
            <a:lvl2pPr marL="285747" indent="0">
              <a:buNone/>
              <a:defRPr sz="750"/>
            </a:lvl2pPr>
            <a:lvl3pPr marL="571494" indent="0">
              <a:buNone/>
              <a:defRPr sz="626"/>
            </a:lvl3pPr>
            <a:lvl4pPr marL="857241" indent="0">
              <a:buNone/>
              <a:defRPr sz="562"/>
            </a:lvl4pPr>
            <a:lvl5pPr marL="1142989" indent="0">
              <a:buNone/>
              <a:defRPr sz="562"/>
            </a:lvl5pPr>
            <a:lvl6pPr marL="1428736" indent="0">
              <a:buNone/>
              <a:defRPr sz="562"/>
            </a:lvl6pPr>
            <a:lvl7pPr marL="1714483" indent="0">
              <a:buNone/>
              <a:defRPr sz="562"/>
            </a:lvl7pPr>
            <a:lvl8pPr marL="2000230" indent="0">
              <a:buNone/>
              <a:defRPr sz="562"/>
            </a:lvl8pPr>
            <a:lvl9pPr marL="2285977" indent="0">
              <a:buNone/>
              <a:defRPr sz="562"/>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6000" y="228871"/>
            <a:ext cx="22860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0" y="228871"/>
            <a:ext cx="6688667"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28865"/>
            <a:ext cx="9144000"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8000" y="1333505"/>
            <a:ext cx="91440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8000" y="5296964"/>
            <a:ext cx="2370667" cy="304271"/>
          </a:xfrm>
          <a:prstGeom prst="rect">
            <a:avLst/>
          </a:prstGeom>
        </p:spPr>
        <p:txBody>
          <a:bodyPr vert="horz" lIns="91440" tIns="45720" rIns="91440" bIns="45720" rtlCol="0" anchor="ctr"/>
          <a:lstStyle>
            <a:lvl1pPr algn="l">
              <a:defRPr sz="750">
                <a:solidFill>
                  <a:schemeClr val="tx1">
                    <a:tint val="75000"/>
                  </a:schemeClr>
                </a:solidFill>
              </a:defRPr>
            </a:lvl1pPr>
          </a:lstStyle>
          <a:p>
            <a:fld id="{5BCAD085-E8A6-8845-BD4E-CB4CCA059FC4}" type="datetimeFigureOut">
              <a:rPr lang="en-US" smtClean="0"/>
              <a:t>3/9/2026</a:t>
            </a:fld>
            <a:endParaRPr lang="en-US"/>
          </a:p>
        </p:txBody>
      </p:sp>
      <p:sp>
        <p:nvSpPr>
          <p:cNvPr id="5" name="Footer Placeholder 4"/>
          <p:cNvSpPr>
            <a:spLocks noGrp="1"/>
          </p:cNvSpPr>
          <p:nvPr>
            <p:ph type="ftr" sz="quarter" idx="3"/>
          </p:nvPr>
        </p:nvSpPr>
        <p:spPr>
          <a:xfrm>
            <a:off x="3471334" y="5296964"/>
            <a:ext cx="3217333" cy="304271"/>
          </a:xfrm>
          <a:prstGeom prst="rect">
            <a:avLst/>
          </a:prstGeom>
        </p:spPr>
        <p:txBody>
          <a:bodyPr vert="horz" lIns="91440" tIns="45720" rIns="91440" bIns="45720" rtlCol="0" anchor="ctr"/>
          <a:lstStyle>
            <a:lvl1pPr algn="ctr">
              <a:defRPr sz="7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81333" y="5296964"/>
            <a:ext cx="2370667" cy="304271"/>
          </a:xfrm>
          <a:prstGeom prst="rect">
            <a:avLst/>
          </a:prstGeom>
        </p:spPr>
        <p:txBody>
          <a:bodyPr vert="horz" lIns="91440" tIns="45720" rIns="91440" bIns="45720" rtlCol="0" anchor="ctr"/>
          <a:lstStyle>
            <a:lvl1pPr algn="r">
              <a:defRPr sz="750">
                <a:solidFill>
                  <a:schemeClr val="tx1">
                    <a:tint val="75000"/>
                  </a:schemeClr>
                </a:solidFill>
              </a:defRPr>
            </a:lvl1pPr>
          </a:lstStyle>
          <a:p>
            <a:fld id="{C1FF6DA9-008F-8B48-92A6-B652298478BF}" type="slidenum">
              <a:rPr lang="en-US" smtClean="0"/>
              <a:t>‹#›</a:t>
            </a:fld>
            <a:endParaRPr lang="en-US"/>
          </a:p>
        </p:txBody>
      </p:sp>
      <p:pic>
        <p:nvPicPr>
          <p:cNvPr id="10" name="Picture 9">
            <a:extLst>
              <a:ext uri="{FF2B5EF4-FFF2-40B4-BE49-F238E27FC236}">
                <a16:creationId xmlns:a16="http://schemas.microsoft.com/office/drawing/2014/main" id="{C5134CFB-7085-195A-A185-5ECAA3D61613}"/>
              </a:ext>
            </a:extLst>
          </p:cNvPr>
          <p:cNvPicPr>
            <a:picLocks noChangeAspect="1"/>
          </p:cNvPicPr>
          <p:nvPr userDrawn="1"/>
        </p:nvPicPr>
        <p:blipFill>
          <a:blip r:embed="rId15"/>
          <a:srcRect l="22614" t="10671" r="22347" b="16633"/>
          <a:stretch>
            <a:fillRect/>
          </a:stretch>
        </p:blipFill>
        <p:spPr>
          <a:xfrm>
            <a:off x="9174789" y="60997"/>
            <a:ext cx="954426" cy="840402"/>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61" r:id="rId8"/>
    <p:sldLayoutId id="2147483655" r:id="rId9"/>
    <p:sldLayoutId id="2147483656" r:id="rId10"/>
    <p:sldLayoutId id="2147483657" r:id="rId11"/>
    <p:sldLayoutId id="2147483658" r:id="rId12"/>
    <p:sldLayoutId id="2147483659" r:id="rId13"/>
  </p:sldLayoutIdLst>
  <p:txStyles>
    <p:titleStyle>
      <a:lvl1pPr algn="ctr" defTabSz="285747" rtl="0" eaLnBrk="1" latinLnBrk="0" hangingPunct="1">
        <a:spcBef>
          <a:spcPct val="0"/>
        </a:spcBef>
        <a:buNone/>
        <a:defRPr sz="2750" kern="1200">
          <a:solidFill>
            <a:schemeClr val="tx1"/>
          </a:solidFill>
          <a:latin typeface="+mj-lt"/>
          <a:ea typeface="+mj-ea"/>
          <a:cs typeface="+mj-cs"/>
        </a:defRPr>
      </a:lvl1pPr>
    </p:titleStyle>
    <p:bodyStyle>
      <a:lvl1pPr marL="214310" indent="-214310" algn="l" defTabSz="285747" rtl="0" eaLnBrk="1" latinLnBrk="0" hangingPunct="1">
        <a:spcBef>
          <a:spcPct val="20000"/>
        </a:spcBef>
        <a:buFont typeface="Arial"/>
        <a:buChar char="•"/>
        <a:defRPr sz="2000" kern="1200">
          <a:solidFill>
            <a:schemeClr val="tx1"/>
          </a:solidFill>
          <a:latin typeface="+mn-lt"/>
          <a:ea typeface="+mn-ea"/>
          <a:cs typeface="+mn-cs"/>
        </a:defRPr>
      </a:lvl1pPr>
      <a:lvl2pPr marL="464340" indent="-178593" algn="l" defTabSz="285747" rtl="0" eaLnBrk="1" latinLnBrk="0" hangingPunct="1">
        <a:spcBef>
          <a:spcPct val="20000"/>
        </a:spcBef>
        <a:buFont typeface="Arial"/>
        <a:buChar char="–"/>
        <a:defRPr sz="1750" kern="1200">
          <a:solidFill>
            <a:schemeClr val="tx1"/>
          </a:solidFill>
          <a:latin typeface="+mn-lt"/>
          <a:ea typeface="+mn-ea"/>
          <a:cs typeface="+mn-cs"/>
        </a:defRPr>
      </a:lvl2pPr>
      <a:lvl3pPr marL="714368" indent="-142874" algn="l" defTabSz="285747" rtl="0" eaLnBrk="1" latinLnBrk="0" hangingPunct="1">
        <a:spcBef>
          <a:spcPct val="20000"/>
        </a:spcBef>
        <a:buFont typeface="Arial"/>
        <a:buChar char="•"/>
        <a:defRPr sz="1500" kern="1200">
          <a:solidFill>
            <a:schemeClr val="tx1"/>
          </a:solidFill>
          <a:latin typeface="+mn-lt"/>
          <a:ea typeface="+mn-ea"/>
          <a:cs typeface="+mn-cs"/>
        </a:defRPr>
      </a:lvl3pPr>
      <a:lvl4pPr marL="1000116" indent="-142874" algn="l" defTabSz="285747" rtl="0" eaLnBrk="1" latinLnBrk="0" hangingPunct="1">
        <a:spcBef>
          <a:spcPct val="20000"/>
        </a:spcBef>
        <a:buFont typeface="Arial"/>
        <a:buChar char="–"/>
        <a:defRPr sz="1250" kern="1200">
          <a:solidFill>
            <a:schemeClr val="tx1"/>
          </a:solidFill>
          <a:latin typeface="+mn-lt"/>
          <a:ea typeface="+mn-ea"/>
          <a:cs typeface="+mn-cs"/>
        </a:defRPr>
      </a:lvl4pPr>
      <a:lvl5pPr marL="1285863" indent="-142874" algn="l" defTabSz="285747" rtl="0" eaLnBrk="1" latinLnBrk="0" hangingPunct="1">
        <a:spcBef>
          <a:spcPct val="20000"/>
        </a:spcBef>
        <a:buFont typeface="Arial"/>
        <a:buChar char="»"/>
        <a:defRPr sz="1250" kern="1200">
          <a:solidFill>
            <a:schemeClr val="tx1"/>
          </a:solidFill>
          <a:latin typeface="+mn-lt"/>
          <a:ea typeface="+mn-ea"/>
          <a:cs typeface="+mn-cs"/>
        </a:defRPr>
      </a:lvl5pPr>
      <a:lvl6pPr marL="1571610" indent="-142874" algn="l" defTabSz="285747" rtl="0" eaLnBrk="1" latinLnBrk="0" hangingPunct="1">
        <a:spcBef>
          <a:spcPct val="20000"/>
        </a:spcBef>
        <a:buFont typeface="Arial"/>
        <a:buChar char="•"/>
        <a:defRPr sz="1250" kern="1200">
          <a:solidFill>
            <a:schemeClr val="tx1"/>
          </a:solidFill>
          <a:latin typeface="+mn-lt"/>
          <a:ea typeface="+mn-ea"/>
          <a:cs typeface="+mn-cs"/>
        </a:defRPr>
      </a:lvl6pPr>
      <a:lvl7pPr marL="1857357" indent="-142874" algn="l" defTabSz="285747" rtl="0" eaLnBrk="1" latinLnBrk="0" hangingPunct="1">
        <a:spcBef>
          <a:spcPct val="20000"/>
        </a:spcBef>
        <a:buFont typeface="Arial"/>
        <a:buChar char="•"/>
        <a:defRPr sz="1250" kern="1200">
          <a:solidFill>
            <a:schemeClr val="tx1"/>
          </a:solidFill>
          <a:latin typeface="+mn-lt"/>
          <a:ea typeface="+mn-ea"/>
          <a:cs typeface="+mn-cs"/>
        </a:defRPr>
      </a:lvl7pPr>
      <a:lvl8pPr marL="2143104" indent="-142874" algn="l" defTabSz="285747" rtl="0" eaLnBrk="1" latinLnBrk="0" hangingPunct="1">
        <a:spcBef>
          <a:spcPct val="20000"/>
        </a:spcBef>
        <a:buFont typeface="Arial"/>
        <a:buChar char="•"/>
        <a:defRPr sz="1250" kern="1200">
          <a:solidFill>
            <a:schemeClr val="tx1"/>
          </a:solidFill>
          <a:latin typeface="+mn-lt"/>
          <a:ea typeface="+mn-ea"/>
          <a:cs typeface="+mn-cs"/>
        </a:defRPr>
      </a:lvl8pPr>
      <a:lvl9pPr marL="2428851" indent="-142874" algn="l" defTabSz="285747" rtl="0" eaLnBrk="1" latinLnBrk="0" hangingPunct="1">
        <a:spcBef>
          <a:spcPct val="20000"/>
        </a:spcBef>
        <a:buFont typeface="Arial"/>
        <a:buChar char="•"/>
        <a:defRPr sz="1250" kern="1200">
          <a:solidFill>
            <a:schemeClr val="tx1"/>
          </a:solidFill>
          <a:latin typeface="+mn-lt"/>
          <a:ea typeface="+mn-ea"/>
          <a:cs typeface="+mn-cs"/>
        </a:defRPr>
      </a:lvl9pPr>
    </p:bodyStyle>
    <p:otherStyle>
      <a:defPPr>
        <a:defRPr lang="en-US"/>
      </a:defPPr>
      <a:lvl1pPr marL="0" algn="l" defTabSz="285747" rtl="0" eaLnBrk="1" latinLnBrk="0" hangingPunct="1">
        <a:defRPr sz="1126" kern="1200">
          <a:solidFill>
            <a:schemeClr val="tx1"/>
          </a:solidFill>
          <a:latin typeface="+mn-lt"/>
          <a:ea typeface="+mn-ea"/>
          <a:cs typeface="+mn-cs"/>
        </a:defRPr>
      </a:lvl1pPr>
      <a:lvl2pPr marL="285747" algn="l" defTabSz="285747" rtl="0" eaLnBrk="1" latinLnBrk="0" hangingPunct="1">
        <a:defRPr sz="1126" kern="1200">
          <a:solidFill>
            <a:schemeClr val="tx1"/>
          </a:solidFill>
          <a:latin typeface="+mn-lt"/>
          <a:ea typeface="+mn-ea"/>
          <a:cs typeface="+mn-cs"/>
        </a:defRPr>
      </a:lvl2pPr>
      <a:lvl3pPr marL="571494" algn="l" defTabSz="285747" rtl="0" eaLnBrk="1" latinLnBrk="0" hangingPunct="1">
        <a:defRPr sz="1126" kern="1200">
          <a:solidFill>
            <a:schemeClr val="tx1"/>
          </a:solidFill>
          <a:latin typeface="+mn-lt"/>
          <a:ea typeface="+mn-ea"/>
          <a:cs typeface="+mn-cs"/>
        </a:defRPr>
      </a:lvl3pPr>
      <a:lvl4pPr marL="857241" algn="l" defTabSz="285747" rtl="0" eaLnBrk="1" latinLnBrk="0" hangingPunct="1">
        <a:defRPr sz="1126" kern="1200">
          <a:solidFill>
            <a:schemeClr val="tx1"/>
          </a:solidFill>
          <a:latin typeface="+mn-lt"/>
          <a:ea typeface="+mn-ea"/>
          <a:cs typeface="+mn-cs"/>
        </a:defRPr>
      </a:lvl4pPr>
      <a:lvl5pPr marL="1142989" algn="l" defTabSz="285747" rtl="0" eaLnBrk="1" latinLnBrk="0" hangingPunct="1">
        <a:defRPr sz="1126" kern="1200">
          <a:solidFill>
            <a:schemeClr val="tx1"/>
          </a:solidFill>
          <a:latin typeface="+mn-lt"/>
          <a:ea typeface="+mn-ea"/>
          <a:cs typeface="+mn-cs"/>
        </a:defRPr>
      </a:lvl5pPr>
      <a:lvl6pPr marL="1428736" algn="l" defTabSz="285747" rtl="0" eaLnBrk="1" latinLnBrk="0" hangingPunct="1">
        <a:defRPr sz="1126" kern="1200">
          <a:solidFill>
            <a:schemeClr val="tx1"/>
          </a:solidFill>
          <a:latin typeface="+mn-lt"/>
          <a:ea typeface="+mn-ea"/>
          <a:cs typeface="+mn-cs"/>
        </a:defRPr>
      </a:lvl6pPr>
      <a:lvl7pPr marL="1714483" algn="l" defTabSz="285747" rtl="0" eaLnBrk="1" latinLnBrk="0" hangingPunct="1">
        <a:defRPr sz="1126" kern="1200">
          <a:solidFill>
            <a:schemeClr val="tx1"/>
          </a:solidFill>
          <a:latin typeface="+mn-lt"/>
          <a:ea typeface="+mn-ea"/>
          <a:cs typeface="+mn-cs"/>
        </a:defRPr>
      </a:lvl7pPr>
      <a:lvl8pPr marL="2000230" algn="l" defTabSz="285747" rtl="0" eaLnBrk="1" latinLnBrk="0" hangingPunct="1">
        <a:defRPr sz="1126" kern="1200">
          <a:solidFill>
            <a:schemeClr val="tx1"/>
          </a:solidFill>
          <a:latin typeface="+mn-lt"/>
          <a:ea typeface="+mn-ea"/>
          <a:cs typeface="+mn-cs"/>
        </a:defRPr>
      </a:lvl8pPr>
      <a:lvl9pPr marL="2285977" algn="l" defTabSz="285747" rtl="0" eaLnBrk="1" latinLnBrk="0" hangingPunct="1">
        <a:defRPr sz="1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image" Target="../media/image410.png"/><Relationship Id="rId5" Type="http://schemas.openxmlformats.org/officeDocument/2006/relationships/customXml" Target="../ink/ink2.xml"/><Relationship Id="rId4" Type="http://schemas.openxmlformats.org/officeDocument/2006/relationships/image" Target="../media/image310.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image" Target="../media/image8.jpe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customXml" Target="../ink/ink3.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9.png"/><Relationship Id="rId3" Type="http://schemas.microsoft.com/office/2007/relationships/hdphoto" Target="../media/hdphoto1.wdp"/><Relationship Id="rId7" Type="http://schemas.openxmlformats.org/officeDocument/2006/relationships/image" Target="../media/image15.png"/><Relationship Id="rId12" Type="http://schemas.openxmlformats.org/officeDocument/2006/relationships/image" Target="../media/image18.jpe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customXml" Target="../ink/ink4.xml"/><Relationship Id="rId11" Type="http://schemas.openxmlformats.org/officeDocument/2006/relationships/image" Target="../media/image17.jpeg"/><Relationship Id="rId5" Type="http://schemas.microsoft.com/office/2007/relationships/hdphoto" Target="../media/hdphoto2.wdp"/><Relationship Id="rId10"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customXml" Target="../ink/ink6.xml"/><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3" Type="http://schemas.openxmlformats.org/officeDocument/2006/relationships/image" Target="../media/image250.pn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png"/><Relationship Id="rId17" Type="http://schemas.openxmlformats.org/officeDocument/2006/relationships/image" Target="../media/image31.png"/><Relationship Id="rId2" Type="http://schemas.openxmlformats.org/officeDocument/2006/relationships/image" Target="../media/image24.png"/><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9.xml"/><Relationship Id="rId6" Type="http://schemas.openxmlformats.org/officeDocument/2006/relationships/image" Target="../media/image26.png"/><Relationship Id="rId11" Type="http://schemas.openxmlformats.org/officeDocument/2006/relationships/image" Target="../media/image27.png"/><Relationship Id="rId5" Type="http://schemas.openxmlformats.org/officeDocument/2006/relationships/image" Target="../media/image18.png"/><Relationship Id="rId15" Type="http://schemas.openxmlformats.org/officeDocument/2006/relationships/image" Target="../media/image29.png"/><Relationship Id="rId10" Type="http://schemas.openxmlformats.org/officeDocument/2006/relationships/image" Target="../media/image230.png"/><Relationship Id="rId19" Type="http://schemas.openxmlformats.org/officeDocument/2006/relationships/image" Target="../media/image33.png"/><Relationship Id="rId4" Type="http://schemas.openxmlformats.org/officeDocument/2006/relationships/image" Target="../media/image25.pn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9.xml"/><Relationship Id="rId6" Type="http://schemas.openxmlformats.org/officeDocument/2006/relationships/image" Target="../media/image43.png"/><Relationship Id="rId5" Type="http://schemas.openxmlformats.org/officeDocument/2006/relationships/image" Target="../media/image240.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9.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9.xml"/><Relationship Id="rId6" Type="http://schemas.openxmlformats.org/officeDocument/2006/relationships/image" Target="../media/image57.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0" y="3403218"/>
            <a:ext cx="10160000" cy="1714500"/>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a:p>
        </p:txBody>
      </p:sp>
      <p:sp>
        <p:nvSpPr>
          <p:cNvPr id="3" name="Wave 2"/>
          <p:cNvSpPr/>
          <p:nvPr/>
        </p:nvSpPr>
        <p:spPr>
          <a:xfrm>
            <a:off x="0" y="4159060"/>
            <a:ext cx="10160000" cy="1314450"/>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a:p>
        </p:txBody>
      </p:sp>
      <p:sp>
        <p:nvSpPr>
          <p:cNvPr id="4" name="Wave 3"/>
          <p:cNvSpPr/>
          <p:nvPr/>
        </p:nvSpPr>
        <p:spPr>
          <a:xfrm>
            <a:off x="0" y="4559110"/>
            <a:ext cx="10160000" cy="1314450"/>
          </a:xfrm>
          <a:prstGeom prst="wave">
            <a:avLst/>
          </a:prstGeom>
          <a:solidFill>
            <a:srgbClr val="0B6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a:p>
        </p:txBody>
      </p:sp>
      <p:sp>
        <p:nvSpPr>
          <p:cNvPr id="5" name="TextBox 4"/>
          <p:cNvSpPr txBox="1"/>
          <p:nvPr/>
        </p:nvSpPr>
        <p:spPr>
          <a:xfrm>
            <a:off x="-180920" y="1567347"/>
            <a:ext cx="10662810" cy="707886"/>
          </a:xfrm>
          <a:prstGeom prst="rect">
            <a:avLst/>
          </a:prstGeom>
          <a:noFill/>
        </p:spPr>
        <p:txBody>
          <a:bodyPr wrap="square">
            <a:spAutoFit/>
          </a:bodyPr>
          <a:lstStyle/>
          <a:p>
            <a:pPr algn="ctr">
              <a:defRPr sz="4400" b="1">
                <a:solidFill>
                  <a:srgbClr val="0B6E3C"/>
                </a:solidFill>
              </a:defRPr>
            </a:pPr>
            <a:r>
              <a:rPr lang="en-IN" sz="4000"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rPr>
              <a:t>bp India Student Challenge 2025-26</a:t>
            </a:r>
            <a:endParaRPr sz="4000"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p:cNvSpPr txBox="1"/>
          <p:nvPr/>
        </p:nvSpPr>
        <p:spPr>
          <a:xfrm>
            <a:off x="765885" y="2352568"/>
            <a:ext cx="3720890" cy="584775"/>
          </a:xfrm>
          <a:prstGeom prst="rect">
            <a:avLst/>
          </a:prstGeom>
          <a:noFill/>
        </p:spPr>
        <p:txBody>
          <a:bodyPr wrap="none">
            <a:spAutoFit/>
          </a:bodyPr>
          <a:lstStyle/>
          <a:p>
            <a:pPr algn="ctr">
              <a:defRPr sz="2200">
                <a:solidFill>
                  <a:srgbClr val="2FA84F"/>
                </a:solidFill>
              </a:defRPr>
            </a:pPr>
            <a:r>
              <a:rPr sz="32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Reservoir Revivers</a:t>
            </a:r>
          </a:p>
        </p:txBody>
      </p:sp>
      <p:pic>
        <p:nvPicPr>
          <p:cNvPr id="8" name="Picture 7">
            <a:extLst>
              <a:ext uri="{FF2B5EF4-FFF2-40B4-BE49-F238E27FC236}">
                <a16:creationId xmlns:a16="http://schemas.microsoft.com/office/drawing/2014/main" id="{068BB5E1-06FC-731C-E2E3-374980033A17}"/>
              </a:ext>
            </a:extLst>
          </p:cNvPr>
          <p:cNvPicPr>
            <a:picLocks noChangeAspect="1"/>
          </p:cNvPicPr>
          <p:nvPr/>
        </p:nvPicPr>
        <p:blipFill>
          <a:blip r:embed="rId3"/>
          <a:stretch>
            <a:fillRect/>
          </a:stretch>
        </p:blipFill>
        <p:spPr>
          <a:xfrm>
            <a:off x="198757" y="104772"/>
            <a:ext cx="639848" cy="849195"/>
          </a:xfrm>
          <a:prstGeom prst="rect">
            <a:avLst/>
          </a:prstGeom>
        </p:spPr>
      </p:pic>
      <p:pic>
        <p:nvPicPr>
          <p:cNvPr id="12" name="Picture 11">
            <a:extLst>
              <a:ext uri="{FF2B5EF4-FFF2-40B4-BE49-F238E27FC236}">
                <a16:creationId xmlns:a16="http://schemas.microsoft.com/office/drawing/2014/main" id="{3AD59A1F-B44C-2917-181A-037208C83D01}"/>
              </a:ext>
            </a:extLst>
          </p:cNvPr>
          <p:cNvPicPr>
            <a:picLocks noChangeAspect="1"/>
          </p:cNvPicPr>
          <p:nvPr/>
        </p:nvPicPr>
        <p:blipFill>
          <a:blip r:embed="rId4"/>
          <a:stretch>
            <a:fillRect/>
          </a:stretch>
        </p:blipFill>
        <p:spPr>
          <a:xfrm>
            <a:off x="916495" y="161935"/>
            <a:ext cx="1018327" cy="792032"/>
          </a:xfrm>
          <a:prstGeom prst="rect">
            <a:avLst/>
          </a:prstGeom>
        </p:spPr>
      </p:pic>
      <p:sp>
        <p:nvSpPr>
          <p:cNvPr id="14" name="TextBox 13">
            <a:extLst>
              <a:ext uri="{FF2B5EF4-FFF2-40B4-BE49-F238E27FC236}">
                <a16:creationId xmlns:a16="http://schemas.microsoft.com/office/drawing/2014/main" id="{DC2B1C5D-7D18-4653-ABA0-36E972BAD17B}"/>
              </a:ext>
            </a:extLst>
          </p:cNvPr>
          <p:cNvSpPr txBox="1"/>
          <p:nvPr/>
        </p:nvSpPr>
        <p:spPr>
          <a:xfrm>
            <a:off x="808124" y="2783319"/>
            <a:ext cx="3276196" cy="307777"/>
          </a:xfrm>
          <a:prstGeom prst="rect">
            <a:avLst/>
          </a:prstGeom>
          <a:noFill/>
        </p:spPr>
        <p:txBody>
          <a:bodyPr wrap="square">
            <a:spAutoFit/>
          </a:bodyPr>
          <a:lstStyle/>
          <a:p>
            <a:r>
              <a:rPr lang="en-IN" sz="1400" i="1" dirty="0">
                <a:solidFill>
                  <a:srgbClr val="00CC00"/>
                </a:solidFill>
                <a:latin typeface="Segoe UI" panose="020B0502040204020203" pitchFamily="34" charset="0"/>
                <a:ea typeface="Sans Serif Collection" panose="020B0502040504020204" pitchFamily="34" charset="0"/>
                <a:cs typeface="Segoe UI" panose="020B0502040204020203" pitchFamily="34" charset="0"/>
              </a:rPr>
              <a:t>Where Insight Revives Energy</a:t>
            </a:r>
          </a:p>
        </p:txBody>
      </p:sp>
      <p:pic>
        <p:nvPicPr>
          <p:cNvPr id="16" name="Picture 15">
            <a:extLst>
              <a:ext uri="{FF2B5EF4-FFF2-40B4-BE49-F238E27FC236}">
                <a16:creationId xmlns:a16="http://schemas.microsoft.com/office/drawing/2014/main" id="{AC7A0947-0708-D23F-DC42-21EC62463F28}"/>
              </a:ext>
            </a:extLst>
          </p:cNvPr>
          <p:cNvPicPr>
            <a:picLocks noChangeAspect="1"/>
          </p:cNvPicPr>
          <p:nvPr/>
        </p:nvPicPr>
        <p:blipFill>
          <a:blip r:embed="rId5"/>
          <a:srcRect l="23570" t="7467" r="22386" b="16000"/>
          <a:stretch>
            <a:fillRect/>
          </a:stretch>
        </p:blipFill>
        <p:spPr>
          <a:xfrm>
            <a:off x="8951193" y="26088"/>
            <a:ext cx="1208807" cy="1141209"/>
          </a:xfrm>
          <a:prstGeom prst="rect">
            <a:avLst/>
          </a:prstGeom>
        </p:spPr>
      </p:pic>
    </p:spTree>
    <p:extLst>
      <p:ext uri="{BB962C8B-B14F-4D97-AF65-F5344CB8AC3E}">
        <p14:creationId xmlns:p14="http://schemas.microsoft.com/office/powerpoint/2010/main" val="1894676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graphicFrame>
        <p:nvGraphicFramePr>
          <p:cNvPr id="4" name="Table 3">
            <a:extLst>
              <a:ext uri="{FF2B5EF4-FFF2-40B4-BE49-F238E27FC236}">
                <a16:creationId xmlns:a16="http://schemas.microsoft.com/office/drawing/2014/main" id="{036F09BA-F3D7-08C0-4AC2-35D94FD0C9AE}"/>
              </a:ext>
            </a:extLst>
          </p:cNvPr>
          <p:cNvGraphicFramePr>
            <a:graphicFrameLocks noGrp="1"/>
          </p:cNvGraphicFramePr>
          <p:nvPr>
            <p:extLst>
              <p:ext uri="{D42A27DB-BD31-4B8C-83A1-F6EECF244321}">
                <p14:modId xmlns:p14="http://schemas.microsoft.com/office/powerpoint/2010/main" val="4241216825"/>
              </p:ext>
            </p:extLst>
          </p:nvPr>
        </p:nvGraphicFramePr>
        <p:xfrm>
          <a:off x="4586033" y="488658"/>
          <a:ext cx="4622786" cy="2773680"/>
        </p:xfrm>
        <a:graphic>
          <a:graphicData uri="http://schemas.openxmlformats.org/drawingml/2006/table">
            <a:tbl>
              <a:tblPr firstRow="1" bandRow="1">
                <a:tableStyleId>{5C22544A-7EE6-4342-B048-85BDC9FD1C3A}</a:tableStyleId>
              </a:tblPr>
              <a:tblGrid>
                <a:gridCol w="464487">
                  <a:extLst>
                    <a:ext uri="{9D8B030D-6E8A-4147-A177-3AD203B41FA5}">
                      <a16:colId xmlns:a16="http://schemas.microsoft.com/office/drawing/2014/main" val="616781473"/>
                    </a:ext>
                  </a:extLst>
                </a:gridCol>
                <a:gridCol w="1088152">
                  <a:extLst>
                    <a:ext uri="{9D8B030D-6E8A-4147-A177-3AD203B41FA5}">
                      <a16:colId xmlns:a16="http://schemas.microsoft.com/office/drawing/2014/main" val="871480425"/>
                    </a:ext>
                  </a:extLst>
                </a:gridCol>
                <a:gridCol w="727454">
                  <a:extLst>
                    <a:ext uri="{9D8B030D-6E8A-4147-A177-3AD203B41FA5}">
                      <a16:colId xmlns:a16="http://schemas.microsoft.com/office/drawing/2014/main" val="2731948092"/>
                    </a:ext>
                  </a:extLst>
                </a:gridCol>
                <a:gridCol w="2342693">
                  <a:extLst>
                    <a:ext uri="{9D8B030D-6E8A-4147-A177-3AD203B41FA5}">
                      <a16:colId xmlns:a16="http://schemas.microsoft.com/office/drawing/2014/main" val="1628258283"/>
                    </a:ext>
                  </a:extLst>
                </a:gridCol>
              </a:tblGrid>
              <a:tr h="395407">
                <a:tc>
                  <a:txBody>
                    <a:bodyPr/>
                    <a:lstStyle/>
                    <a:p>
                      <a:r>
                        <a:rPr lang="en-US" sz="900" b="0" dirty="0"/>
                        <a:t>WELLS</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a:txBody>
                    <a:bodyPr/>
                    <a:lstStyle/>
                    <a:p>
                      <a:r>
                        <a:rPr lang="en-US" sz="900" b="0" dirty="0"/>
                        <a:t>SAND  THICKNESS</a:t>
                      </a:r>
                    </a:p>
                    <a:p>
                      <a:r>
                        <a:rPr lang="en-US" sz="900" b="0" dirty="0"/>
                        <a:t>(Calculated from channel thickness) </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a:txBody>
                    <a:bodyPr/>
                    <a:lstStyle/>
                    <a:p>
                      <a:r>
                        <a:rPr lang="en-US" sz="900" b="0"/>
                        <a:t>WELL LOG THICKNESS</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tc>
                  <a:txBody>
                    <a:bodyPr/>
                    <a:lstStyle/>
                    <a:p>
                      <a:r>
                        <a:rPr lang="en-US" sz="900" b="0" dirty="0"/>
                        <a:t>REASON</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00"/>
                    </a:solidFill>
                  </a:tcPr>
                </a:tc>
                <a:extLst>
                  <a:ext uri="{0D108BD9-81ED-4DB2-BD59-A6C34878D82A}">
                    <a16:rowId xmlns:a16="http://schemas.microsoft.com/office/drawing/2014/main" val="2145524151"/>
                  </a:ext>
                </a:extLst>
              </a:tr>
              <a:tr h="840240">
                <a:tc>
                  <a:txBody>
                    <a:bodyPr/>
                    <a:lstStyle/>
                    <a:p>
                      <a:r>
                        <a:rPr lang="en-US" sz="900" dirty="0"/>
                        <a:t>A01</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900" dirty="0"/>
                        <a:t>99 m (Approx)</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900" dirty="0"/>
                        <a:t>99.47 m</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effectLst/>
                          <a:latin typeface="+mn-lt"/>
                          <a:ea typeface="+mn-ea"/>
                          <a:cs typeface="+mn-cs"/>
                        </a:rPr>
                        <a:t>A1 sand thickness and well log thickness  corroborate, because the contours are widely spaced and hence the dip in that region is almost horizontal thus the true sand thickness is same as the vertical thickness of the sand calculated via well log.</a:t>
                      </a:r>
                    </a:p>
                    <a:p>
                      <a:endParaRPr lang="en-US" sz="900" dirty="0"/>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015541419"/>
                  </a:ext>
                </a:extLst>
              </a:tr>
              <a:tr h="284199">
                <a:tc>
                  <a:txBody>
                    <a:bodyPr/>
                    <a:lstStyle/>
                    <a:p>
                      <a:r>
                        <a:rPr lang="en-US" sz="900" dirty="0"/>
                        <a:t>A02</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dirty="0"/>
                        <a:t>Cannot calculate (Data Not Available)</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95.1 m</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effectLst/>
                          <a:latin typeface="+mn-lt"/>
                          <a:ea typeface="+mn-ea"/>
                          <a:cs typeface="+mn-cs"/>
                        </a:rPr>
                        <a:t>A2 is outside the map area hence cannot be concluded</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606562"/>
                  </a:ext>
                </a:extLst>
              </a:tr>
              <a:tr h="729032">
                <a:tc>
                  <a:txBody>
                    <a:bodyPr/>
                    <a:lstStyle/>
                    <a:p>
                      <a:r>
                        <a:rPr lang="en-US" sz="900" dirty="0"/>
                        <a:t>A03</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900" dirty="0"/>
                        <a:t>70 m (Approx)</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r>
                        <a:rPr lang="en-US" sz="900" dirty="0"/>
                        <a:t>59.87 m</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effectLst/>
                          <a:latin typeface="+mn-lt"/>
                          <a:ea typeface="+mn-ea"/>
                          <a:cs typeface="+mn-cs"/>
                        </a:rPr>
                        <a:t>A3  sand thickness and well log thickness do not corroborate, because the contours are closely spaced and hence the dip in that region is high thus the true sand thickness is not same as the vertical thickness of the sand calculated via well log.</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529646524"/>
                  </a:ext>
                </a:extLst>
              </a:tr>
            </a:tbl>
          </a:graphicData>
        </a:graphic>
      </p:graphicFrame>
      <p:pic>
        <p:nvPicPr>
          <p:cNvPr id="6" name="Picture 5">
            <a:extLst>
              <a:ext uri="{FF2B5EF4-FFF2-40B4-BE49-F238E27FC236}">
                <a16:creationId xmlns:a16="http://schemas.microsoft.com/office/drawing/2014/main" id="{E61638E1-83E6-FE6F-7B98-E98EAD26871E}"/>
              </a:ext>
            </a:extLst>
          </p:cNvPr>
          <p:cNvPicPr>
            <a:picLocks noChangeAspect="1"/>
          </p:cNvPicPr>
          <p:nvPr/>
        </p:nvPicPr>
        <p:blipFill>
          <a:blip r:embed="rId2"/>
          <a:stretch>
            <a:fillRect/>
          </a:stretch>
        </p:blipFill>
        <p:spPr>
          <a:xfrm>
            <a:off x="4586033" y="3320128"/>
            <a:ext cx="4634052" cy="1752957"/>
          </a:xfrm>
          <a:prstGeom prst="rect">
            <a:avLst/>
          </a:prstGeom>
          <a:ln>
            <a:solidFill>
              <a:srgbClr val="006600"/>
            </a:solidFill>
          </a:ln>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A7AFE0C3-4283-B764-798D-AF4819F7CA46}"/>
                  </a:ext>
                </a:extLst>
              </p14:cNvPr>
              <p14:cNvContentPartPr/>
              <p14:nvPr/>
            </p14:nvContentPartPr>
            <p14:xfrm>
              <a:off x="1603000" y="2061467"/>
              <a:ext cx="293700" cy="130200"/>
            </p14:xfrm>
          </p:contentPart>
        </mc:Choice>
        <mc:Fallback xmlns="">
          <p:pic>
            <p:nvPicPr>
              <p:cNvPr id="9" name="Ink 8">
                <a:extLst>
                  <a:ext uri="{FF2B5EF4-FFF2-40B4-BE49-F238E27FC236}">
                    <a16:creationId xmlns:a16="http://schemas.microsoft.com/office/drawing/2014/main" id="{A7AFE0C3-4283-B764-798D-AF4819F7CA46}"/>
                  </a:ext>
                </a:extLst>
              </p:cNvPr>
              <p:cNvPicPr/>
              <p:nvPr/>
            </p:nvPicPr>
            <p:blipFill>
              <a:blip r:embed="rId4"/>
              <a:stretch>
                <a:fillRect/>
              </a:stretch>
            </p:blipFill>
            <p:spPr>
              <a:xfrm>
                <a:off x="1598681" y="2057151"/>
                <a:ext cx="302338" cy="138832"/>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B84717D8-8350-200C-51B8-F96E128A0697}"/>
                  </a:ext>
                </a:extLst>
              </p14:cNvPr>
              <p14:cNvContentPartPr/>
              <p14:nvPr/>
            </p14:nvContentPartPr>
            <p14:xfrm>
              <a:off x="1740400" y="2099567"/>
              <a:ext cx="50100" cy="51600"/>
            </p14:xfrm>
          </p:contentPart>
        </mc:Choice>
        <mc:Fallback xmlns="">
          <p:pic>
            <p:nvPicPr>
              <p:cNvPr id="10" name="Ink 9">
                <a:extLst>
                  <a:ext uri="{FF2B5EF4-FFF2-40B4-BE49-F238E27FC236}">
                    <a16:creationId xmlns:a16="http://schemas.microsoft.com/office/drawing/2014/main" id="{B84717D8-8350-200C-51B8-F96E128A0697}"/>
                  </a:ext>
                </a:extLst>
              </p:cNvPr>
              <p:cNvPicPr/>
              <p:nvPr/>
            </p:nvPicPr>
            <p:blipFill>
              <a:blip r:embed="rId6"/>
              <a:stretch>
                <a:fillRect/>
              </a:stretch>
            </p:blipFill>
            <p:spPr>
              <a:xfrm>
                <a:off x="1736106" y="2095237"/>
                <a:ext cx="58689" cy="60260"/>
              </a:xfrm>
              <a:prstGeom prst="rect">
                <a:avLst/>
              </a:prstGeom>
            </p:spPr>
          </p:pic>
        </mc:Fallback>
      </mc:AlternateContent>
      <p:sp>
        <p:nvSpPr>
          <p:cNvPr id="11" name="TextBox 10">
            <a:extLst>
              <a:ext uri="{FF2B5EF4-FFF2-40B4-BE49-F238E27FC236}">
                <a16:creationId xmlns:a16="http://schemas.microsoft.com/office/drawing/2014/main" id="{178011F0-A28F-D8B5-A624-68BFF7D60EFF}"/>
              </a:ext>
            </a:extLst>
          </p:cNvPr>
          <p:cNvSpPr txBox="1"/>
          <p:nvPr/>
        </p:nvSpPr>
        <p:spPr>
          <a:xfrm>
            <a:off x="2453937" y="692482"/>
            <a:ext cx="2044420" cy="2366032"/>
          </a:xfrm>
          <a:prstGeom prst="rect">
            <a:avLst/>
          </a:prstGeom>
          <a:noFill/>
        </p:spPr>
        <p:txBody>
          <a:bodyPr wrap="square" lIns="76200" tIns="38100" rIns="76200" bIns="38100" rtlCol="0" anchor="t">
            <a:spAutoFit/>
          </a:bodyPr>
          <a:lstStyle/>
          <a:p>
            <a:r>
              <a:rPr lang="en-US" sz="1000" b="1" dirty="0"/>
              <a:t>Thickness (Isopach)</a:t>
            </a:r>
            <a:r>
              <a:rPr lang="en-US" sz="1000" dirty="0"/>
              <a:t> - NW is 100-135 m thick, SE is 20-30 m. Sediment physically cannot travel uphill to preferentially deposit at its source. Thick = proximal mouth (NW), thin = distal fringe (SE).</a:t>
            </a:r>
          </a:p>
          <a:p>
            <a:endParaRPr lang="en-US" sz="1000" dirty="0"/>
          </a:p>
          <a:p>
            <a:r>
              <a:rPr lang="en-US" sz="1000" b="1" dirty="0"/>
              <a:t>Valley Rule</a:t>
            </a:r>
            <a:r>
              <a:rPr lang="en-US" sz="1000" dirty="0"/>
              <a:t> - Tributary branches join the main trunk </a:t>
            </a:r>
            <a:r>
              <a:rPr lang="en-US" sz="1000" i="1" dirty="0"/>
              <a:t>downslope</a:t>
            </a:r>
            <a:r>
              <a:rPr lang="en-US" sz="1000" dirty="0"/>
              <a:t>. All confluences on the white fairway map are consistent only with NW-high → SE-low geometry. Tributaries cannot climb to meet the trunk.</a:t>
            </a:r>
          </a:p>
          <a:p>
            <a:r>
              <a:rPr lang="en-US" sz="1000" dirty="0"/>
              <a:t>this area the channel spreads out in</a:t>
            </a:r>
          </a:p>
          <a:p>
            <a:endParaRPr lang="en-US" sz="875" dirty="0"/>
          </a:p>
        </p:txBody>
      </p:sp>
      <p:pic>
        <p:nvPicPr>
          <p:cNvPr id="12" name="Picture 11">
            <a:extLst>
              <a:ext uri="{FF2B5EF4-FFF2-40B4-BE49-F238E27FC236}">
                <a16:creationId xmlns:a16="http://schemas.microsoft.com/office/drawing/2014/main" id="{C26277A8-3F83-0CFA-354A-155A3ACC97CD}"/>
              </a:ext>
            </a:extLst>
          </p:cNvPr>
          <p:cNvPicPr>
            <a:picLocks noChangeAspect="1"/>
          </p:cNvPicPr>
          <p:nvPr/>
        </p:nvPicPr>
        <p:blipFill>
          <a:blip r:embed="rId7"/>
          <a:srcRect l="3071" r="3030"/>
          <a:stretch>
            <a:fillRect/>
          </a:stretch>
        </p:blipFill>
        <p:spPr>
          <a:xfrm>
            <a:off x="149416" y="671188"/>
            <a:ext cx="2304521" cy="2186312"/>
          </a:xfrm>
          <a:prstGeom prst="rect">
            <a:avLst/>
          </a:prstGeom>
          <a:ln>
            <a:solidFill>
              <a:srgbClr val="006600"/>
            </a:solidFill>
          </a:ln>
        </p:spPr>
      </p:pic>
      <p:sp>
        <p:nvSpPr>
          <p:cNvPr id="13" name="TextBox 12">
            <a:extLst>
              <a:ext uri="{FF2B5EF4-FFF2-40B4-BE49-F238E27FC236}">
                <a16:creationId xmlns:a16="http://schemas.microsoft.com/office/drawing/2014/main" id="{45E82CC0-4664-E8C3-1A49-516317922DF5}"/>
              </a:ext>
            </a:extLst>
          </p:cNvPr>
          <p:cNvSpPr txBox="1"/>
          <p:nvPr/>
        </p:nvSpPr>
        <p:spPr>
          <a:xfrm>
            <a:off x="149416" y="92314"/>
            <a:ext cx="4551506" cy="338554"/>
          </a:xfrm>
          <a:prstGeom prst="rect">
            <a:avLst/>
          </a:prstGeom>
          <a:noFill/>
        </p:spPr>
        <p:txBody>
          <a:bodyPr wrap="square" rtlCol="0">
            <a:spAutoFit/>
          </a:bodyPr>
          <a:lstStyle/>
          <a:p>
            <a:r>
              <a:rPr lang="en-US" sz="16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Dominant Channel Fairway</a:t>
            </a:r>
            <a:endParaRPr lang="en-IN" b="1" dirty="0">
              <a:solidFill>
                <a:srgbClr val="008000"/>
              </a:solidFill>
            </a:endParaRPr>
          </a:p>
        </p:txBody>
      </p:sp>
      <p:pic>
        <p:nvPicPr>
          <p:cNvPr id="19" name="Picture 18">
            <a:extLst>
              <a:ext uri="{FF2B5EF4-FFF2-40B4-BE49-F238E27FC236}">
                <a16:creationId xmlns:a16="http://schemas.microsoft.com/office/drawing/2014/main" id="{4976D8D2-07F1-1987-0A2C-EBA6EB6A6249}"/>
              </a:ext>
            </a:extLst>
          </p:cNvPr>
          <p:cNvPicPr>
            <a:picLocks noChangeAspect="1"/>
          </p:cNvPicPr>
          <p:nvPr/>
        </p:nvPicPr>
        <p:blipFill>
          <a:blip r:embed="rId8"/>
          <a:stretch>
            <a:fillRect/>
          </a:stretch>
        </p:blipFill>
        <p:spPr>
          <a:xfrm>
            <a:off x="149417" y="2998816"/>
            <a:ext cx="2304521" cy="1891812"/>
          </a:xfrm>
          <a:prstGeom prst="rect">
            <a:avLst/>
          </a:prstGeom>
          <a:ln>
            <a:solidFill>
              <a:srgbClr val="006600"/>
            </a:solidFill>
          </a:ln>
        </p:spPr>
      </p:pic>
      <p:sp>
        <p:nvSpPr>
          <p:cNvPr id="20" name="TextBox 19">
            <a:extLst>
              <a:ext uri="{FF2B5EF4-FFF2-40B4-BE49-F238E27FC236}">
                <a16:creationId xmlns:a16="http://schemas.microsoft.com/office/drawing/2014/main" id="{C84CBCD0-8979-2952-7BD9-CA1E63A84A64}"/>
              </a:ext>
            </a:extLst>
          </p:cNvPr>
          <p:cNvSpPr txBox="1"/>
          <p:nvPr/>
        </p:nvSpPr>
        <p:spPr>
          <a:xfrm>
            <a:off x="2425169" y="3123463"/>
            <a:ext cx="2117572" cy="1785104"/>
          </a:xfrm>
          <a:prstGeom prst="rect">
            <a:avLst/>
          </a:prstGeom>
          <a:noFill/>
        </p:spPr>
        <p:txBody>
          <a:bodyPr wrap="square" rtlCol="0">
            <a:spAutoFit/>
          </a:bodyPr>
          <a:lstStyle/>
          <a:p>
            <a:r>
              <a:rPr lang="en-US" sz="1000" b="1" dirty="0"/>
              <a:t>Combined Trap Type </a:t>
            </a:r>
            <a:r>
              <a:rPr lang="en-US" sz="1000" dirty="0"/>
              <a:t>- Channel levees form the stratigraphic traps along the margins</a:t>
            </a:r>
          </a:p>
          <a:p>
            <a:endParaRPr lang="en-US" sz="1000" dirty="0"/>
          </a:p>
          <a:p>
            <a:endParaRPr lang="en-US" sz="1000" dirty="0"/>
          </a:p>
          <a:p>
            <a:r>
              <a:rPr lang="en-IN" sz="1000" dirty="0"/>
              <a:t>The possibility of growth faults have been asserted on the bases of changes in elevation of turbidite  SNA values, sharp turning of contours and well-log correlation</a:t>
            </a:r>
          </a:p>
          <a:p>
            <a:endParaRPr lang="en-US" sz="1000" dirty="0"/>
          </a:p>
        </p:txBody>
      </p:sp>
      <p:sp>
        <p:nvSpPr>
          <p:cNvPr id="22" name="TextBox 21">
            <a:extLst>
              <a:ext uri="{FF2B5EF4-FFF2-40B4-BE49-F238E27FC236}">
                <a16:creationId xmlns:a16="http://schemas.microsoft.com/office/drawing/2014/main" id="{AD1425C5-2B09-A98D-E24A-9E4B841BC1DF}"/>
              </a:ext>
            </a:extLst>
          </p:cNvPr>
          <p:cNvSpPr txBox="1"/>
          <p:nvPr/>
        </p:nvSpPr>
        <p:spPr>
          <a:xfrm>
            <a:off x="4872477" y="5049859"/>
            <a:ext cx="4049898" cy="446917"/>
          </a:xfrm>
          <a:prstGeom prst="rect">
            <a:avLst/>
          </a:prstGeom>
          <a:noFill/>
        </p:spPr>
        <p:txBody>
          <a:bodyPr wrap="square" rtlCol="0">
            <a:spAutoFit/>
          </a:bodyPr>
          <a:lstStyle/>
          <a:p>
            <a:r>
              <a:rPr lang="en-US" sz="900" dirty="0"/>
              <a:t>Figure: Conceptual model of deep-water channel-levee depositional architecture</a:t>
            </a:r>
          </a:p>
          <a:p>
            <a:endParaRPr lang="en-IN" dirty="0"/>
          </a:p>
        </p:txBody>
      </p:sp>
    </p:spTree>
    <p:extLst>
      <p:ext uri="{BB962C8B-B14F-4D97-AF65-F5344CB8AC3E}">
        <p14:creationId xmlns:p14="http://schemas.microsoft.com/office/powerpoint/2010/main" val="3105921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335B-1A42-28AA-2A79-E20E9D2826B9}"/>
            </a:ext>
          </a:extLst>
        </p:cNvPr>
        <p:cNvGrpSpPr/>
        <p:nvPr/>
      </p:nvGrpSpPr>
      <p:grpSpPr>
        <a:xfrm>
          <a:off x="0" y="0"/>
          <a:ext cx="0" cy="0"/>
          <a:chOff x="0" y="0"/>
          <a:chExt cx="0" cy="0"/>
        </a:xfrm>
      </p:grpSpPr>
      <p:sp>
        <p:nvSpPr>
          <p:cNvPr id="2" name="Wave 1">
            <a:extLst>
              <a:ext uri="{FF2B5EF4-FFF2-40B4-BE49-F238E27FC236}">
                <a16:creationId xmlns:a16="http://schemas.microsoft.com/office/drawing/2014/main" id="{9943AE42-BA07-8FFA-DFEB-436454BC1F74}"/>
              </a:ext>
            </a:extLst>
          </p:cNvPr>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a:extLst>
              <a:ext uri="{FF2B5EF4-FFF2-40B4-BE49-F238E27FC236}">
                <a16:creationId xmlns:a16="http://schemas.microsoft.com/office/drawing/2014/main" id="{C537E52E-3237-A533-C5E4-4E503C8C7E15}"/>
              </a:ext>
            </a:extLst>
          </p:cNvPr>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pic>
        <p:nvPicPr>
          <p:cNvPr id="4" name="Picture 3">
            <a:extLst>
              <a:ext uri="{FF2B5EF4-FFF2-40B4-BE49-F238E27FC236}">
                <a16:creationId xmlns:a16="http://schemas.microsoft.com/office/drawing/2014/main" id="{D4CA8880-A4D4-4136-C483-697BF6BA9057}"/>
              </a:ext>
            </a:extLst>
          </p:cNvPr>
          <p:cNvPicPr>
            <a:picLocks noChangeAspect="1"/>
          </p:cNvPicPr>
          <p:nvPr/>
        </p:nvPicPr>
        <p:blipFill>
          <a:blip r:embed="rId2">
            <a:extLst>
              <a:ext uri="{28A0092B-C50C-407E-A947-70E740481C1C}">
                <a14:useLocalDpi xmlns:a14="http://schemas.microsoft.com/office/drawing/2010/main" val="0"/>
              </a:ext>
            </a:extLst>
          </a:blip>
          <a:srcRect l="6163" r="1510" b="10411"/>
          <a:stretch>
            <a:fillRect/>
          </a:stretch>
        </p:blipFill>
        <p:spPr>
          <a:xfrm>
            <a:off x="6350449" y="3680341"/>
            <a:ext cx="2813871" cy="1578245"/>
          </a:xfrm>
          <a:prstGeom prst="rect">
            <a:avLst/>
          </a:prstGeom>
          <a:ln>
            <a:solidFill>
              <a:srgbClr val="006600"/>
            </a:solidFill>
          </a:ln>
        </p:spPr>
      </p:pic>
      <p:pic>
        <p:nvPicPr>
          <p:cNvPr id="5" name="Picture 4">
            <a:extLst>
              <a:ext uri="{FF2B5EF4-FFF2-40B4-BE49-F238E27FC236}">
                <a16:creationId xmlns:a16="http://schemas.microsoft.com/office/drawing/2014/main" id="{4EAF0064-48BA-3D34-D812-080225ADD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975" y="615903"/>
            <a:ext cx="2384171" cy="2275593"/>
          </a:xfrm>
          <a:prstGeom prst="rect">
            <a:avLst/>
          </a:prstGeom>
        </p:spPr>
      </p:pic>
      <p:pic>
        <p:nvPicPr>
          <p:cNvPr id="6" name="Picture 5">
            <a:extLst>
              <a:ext uri="{FF2B5EF4-FFF2-40B4-BE49-F238E27FC236}">
                <a16:creationId xmlns:a16="http://schemas.microsoft.com/office/drawing/2014/main" id="{435A8824-A29F-3ADA-0B39-FB881AC0A9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975" y="2982444"/>
            <a:ext cx="2384172" cy="2240013"/>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52113753-3E0C-ADDE-7C47-207798AFDD52}"/>
                  </a:ext>
                </a:extLst>
              </p14:cNvPr>
              <p14:cNvContentPartPr/>
              <p14:nvPr/>
            </p14:nvContentPartPr>
            <p14:xfrm>
              <a:off x="8538519" y="778586"/>
              <a:ext cx="300" cy="300"/>
            </p14:xfrm>
          </p:contentPart>
        </mc:Choice>
        <mc:Fallback xmlns="">
          <p:pic>
            <p:nvPicPr>
              <p:cNvPr id="7" name="Ink 6">
                <a:extLst>
                  <a:ext uri="{FF2B5EF4-FFF2-40B4-BE49-F238E27FC236}">
                    <a16:creationId xmlns:a16="http://schemas.microsoft.com/office/drawing/2014/main" id="{52113753-3E0C-ADDE-7C47-207798AFDD52}"/>
                  </a:ext>
                </a:extLst>
              </p:cNvPr>
              <p:cNvPicPr/>
              <p:nvPr/>
            </p:nvPicPr>
            <p:blipFill>
              <a:blip r:embed="rId6"/>
              <a:stretch>
                <a:fillRect/>
              </a:stretch>
            </p:blipFill>
            <p:spPr>
              <a:xfrm>
                <a:off x="8534919" y="774986"/>
                <a:ext cx="7500" cy="7500"/>
              </a:xfrm>
              <a:prstGeom prst="rect">
                <a:avLst/>
              </a:prstGeom>
            </p:spPr>
          </p:pic>
        </mc:Fallback>
      </mc:AlternateContent>
      <p:pic>
        <p:nvPicPr>
          <p:cNvPr id="9" name="Picture 8">
            <a:extLst>
              <a:ext uri="{FF2B5EF4-FFF2-40B4-BE49-F238E27FC236}">
                <a16:creationId xmlns:a16="http://schemas.microsoft.com/office/drawing/2014/main" id="{6A838768-DBAE-698A-8212-800ED49A5361}"/>
              </a:ext>
            </a:extLst>
          </p:cNvPr>
          <p:cNvPicPr>
            <a:picLocks noChangeAspect="1"/>
          </p:cNvPicPr>
          <p:nvPr/>
        </p:nvPicPr>
        <p:blipFill>
          <a:blip r:embed="rId7"/>
          <a:srcRect b="14701"/>
          <a:stretch>
            <a:fillRect/>
          </a:stretch>
        </p:blipFill>
        <p:spPr>
          <a:xfrm>
            <a:off x="3306178" y="722125"/>
            <a:ext cx="5858142" cy="2903398"/>
          </a:xfrm>
          <a:prstGeom prst="rect">
            <a:avLst/>
          </a:prstGeom>
          <a:ln>
            <a:solidFill>
              <a:srgbClr val="006600"/>
            </a:solidFill>
          </a:ln>
        </p:spPr>
      </p:pic>
      <p:sp>
        <p:nvSpPr>
          <p:cNvPr id="13" name="TextBox 12">
            <a:extLst>
              <a:ext uri="{FF2B5EF4-FFF2-40B4-BE49-F238E27FC236}">
                <a16:creationId xmlns:a16="http://schemas.microsoft.com/office/drawing/2014/main" id="{7EF9CA47-36D8-B71A-D767-39B14C7387B6}"/>
              </a:ext>
            </a:extLst>
          </p:cNvPr>
          <p:cNvSpPr txBox="1"/>
          <p:nvPr/>
        </p:nvSpPr>
        <p:spPr>
          <a:xfrm>
            <a:off x="523240" y="144272"/>
            <a:ext cx="7122160" cy="338554"/>
          </a:xfrm>
          <a:prstGeom prst="rect">
            <a:avLst/>
          </a:prstGeom>
          <a:noFill/>
        </p:spPr>
        <p:txBody>
          <a:bodyPr wrap="square" rtlCol="0">
            <a:spAutoFit/>
          </a:bodyPr>
          <a:lstStyle/>
          <a:p>
            <a:r>
              <a:rPr lang="en-IN" sz="16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Modelling and Well Log Correlation</a:t>
            </a:r>
            <a:endParaRPr lang="en-IN"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4" name="Picture 13">
            <a:extLst>
              <a:ext uri="{FF2B5EF4-FFF2-40B4-BE49-F238E27FC236}">
                <a16:creationId xmlns:a16="http://schemas.microsoft.com/office/drawing/2014/main" id="{1443A7EF-E664-2CD8-6F8A-32A926BDF214}"/>
              </a:ext>
            </a:extLst>
          </p:cNvPr>
          <p:cNvPicPr>
            <a:picLocks noChangeAspect="1"/>
          </p:cNvPicPr>
          <p:nvPr/>
        </p:nvPicPr>
        <p:blipFill>
          <a:blip r:embed="rId8"/>
          <a:srcRect l="24478" t="53481" r="2226" b="4674"/>
          <a:stretch>
            <a:fillRect/>
          </a:stretch>
        </p:blipFill>
        <p:spPr>
          <a:xfrm>
            <a:off x="3305508" y="3688808"/>
            <a:ext cx="2735580" cy="1578245"/>
          </a:xfrm>
          <a:prstGeom prst="rect">
            <a:avLst/>
          </a:prstGeom>
          <a:ln>
            <a:solidFill>
              <a:srgbClr val="006600"/>
            </a:solidFill>
          </a:ln>
        </p:spPr>
      </p:pic>
      <p:sp>
        <p:nvSpPr>
          <p:cNvPr id="15" name="TextBox 14">
            <a:extLst>
              <a:ext uri="{FF2B5EF4-FFF2-40B4-BE49-F238E27FC236}">
                <a16:creationId xmlns:a16="http://schemas.microsoft.com/office/drawing/2014/main" id="{9E7E031E-CC4A-E8A8-FE1A-27062FC5065B}"/>
              </a:ext>
            </a:extLst>
          </p:cNvPr>
          <p:cNvSpPr txBox="1"/>
          <p:nvPr/>
        </p:nvSpPr>
        <p:spPr>
          <a:xfrm>
            <a:off x="4015740" y="429553"/>
            <a:ext cx="769620" cy="246221"/>
          </a:xfrm>
          <a:prstGeom prst="rect">
            <a:avLst/>
          </a:prstGeom>
          <a:noFill/>
          <a:ln>
            <a:solidFill>
              <a:srgbClr val="006600"/>
            </a:solidFill>
          </a:ln>
        </p:spPr>
        <p:txBody>
          <a:bodyPr wrap="square" rtlCol="0">
            <a:spAutoFit/>
          </a:bodyPr>
          <a:lstStyle/>
          <a:p>
            <a:r>
              <a:rPr lang="en-IN" sz="1000" dirty="0"/>
              <a:t> Well A01</a:t>
            </a:r>
          </a:p>
        </p:txBody>
      </p:sp>
      <p:sp>
        <p:nvSpPr>
          <p:cNvPr id="16" name="TextBox 15">
            <a:extLst>
              <a:ext uri="{FF2B5EF4-FFF2-40B4-BE49-F238E27FC236}">
                <a16:creationId xmlns:a16="http://schemas.microsoft.com/office/drawing/2014/main" id="{1DAB2660-22DD-AE0A-7D9B-16C60B724DBB}"/>
              </a:ext>
            </a:extLst>
          </p:cNvPr>
          <p:cNvSpPr txBox="1"/>
          <p:nvPr/>
        </p:nvSpPr>
        <p:spPr>
          <a:xfrm>
            <a:off x="6008370" y="412618"/>
            <a:ext cx="769620" cy="246221"/>
          </a:xfrm>
          <a:prstGeom prst="rect">
            <a:avLst/>
          </a:prstGeom>
          <a:noFill/>
          <a:ln>
            <a:solidFill>
              <a:srgbClr val="006600"/>
            </a:solidFill>
          </a:ln>
        </p:spPr>
        <p:txBody>
          <a:bodyPr wrap="square" rtlCol="0">
            <a:spAutoFit/>
          </a:bodyPr>
          <a:lstStyle/>
          <a:p>
            <a:r>
              <a:rPr lang="en-IN" sz="1000" dirty="0"/>
              <a:t> Well A02</a:t>
            </a:r>
          </a:p>
        </p:txBody>
      </p:sp>
      <p:sp>
        <p:nvSpPr>
          <p:cNvPr id="17" name="TextBox 16">
            <a:extLst>
              <a:ext uri="{FF2B5EF4-FFF2-40B4-BE49-F238E27FC236}">
                <a16:creationId xmlns:a16="http://schemas.microsoft.com/office/drawing/2014/main" id="{99883866-D0FF-6FE4-41F3-C7D6F0700BAD}"/>
              </a:ext>
            </a:extLst>
          </p:cNvPr>
          <p:cNvSpPr txBox="1"/>
          <p:nvPr/>
        </p:nvSpPr>
        <p:spPr>
          <a:xfrm>
            <a:off x="8001000" y="409734"/>
            <a:ext cx="769620" cy="246221"/>
          </a:xfrm>
          <a:prstGeom prst="rect">
            <a:avLst/>
          </a:prstGeom>
          <a:noFill/>
          <a:ln>
            <a:solidFill>
              <a:srgbClr val="006600"/>
            </a:solidFill>
          </a:ln>
        </p:spPr>
        <p:txBody>
          <a:bodyPr wrap="square" rtlCol="0">
            <a:spAutoFit/>
          </a:bodyPr>
          <a:lstStyle/>
          <a:p>
            <a:r>
              <a:rPr lang="en-IN" sz="1000" dirty="0"/>
              <a:t> Well A03</a:t>
            </a:r>
          </a:p>
        </p:txBody>
      </p:sp>
    </p:spTree>
    <p:extLst>
      <p:ext uri="{BB962C8B-B14F-4D97-AF65-F5344CB8AC3E}">
        <p14:creationId xmlns:p14="http://schemas.microsoft.com/office/powerpoint/2010/main" val="210806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D6EB-8333-59BF-6DC7-D93865CC26B0}"/>
            </a:ext>
          </a:extLst>
        </p:cNvPr>
        <p:cNvGrpSpPr/>
        <p:nvPr/>
      </p:nvGrpSpPr>
      <p:grpSpPr>
        <a:xfrm>
          <a:off x="0" y="0"/>
          <a:ext cx="0" cy="0"/>
          <a:chOff x="0" y="0"/>
          <a:chExt cx="0" cy="0"/>
        </a:xfrm>
      </p:grpSpPr>
      <p:sp>
        <p:nvSpPr>
          <p:cNvPr id="2" name="Wave 1">
            <a:extLst>
              <a:ext uri="{FF2B5EF4-FFF2-40B4-BE49-F238E27FC236}">
                <a16:creationId xmlns:a16="http://schemas.microsoft.com/office/drawing/2014/main" id="{904D86BF-7BFD-667D-2644-5DAEDBDACD77}"/>
              </a:ext>
            </a:extLst>
          </p:cNvPr>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a:extLst>
              <a:ext uri="{FF2B5EF4-FFF2-40B4-BE49-F238E27FC236}">
                <a16:creationId xmlns:a16="http://schemas.microsoft.com/office/drawing/2014/main" id="{4638A1AE-6AF7-BF9C-9638-95747F3B9FE0}"/>
              </a:ext>
            </a:extLst>
          </p:cNvPr>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4" name="Title 1">
            <a:extLst>
              <a:ext uri="{FF2B5EF4-FFF2-40B4-BE49-F238E27FC236}">
                <a16:creationId xmlns:a16="http://schemas.microsoft.com/office/drawing/2014/main" id="{79469800-A618-D31E-90A4-13B34DCEAD42}"/>
              </a:ext>
            </a:extLst>
          </p:cNvPr>
          <p:cNvSpPr txBox="1">
            <a:spLocks/>
          </p:cNvSpPr>
          <p:nvPr/>
        </p:nvSpPr>
        <p:spPr>
          <a:xfrm>
            <a:off x="279400" y="69116"/>
            <a:ext cx="9601200" cy="321998"/>
          </a:xfrm>
          <a:prstGeom prst="rect">
            <a:avLst/>
          </a:prstGeom>
        </p:spPr>
        <p:txBody>
          <a:bodyPr>
            <a:noAutofit/>
          </a:bodyPr>
          <a:lstStyle>
            <a:lvl1pPr algn="ctr" defTabSz="285747" rtl="0" eaLnBrk="1" latinLnBrk="0" hangingPunct="1">
              <a:spcBef>
                <a:spcPct val="0"/>
              </a:spcBef>
              <a:buNone/>
              <a:defRPr sz="2750" kern="1200">
                <a:solidFill>
                  <a:schemeClr val="tx1"/>
                </a:solidFill>
                <a:latin typeface="+mj-lt"/>
                <a:ea typeface="+mj-ea"/>
                <a:cs typeface="+mj-cs"/>
              </a:defRPr>
            </a:lvl1pPr>
          </a:lstStyle>
          <a:p>
            <a:pPr algn="l"/>
            <a:r>
              <a:rPr lang="en-US" sz="16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Reservoir Geomorphology and Depositional Environment</a:t>
            </a:r>
          </a:p>
        </p:txBody>
      </p:sp>
      <p:pic>
        <p:nvPicPr>
          <p:cNvPr id="5" name="Picture 4">
            <a:extLst>
              <a:ext uri="{FF2B5EF4-FFF2-40B4-BE49-F238E27FC236}">
                <a16:creationId xmlns:a16="http://schemas.microsoft.com/office/drawing/2014/main" id="{AA1D2BCA-65BE-3A62-714D-1B67270E6B0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Lst>
          </a:blip>
          <a:srcRect b="5702"/>
          <a:stretch>
            <a:fillRect/>
          </a:stretch>
        </p:blipFill>
        <p:spPr>
          <a:xfrm>
            <a:off x="4189444" y="3008152"/>
            <a:ext cx="2064452" cy="1248160"/>
          </a:xfrm>
          <a:prstGeom prst="rect">
            <a:avLst/>
          </a:prstGeom>
          <a:ln>
            <a:solidFill>
              <a:srgbClr val="006600"/>
            </a:solidFill>
          </a:ln>
        </p:spPr>
      </p:pic>
      <p:pic>
        <p:nvPicPr>
          <p:cNvPr id="6" name="Picture 5">
            <a:extLst>
              <a:ext uri="{FF2B5EF4-FFF2-40B4-BE49-F238E27FC236}">
                <a16:creationId xmlns:a16="http://schemas.microsoft.com/office/drawing/2014/main" id="{E601C880-4414-BB61-2CD4-CC30964A055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b="57200"/>
          <a:stretch>
            <a:fillRect/>
          </a:stretch>
        </p:blipFill>
        <p:spPr>
          <a:xfrm>
            <a:off x="462055" y="784220"/>
            <a:ext cx="3648953" cy="1614381"/>
          </a:xfrm>
          <a:prstGeom prst="rect">
            <a:avLst/>
          </a:prstGeom>
          <a:ln>
            <a:solidFill>
              <a:srgbClr val="006600"/>
            </a:solidFill>
          </a:ln>
        </p:spPr>
      </p:pic>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E9064C5-66D9-AB4E-51BF-CBE765A99114}"/>
                  </a:ext>
                </a:extLst>
              </p14:cNvPr>
              <p14:cNvContentPartPr/>
              <p14:nvPr/>
            </p14:nvContentPartPr>
            <p14:xfrm>
              <a:off x="3563065" y="2074470"/>
              <a:ext cx="300" cy="300"/>
            </p14:xfrm>
          </p:contentPart>
        </mc:Choice>
        <mc:Fallback xmlns="">
          <p:pic>
            <p:nvPicPr>
              <p:cNvPr id="7" name="Ink 6">
                <a:extLst>
                  <a:ext uri="{FF2B5EF4-FFF2-40B4-BE49-F238E27FC236}">
                    <a16:creationId xmlns:a16="http://schemas.microsoft.com/office/drawing/2014/main" id="{DE9064C5-66D9-AB4E-51BF-CBE765A99114}"/>
                  </a:ext>
                </a:extLst>
              </p:cNvPr>
              <p:cNvPicPr/>
              <p:nvPr/>
            </p:nvPicPr>
            <p:blipFill>
              <a:blip r:embed="rId7"/>
              <a:stretch>
                <a:fillRect/>
              </a:stretch>
            </p:blipFill>
            <p:spPr>
              <a:xfrm>
                <a:off x="3548065" y="2059470"/>
                <a:ext cx="30000" cy="30000"/>
              </a:xfrm>
              <a:prstGeom prst="rect">
                <a:avLst/>
              </a:prstGeom>
            </p:spPr>
          </p:pic>
        </mc:Fallback>
      </mc:AlternateContent>
      <p:sp>
        <p:nvSpPr>
          <p:cNvPr id="8" name="Rectangle 7">
            <a:extLst>
              <a:ext uri="{FF2B5EF4-FFF2-40B4-BE49-F238E27FC236}">
                <a16:creationId xmlns:a16="http://schemas.microsoft.com/office/drawing/2014/main" id="{F8E0177E-7636-3FF4-9DD9-1F59647A9B02}"/>
              </a:ext>
            </a:extLst>
          </p:cNvPr>
          <p:cNvSpPr/>
          <p:nvPr/>
        </p:nvSpPr>
        <p:spPr>
          <a:xfrm>
            <a:off x="3521865" y="2050006"/>
            <a:ext cx="318511" cy="1691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7" b="1" dirty="0">
                <a:solidFill>
                  <a:schemeClr val="tx1"/>
                </a:solidFill>
              </a:rPr>
              <a:t>A3</a:t>
            </a:r>
          </a:p>
        </p:txBody>
      </p:sp>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531E6D82-73BD-6CEA-B4F5-0FB60BB38622}"/>
                  </a:ext>
                </a:extLst>
              </p14:cNvPr>
              <p14:cNvContentPartPr/>
              <p14:nvPr/>
            </p14:nvContentPartPr>
            <p14:xfrm>
              <a:off x="3225573" y="1672943"/>
              <a:ext cx="300" cy="300"/>
            </p14:xfrm>
          </p:contentPart>
        </mc:Choice>
        <mc:Fallback xmlns="">
          <p:pic>
            <p:nvPicPr>
              <p:cNvPr id="9" name="Ink 8">
                <a:extLst>
                  <a:ext uri="{FF2B5EF4-FFF2-40B4-BE49-F238E27FC236}">
                    <a16:creationId xmlns:a16="http://schemas.microsoft.com/office/drawing/2014/main" id="{531E6D82-73BD-6CEA-B4F5-0FB60BB38622}"/>
                  </a:ext>
                </a:extLst>
              </p:cNvPr>
              <p:cNvPicPr/>
              <p:nvPr/>
            </p:nvPicPr>
            <p:blipFill>
              <a:blip r:embed="rId7"/>
              <a:stretch>
                <a:fillRect/>
              </a:stretch>
            </p:blipFill>
            <p:spPr>
              <a:xfrm>
                <a:off x="3210573" y="1657943"/>
                <a:ext cx="30000" cy="3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FA088F6-9AAB-D949-F9AA-2E9C9E215ADB}"/>
                  </a:ext>
                </a:extLst>
              </p14:cNvPr>
              <p14:cNvContentPartPr/>
              <p14:nvPr/>
            </p14:nvContentPartPr>
            <p14:xfrm>
              <a:off x="3199758" y="1760777"/>
              <a:ext cx="300" cy="300"/>
            </p14:xfrm>
          </p:contentPart>
        </mc:Choice>
        <mc:Fallback xmlns="">
          <p:pic>
            <p:nvPicPr>
              <p:cNvPr id="10" name="Ink 9">
                <a:extLst>
                  <a:ext uri="{FF2B5EF4-FFF2-40B4-BE49-F238E27FC236}">
                    <a16:creationId xmlns:a16="http://schemas.microsoft.com/office/drawing/2014/main" id="{6FA088F6-9AAB-D949-F9AA-2E9C9E215ADB}"/>
                  </a:ext>
                </a:extLst>
              </p:cNvPr>
              <p:cNvPicPr/>
              <p:nvPr/>
            </p:nvPicPr>
            <p:blipFill>
              <a:blip r:embed="rId7"/>
              <a:stretch>
                <a:fillRect/>
              </a:stretch>
            </p:blipFill>
            <p:spPr>
              <a:xfrm>
                <a:off x="3184758" y="1745777"/>
                <a:ext cx="30000" cy="30000"/>
              </a:xfrm>
              <a:prstGeom prst="rect">
                <a:avLst/>
              </a:prstGeom>
            </p:spPr>
          </p:pic>
        </mc:Fallback>
      </mc:AlternateContent>
      <p:sp>
        <p:nvSpPr>
          <p:cNvPr id="11" name="Rectangle 10">
            <a:extLst>
              <a:ext uri="{FF2B5EF4-FFF2-40B4-BE49-F238E27FC236}">
                <a16:creationId xmlns:a16="http://schemas.microsoft.com/office/drawing/2014/main" id="{90E5A1BF-C599-B0A7-DFE2-47A330E1EC57}"/>
              </a:ext>
            </a:extLst>
          </p:cNvPr>
          <p:cNvSpPr/>
          <p:nvPr/>
        </p:nvSpPr>
        <p:spPr>
          <a:xfrm>
            <a:off x="2876851" y="1723702"/>
            <a:ext cx="388983" cy="156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7" b="1" dirty="0">
                <a:solidFill>
                  <a:schemeClr val="tx1"/>
                </a:solidFill>
              </a:rPr>
              <a:t>A2</a:t>
            </a:r>
          </a:p>
        </p:txBody>
      </p:sp>
      <p:sp>
        <p:nvSpPr>
          <p:cNvPr id="12" name="Rectangle 11">
            <a:extLst>
              <a:ext uri="{FF2B5EF4-FFF2-40B4-BE49-F238E27FC236}">
                <a16:creationId xmlns:a16="http://schemas.microsoft.com/office/drawing/2014/main" id="{2DE3E66C-F120-9779-7F03-54FB045F63C9}"/>
              </a:ext>
            </a:extLst>
          </p:cNvPr>
          <p:cNvSpPr/>
          <p:nvPr/>
        </p:nvSpPr>
        <p:spPr>
          <a:xfrm>
            <a:off x="2935502" y="1464430"/>
            <a:ext cx="388983" cy="1907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7" b="1" dirty="0">
                <a:solidFill>
                  <a:schemeClr val="tx1"/>
                </a:solidFill>
              </a:rPr>
              <a:t>A1</a:t>
            </a:r>
          </a:p>
        </p:txBody>
      </p:sp>
      <p:pic>
        <p:nvPicPr>
          <p:cNvPr id="13" name="Picture 12">
            <a:extLst>
              <a:ext uri="{FF2B5EF4-FFF2-40B4-BE49-F238E27FC236}">
                <a16:creationId xmlns:a16="http://schemas.microsoft.com/office/drawing/2014/main" id="{47052D46-47EE-6EEA-0145-57C7BC236478}"/>
              </a:ext>
            </a:extLst>
          </p:cNvPr>
          <p:cNvPicPr>
            <a:picLocks noChangeAspect="1"/>
          </p:cNvPicPr>
          <p:nvPr/>
        </p:nvPicPr>
        <p:blipFill>
          <a:blip r:embed="rId10"/>
          <a:stretch>
            <a:fillRect/>
          </a:stretch>
        </p:blipFill>
        <p:spPr>
          <a:xfrm>
            <a:off x="4299865" y="856157"/>
            <a:ext cx="1908207" cy="1100514"/>
          </a:xfrm>
          <a:prstGeom prst="rect">
            <a:avLst/>
          </a:prstGeom>
          <a:ln>
            <a:solidFill>
              <a:srgbClr val="006600"/>
            </a:solidFill>
          </a:ln>
        </p:spPr>
      </p:pic>
      <p:cxnSp>
        <p:nvCxnSpPr>
          <p:cNvPr id="14" name="Straight Arrow Connector 13">
            <a:extLst>
              <a:ext uri="{FF2B5EF4-FFF2-40B4-BE49-F238E27FC236}">
                <a16:creationId xmlns:a16="http://schemas.microsoft.com/office/drawing/2014/main" id="{073F5462-FCCA-DC46-33E8-E53E8170D4E7}"/>
              </a:ext>
            </a:extLst>
          </p:cNvPr>
          <p:cNvCxnSpPr>
            <a:cxnSpLocks/>
          </p:cNvCxnSpPr>
          <p:nvPr/>
        </p:nvCxnSpPr>
        <p:spPr>
          <a:xfrm flipH="1">
            <a:off x="3238098" y="1279187"/>
            <a:ext cx="1012519" cy="3937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CBD1E01-6FF0-B008-176F-E8839AD819CA}"/>
              </a:ext>
            </a:extLst>
          </p:cNvPr>
          <p:cNvCxnSpPr>
            <a:cxnSpLocks/>
          </p:cNvCxnSpPr>
          <p:nvPr/>
        </p:nvCxnSpPr>
        <p:spPr>
          <a:xfrm flipV="1">
            <a:off x="2160434" y="1801885"/>
            <a:ext cx="1077664" cy="1150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81F4FDC-454A-6392-1D42-91F49743AE74}"/>
              </a:ext>
            </a:extLst>
          </p:cNvPr>
          <p:cNvCxnSpPr>
            <a:cxnSpLocks/>
          </p:cNvCxnSpPr>
          <p:nvPr/>
        </p:nvCxnSpPr>
        <p:spPr>
          <a:xfrm flipV="1">
            <a:off x="3335375" y="2089905"/>
            <a:ext cx="229288" cy="6305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4D169824-1D19-D622-7E20-F14550DFABC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90062" y="2516190"/>
            <a:ext cx="1455986" cy="912136"/>
          </a:xfrm>
          <a:prstGeom prst="rect">
            <a:avLst/>
          </a:prstGeom>
          <a:ln>
            <a:solidFill>
              <a:srgbClr val="006600"/>
            </a:solidFill>
          </a:ln>
        </p:spPr>
      </p:pic>
      <p:pic>
        <p:nvPicPr>
          <p:cNvPr id="18" name="Picture 17">
            <a:extLst>
              <a:ext uri="{FF2B5EF4-FFF2-40B4-BE49-F238E27FC236}">
                <a16:creationId xmlns:a16="http://schemas.microsoft.com/office/drawing/2014/main" id="{472CA64D-128F-48BB-0023-0C1440EB2C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06189" y="2527927"/>
            <a:ext cx="1436592" cy="871155"/>
          </a:xfrm>
          <a:prstGeom prst="rect">
            <a:avLst/>
          </a:prstGeom>
          <a:ln>
            <a:solidFill>
              <a:srgbClr val="006600"/>
            </a:solidFill>
          </a:ln>
        </p:spPr>
      </p:pic>
      <p:sp>
        <p:nvSpPr>
          <p:cNvPr id="19" name="Rectangle 18">
            <a:extLst>
              <a:ext uri="{FF2B5EF4-FFF2-40B4-BE49-F238E27FC236}">
                <a16:creationId xmlns:a16="http://schemas.microsoft.com/office/drawing/2014/main" id="{72C3EBE3-AB59-5CBD-6E89-749C4D999197}"/>
              </a:ext>
            </a:extLst>
          </p:cNvPr>
          <p:cNvSpPr/>
          <p:nvPr/>
        </p:nvSpPr>
        <p:spPr>
          <a:xfrm>
            <a:off x="4216825" y="2006287"/>
            <a:ext cx="1957455" cy="921917"/>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667" b="1" dirty="0">
                <a:solidFill>
                  <a:schemeClr val="tx1"/>
                </a:solidFill>
                <a:latin typeface="Arial" panose="020B0604020202020204" pitchFamily="34" charset="0"/>
              </a:rPr>
              <a:t>Well A01 (Toe of Slope Turbidites):</a:t>
            </a:r>
            <a:r>
              <a:rPr lang="en-US" altLang="en-US" sz="667" dirty="0">
                <a:solidFill>
                  <a:schemeClr val="tx1"/>
                </a:solidFill>
                <a:latin typeface="Arial" panose="020B0604020202020204" pitchFamily="34" charset="0"/>
              </a:rPr>
              <a:t> The log shows "serrated" or "thin-bedded" signatures, representing the </a:t>
            </a:r>
            <a:r>
              <a:rPr lang="en-US" altLang="en-US" sz="667" b="1" dirty="0">
                <a:solidFill>
                  <a:schemeClr val="tx1"/>
                </a:solidFill>
                <a:latin typeface="Arial" panose="020B0604020202020204" pitchFamily="34" charset="0"/>
              </a:rPr>
              <a:t>Bouma Sequence</a:t>
            </a:r>
            <a:r>
              <a:rPr lang="en-US" altLang="en-US" sz="667" dirty="0">
                <a:solidFill>
                  <a:schemeClr val="tx1"/>
                </a:solidFill>
                <a:latin typeface="Arial" panose="020B0604020202020204" pitchFamily="34" charset="0"/>
              </a:rPr>
              <a:t>. Each spike is a pulse of sand (turbidity current) followed by a return to baseline shale (quiet hemipelagic settling)</a:t>
            </a:r>
          </a:p>
        </p:txBody>
      </p:sp>
      <p:sp>
        <p:nvSpPr>
          <p:cNvPr id="20" name="Rectangle 19">
            <a:extLst>
              <a:ext uri="{FF2B5EF4-FFF2-40B4-BE49-F238E27FC236}">
                <a16:creationId xmlns:a16="http://schemas.microsoft.com/office/drawing/2014/main" id="{F5788825-EB1F-7E49-226E-1B3AEFF872A6}"/>
              </a:ext>
            </a:extLst>
          </p:cNvPr>
          <p:cNvSpPr/>
          <p:nvPr/>
        </p:nvSpPr>
        <p:spPr>
          <a:xfrm>
            <a:off x="671249" y="3484347"/>
            <a:ext cx="1615282" cy="804508"/>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sz="667" b="1" dirty="0">
                <a:solidFill>
                  <a:schemeClr val="tx1"/>
                </a:solidFill>
                <a:latin typeface="Arial" panose="020B0604020202020204" pitchFamily="34" charset="0"/>
              </a:rPr>
              <a:t>Well A02 (Slope Channel):</a:t>
            </a:r>
            <a:r>
              <a:rPr lang="en-US" altLang="en-US" sz="667" dirty="0">
                <a:solidFill>
                  <a:schemeClr val="tx1"/>
                </a:solidFill>
                <a:latin typeface="Arial" panose="020B0604020202020204" pitchFamily="34" charset="0"/>
              </a:rPr>
              <a:t> The log shows high-amplitude, "blocky" sand signatures interrupted by shales. This is typical of </a:t>
            </a:r>
            <a:r>
              <a:rPr lang="en-US" altLang="en-US" sz="667" b="1" dirty="0">
                <a:solidFill>
                  <a:schemeClr val="tx1"/>
                </a:solidFill>
                <a:latin typeface="Arial" panose="020B0604020202020204" pitchFamily="34" charset="0"/>
              </a:rPr>
              <a:t>channel-fill deposits</a:t>
            </a:r>
            <a:r>
              <a:rPr lang="en-US" altLang="en-US" sz="667" dirty="0">
                <a:solidFill>
                  <a:schemeClr val="tx1"/>
                </a:solidFill>
                <a:latin typeface="Arial" panose="020B0604020202020204" pitchFamily="34" charset="0"/>
              </a:rPr>
              <a:t>, where high-energy flows leave thick sand packages within the canyon.</a:t>
            </a:r>
          </a:p>
        </p:txBody>
      </p:sp>
      <p:sp>
        <p:nvSpPr>
          <p:cNvPr id="21" name="Rectangle 20">
            <a:extLst>
              <a:ext uri="{FF2B5EF4-FFF2-40B4-BE49-F238E27FC236}">
                <a16:creationId xmlns:a16="http://schemas.microsoft.com/office/drawing/2014/main" id="{F39AC4B3-1119-F306-E762-F988F7676AF0}"/>
              </a:ext>
            </a:extLst>
          </p:cNvPr>
          <p:cNvSpPr/>
          <p:nvPr/>
        </p:nvSpPr>
        <p:spPr>
          <a:xfrm>
            <a:off x="2420208" y="3491326"/>
            <a:ext cx="1655927" cy="790551"/>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altLang="en-US" sz="667" b="1" dirty="0">
                <a:solidFill>
                  <a:schemeClr val="tx1"/>
                </a:solidFill>
                <a:latin typeface="Arial" panose="020B0604020202020204" pitchFamily="34" charset="0"/>
              </a:rPr>
              <a:t>Well A03 (</a:t>
            </a:r>
            <a:r>
              <a:rPr lang="en-US" sz="667" b="1" dirty="0">
                <a:solidFill>
                  <a:schemeClr val="tx1"/>
                </a:solidFill>
              </a:rPr>
              <a:t>Distal Lobe Fringe (Off-Axis)</a:t>
            </a:r>
            <a:r>
              <a:rPr lang="en-US" sz="667" dirty="0">
                <a:solidFill>
                  <a:schemeClr val="tx1"/>
                </a:solidFill>
              </a:rPr>
              <a:t> We hereby conclude that </a:t>
            </a:r>
            <a:r>
              <a:rPr lang="en-US" sz="667" b="1" dirty="0">
                <a:solidFill>
                  <a:schemeClr val="tx1"/>
                </a:solidFill>
              </a:rPr>
              <a:t>A03 </a:t>
            </a:r>
            <a:r>
              <a:rPr lang="en-US" sz="667" dirty="0">
                <a:solidFill>
                  <a:schemeClr val="tx1"/>
                </a:solidFill>
              </a:rPr>
              <a:t>sits on the fringe of a laterally offset lobe. What arrives at A03 is only the dilute, fine-grained flow </a:t>
            </a:r>
            <a:r>
              <a:rPr lang="en-US" sz="667" i="1" dirty="0">
                <a:solidFill>
                  <a:schemeClr val="tx1"/>
                </a:solidFill>
              </a:rPr>
              <a:t>tail</a:t>
            </a:r>
            <a:r>
              <a:rPr lang="en-US" sz="667" dirty="0">
                <a:solidFill>
                  <a:schemeClr val="tx1"/>
                </a:solidFill>
              </a:rPr>
              <a:t> — explaining the paradox of </a:t>
            </a:r>
            <a:r>
              <a:rPr lang="en-US" sz="667" i="1" dirty="0">
                <a:solidFill>
                  <a:schemeClr val="tx1"/>
                </a:solidFill>
              </a:rPr>
              <a:t>worse</a:t>
            </a:r>
            <a:r>
              <a:rPr lang="en-US" sz="667" dirty="0">
                <a:solidFill>
                  <a:schemeClr val="tx1"/>
                </a:solidFill>
              </a:rPr>
              <a:t> Bouma development despite being distally positioned.</a:t>
            </a:r>
            <a:endParaRPr lang="en-US" altLang="en-US" sz="667" dirty="0">
              <a:solidFill>
                <a:schemeClr val="tx1"/>
              </a:solidFill>
              <a:latin typeface="Arial" panose="020B0604020202020204" pitchFamily="34" charset="0"/>
            </a:endParaRPr>
          </a:p>
        </p:txBody>
      </p:sp>
      <p:sp>
        <p:nvSpPr>
          <p:cNvPr id="22" name="Rectangle 21">
            <a:extLst>
              <a:ext uri="{FF2B5EF4-FFF2-40B4-BE49-F238E27FC236}">
                <a16:creationId xmlns:a16="http://schemas.microsoft.com/office/drawing/2014/main" id="{F50BCE24-E0A1-B17B-6F33-883B5D6B54DA}"/>
              </a:ext>
            </a:extLst>
          </p:cNvPr>
          <p:cNvSpPr/>
          <p:nvPr/>
        </p:nvSpPr>
        <p:spPr>
          <a:xfrm>
            <a:off x="415648" y="446395"/>
            <a:ext cx="3811818" cy="266388"/>
          </a:xfrm>
          <a:prstGeom prst="rect">
            <a:avLst/>
          </a:prstGeom>
          <a:solidFill>
            <a:srgbClr val="92D050"/>
          </a:solidFill>
          <a:ln>
            <a:solidFill>
              <a:srgbClr val="00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33" dirty="0">
                <a:solidFill>
                  <a:schemeClr val="tx1"/>
                </a:solidFill>
              </a:rPr>
              <a:t>SHELF EDGE  DEPOSITIONAL ENVIRONMENT DURING LOW STAND SYSTEM TRACK</a:t>
            </a:r>
          </a:p>
        </p:txBody>
      </p:sp>
      <p:sp>
        <p:nvSpPr>
          <p:cNvPr id="23" name="Rectangle 22">
            <a:extLst>
              <a:ext uri="{FF2B5EF4-FFF2-40B4-BE49-F238E27FC236}">
                <a16:creationId xmlns:a16="http://schemas.microsoft.com/office/drawing/2014/main" id="{4FDF079E-3B15-9DEC-4C31-1A32A1C80571}"/>
              </a:ext>
            </a:extLst>
          </p:cNvPr>
          <p:cNvSpPr/>
          <p:nvPr/>
        </p:nvSpPr>
        <p:spPr>
          <a:xfrm>
            <a:off x="325376" y="4370834"/>
            <a:ext cx="5998218" cy="9093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70"/>
          </a:p>
        </p:txBody>
      </p:sp>
      <p:graphicFrame>
        <p:nvGraphicFramePr>
          <p:cNvPr id="24" name="Table 23">
            <a:extLst>
              <a:ext uri="{FF2B5EF4-FFF2-40B4-BE49-F238E27FC236}">
                <a16:creationId xmlns:a16="http://schemas.microsoft.com/office/drawing/2014/main" id="{CCBD522C-D3BC-B42E-2B81-CAF214A1C7EA}"/>
              </a:ext>
            </a:extLst>
          </p:cNvPr>
          <p:cNvGraphicFramePr>
            <a:graphicFrameLocks noGrp="1"/>
          </p:cNvGraphicFramePr>
          <p:nvPr>
            <p:extLst>
              <p:ext uri="{D42A27DB-BD31-4B8C-83A1-F6EECF244321}">
                <p14:modId xmlns:p14="http://schemas.microsoft.com/office/powerpoint/2010/main" val="1308054505"/>
              </p:ext>
            </p:extLst>
          </p:nvPr>
        </p:nvGraphicFramePr>
        <p:xfrm>
          <a:off x="6400559" y="2779282"/>
          <a:ext cx="3583700" cy="2482850"/>
        </p:xfrm>
        <a:graphic>
          <a:graphicData uri="http://schemas.openxmlformats.org/drawingml/2006/table">
            <a:tbl>
              <a:tblPr firstRow="1" bandRow="1">
                <a:tableStyleId>{5C22544A-7EE6-4342-B048-85BDC9FD1C3A}</a:tableStyleId>
              </a:tblPr>
              <a:tblGrid>
                <a:gridCol w="400343">
                  <a:extLst>
                    <a:ext uri="{9D8B030D-6E8A-4147-A177-3AD203B41FA5}">
                      <a16:colId xmlns:a16="http://schemas.microsoft.com/office/drawing/2014/main" val="3239618614"/>
                    </a:ext>
                  </a:extLst>
                </a:gridCol>
                <a:gridCol w="657708">
                  <a:extLst>
                    <a:ext uri="{9D8B030D-6E8A-4147-A177-3AD203B41FA5}">
                      <a16:colId xmlns:a16="http://schemas.microsoft.com/office/drawing/2014/main" val="2138162529"/>
                    </a:ext>
                  </a:extLst>
                </a:gridCol>
                <a:gridCol w="1115244">
                  <a:extLst>
                    <a:ext uri="{9D8B030D-6E8A-4147-A177-3AD203B41FA5}">
                      <a16:colId xmlns:a16="http://schemas.microsoft.com/office/drawing/2014/main" val="948242917"/>
                    </a:ext>
                  </a:extLst>
                </a:gridCol>
                <a:gridCol w="1410405">
                  <a:extLst>
                    <a:ext uri="{9D8B030D-6E8A-4147-A177-3AD203B41FA5}">
                      <a16:colId xmlns:a16="http://schemas.microsoft.com/office/drawing/2014/main" val="4205661828"/>
                    </a:ext>
                  </a:extLst>
                </a:gridCol>
              </a:tblGrid>
              <a:tr h="311150">
                <a:tc>
                  <a:txBody>
                    <a:bodyPr/>
                    <a:lstStyle/>
                    <a:p>
                      <a:pPr algn="ctr" rtl="0" fontAlgn="b">
                        <a:buNone/>
                      </a:pPr>
                      <a:r>
                        <a:rPr lang="en-IN" sz="800" b="1">
                          <a:effectLst/>
                        </a:rPr>
                        <a:t>Well</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pPr algn="ctr" rtl="0" fontAlgn="b">
                        <a:buNone/>
                      </a:pPr>
                      <a:r>
                        <a:rPr lang="en-IN" sz="800" b="1" dirty="0">
                          <a:effectLst/>
                        </a:rPr>
                        <a:t>Depositional Setting</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pPr algn="ctr" rtl="0" fontAlgn="b">
                        <a:buNone/>
                      </a:pPr>
                      <a:r>
                        <a:rPr lang="el-GR" sz="800" b="1" dirty="0">
                          <a:effectLst/>
                        </a:rPr>
                        <a:t>φ–</a:t>
                      </a:r>
                      <a:r>
                        <a:rPr lang="en-IN" sz="800" b="1" dirty="0">
                          <a:effectLst/>
                        </a:rPr>
                        <a:t>k Relationship</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r>
                        <a:rPr lang="en-US" sz="800" dirty="0"/>
                        <a:t>Formation process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extLst>
                  <a:ext uri="{0D108BD9-81ED-4DB2-BD59-A6C34878D82A}">
                    <a16:rowId xmlns:a16="http://schemas.microsoft.com/office/drawing/2014/main" val="3659106241"/>
                  </a:ext>
                </a:extLst>
              </a:tr>
              <a:tr h="762000">
                <a:tc>
                  <a:txBody>
                    <a:bodyPr/>
                    <a:lstStyle/>
                    <a:p>
                      <a:pPr algn="ctr" rtl="0" fontAlgn="b">
                        <a:buNone/>
                      </a:pPr>
                      <a:r>
                        <a:rPr lang="en-IN" sz="700" dirty="0">
                          <a:effectLst/>
                        </a:rPr>
                        <a:t>A01</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0" fontAlgn="b">
                        <a:buNone/>
                      </a:pPr>
                      <a:r>
                        <a:rPr lang="en-IN" sz="700">
                          <a:effectLst/>
                        </a:rPr>
                        <a:t>Toe-of-slope turbidites (Bouma sequences)</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0" fontAlgn="b">
                        <a:buNone/>
                      </a:pPr>
                      <a:r>
                        <a:rPr lang="en-US" sz="700" dirty="0">
                          <a:effectLst/>
                        </a:rPr>
                        <a:t>Significant clustering – similar porosity values produce nearly the same permeability due to very thin lamination and shale barriers</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700" dirty="0"/>
                        <a:t>A1 is at the proximal part of turbidite so its location should have coarser grain size than that of A3. Hence better sorting and better clustering in porosity-permeability cross-plot than A3.</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724454385"/>
                  </a:ext>
                </a:extLst>
              </a:tr>
              <a:tr h="647700">
                <a:tc>
                  <a:txBody>
                    <a:bodyPr/>
                    <a:lstStyle/>
                    <a:p>
                      <a:pPr algn="ctr" rtl="0" fontAlgn="b">
                        <a:buNone/>
                      </a:pPr>
                      <a:r>
                        <a:rPr lang="en-IN" sz="700" dirty="0">
                          <a:effectLst/>
                        </a:rPr>
                        <a:t>A02</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IN" sz="700" dirty="0">
                          <a:effectLst/>
                        </a:rPr>
                        <a:t>Slope channel / channel-fill sands</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700" dirty="0">
                          <a:effectLst/>
                        </a:rPr>
                        <a:t>Strong positive correlation between porosity and permeability due to well-connected pore networks</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700" dirty="0"/>
                        <a:t>High-energy channel flow deposits tend to have thick sands as evinced from the well-log data and also from the porosity-permeability cross-plot.</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634839"/>
                  </a:ext>
                </a:extLst>
              </a:tr>
              <a:tr h="762000">
                <a:tc>
                  <a:txBody>
                    <a:bodyPr/>
                    <a:lstStyle/>
                    <a:p>
                      <a:pPr algn="ctr" rtl="0" fontAlgn="b">
                        <a:buNone/>
                      </a:pPr>
                      <a:r>
                        <a:rPr lang="en-IN" sz="700" dirty="0">
                          <a:effectLst/>
                        </a:rPr>
                        <a:t>A03</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0" fontAlgn="b">
                        <a:buNone/>
                      </a:pPr>
                      <a:r>
                        <a:rPr lang="en-IN" sz="700">
                          <a:effectLst/>
                        </a:rPr>
                        <a:t>Distal lobe fringe (off-axis)</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rtl="0" fontAlgn="b">
                        <a:buNone/>
                      </a:pPr>
                      <a:r>
                        <a:rPr lang="en-US" sz="700">
                          <a:effectLst/>
                        </a:rPr>
                        <a:t>High porosity but low permeability due to clay-filled pores and small pore throats</a:t>
                      </a:r>
                    </a:p>
                  </a:txBody>
                  <a:tcPr marL="23813" marR="23813" marT="15875" marB="15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700" dirty="0"/>
                        <a:t>At the distal lobe fringe part of turbidite, clay content starts to increase, also evident from the well-log data. Therefore, much less clustering in porosity-permeability cross-plot is seen.</a:t>
                      </a: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674728822"/>
                  </a:ext>
                </a:extLst>
              </a:tr>
            </a:tbl>
          </a:graphicData>
        </a:graphic>
      </p:graphicFrame>
      <p:sp>
        <p:nvSpPr>
          <p:cNvPr id="27" name="TextBox 26">
            <a:extLst>
              <a:ext uri="{FF2B5EF4-FFF2-40B4-BE49-F238E27FC236}">
                <a16:creationId xmlns:a16="http://schemas.microsoft.com/office/drawing/2014/main" id="{50C57664-DC77-F9D8-658C-E81F66D74479}"/>
              </a:ext>
            </a:extLst>
          </p:cNvPr>
          <p:cNvSpPr txBox="1"/>
          <p:nvPr/>
        </p:nvSpPr>
        <p:spPr>
          <a:xfrm>
            <a:off x="6323594" y="2343222"/>
            <a:ext cx="3660665" cy="521810"/>
          </a:xfrm>
          <a:prstGeom prst="rect">
            <a:avLst/>
          </a:prstGeom>
          <a:noFill/>
        </p:spPr>
        <p:txBody>
          <a:bodyPr wrap="square" rtlCol="0">
            <a:spAutoFit/>
          </a:bodyPr>
          <a:lstStyle/>
          <a:p>
            <a:pPr algn="ctr"/>
            <a:r>
              <a:rPr lang="en-IN" sz="708" i="1" dirty="0"/>
              <a:t>Image reference - </a:t>
            </a:r>
            <a:r>
              <a:rPr lang="en-US" sz="708" i="1" dirty="0"/>
              <a:t>Contourite porosity, grain size and reservoir characteristics by Xiaohang et.al</a:t>
            </a:r>
            <a:br>
              <a:rPr lang="en-US" sz="708" i="1" dirty="0"/>
            </a:br>
            <a:r>
              <a:rPr lang="en-US" sz="708" i="1" dirty="0"/>
              <a:t>Sedimentary Geology - Rocks, Environments and Stratigraphy by Michael Rygel and Page Quinton </a:t>
            </a:r>
          </a:p>
          <a:p>
            <a:endParaRPr lang="en-IN" sz="667" dirty="0"/>
          </a:p>
        </p:txBody>
      </p:sp>
      <p:sp>
        <p:nvSpPr>
          <p:cNvPr id="28" name="TextBox 27">
            <a:extLst>
              <a:ext uri="{FF2B5EF4-FFF2-40B4-BE49-F238E27FC236}">
                <a16:creationId xmlns:a16="http://schemas.microsoft.com/office/drawing/2014/main" id="{5878CB26-F1DB-6165-BD33-E00E9F1DA2B7}"/>
              </a:ext>
            </a:extLst>
          </p:cNvPr>
          <p:cNvSpPr txBox="1"/>
          <p:nvPr/>
        </p:nvSpPr>
        <p:spPr>
          <a:xfrm>
            <a:off x="353092" y="4370153"/>
            <a:ext cx="6019751" cy="1323632"/>
          </a:xfrm>
          <a:prstGeom prst="rect">
            <a:avLst/>
          </a:prstGeom>
          <a:noFill/>
        </p:spPr>
        <p:txBody>
          <a:bodyPr wrap="square" rtlCol="0">
            <a:spAutoFit/>
          </a:bodyPr>
          <a:lstStyle/>
          <a:p>
            <a:pPr marL="142869" indent="-142869">
              <a:buFont typeface="Arial" panose="020B0604020202020204" pitchFamily="34" charset="0"/>
              <a:buChar char="•"/>
            </a:pPr>
            <a:r>
              <a:rPr lang="en-US" sz="917" dirty="0"/>
              <a:t>The reservoir geomorphology of a shelf-edge depositional setting is characterized by high-energy, progradation, and sometimes unstable systems that transfer massive amounts of sediment directly to the deep slope. </a:t>
            </a:r>
          </a:p>
          <a:p>
            <a:pPr marL="142869" indent="-142869">
              <a:buFont typeface="Arial" panose="020B0604020202020204" pitchFamily="34" charset="0"/>
              <a:buChar char="•"/>
            </a:pPr>
            <a:r>
              <a:rPr lang="en-US" sz="917" dirty="0"/>
              <a:t>These settings, often active during low-stand or falling-stage sea levels, are dominated by </a:t>
            </a:r>
            <a:r>
              <a:rPr lang="en-US" sz="917" b="1" dirty="0"/>
              <a:t>shelf-edge deltas</a:t>
            </a:r>
            <a:r>
              <a:rPr lang="en-US" sz="917" dirty="0"/>
              <a:t> and associated gravity-flow deposits</a:t>
            </a:r>
          </a:p>
          <a:p>
            <a:pPr marL="142869" indent="-142869">
              <a:buFont typeface="Arial" panose="020B0604020202020204" pitchFamily="34" charset="0"/>
              <a:buChar char="•"/>
            </a:pPr>
            <a:r>
              <a:rPr lang="en-US" sz="917" dirty="0"/>
              <a:t>Sea level fall with aggradation dominant shelf edge deltas and submarine lobe complex</a:t>
            </a:r>
          </a:p>
          <a:p>
            <a:r>
              <a:rPr lang="en-US" sz="917" dirty="0"/>
              <a:t>The shelf margin was continuously supplying sediment for the generation of turbidity currents in the shelf edge region</a:t>
            </a:r>
          </a:p>
          <a:p>
            <a:pPr marL="285739" indent="-285739">
              <a:buAutoNum type="arabicPeriod"/>
            </a:pPr>
            <a:endParaRPr lang="en-US" sz="833" dirty="0"/>
          </a:p>
          <a:p>
            <a:pPr marL="285739" indent="-285739">
              <a:buAutoNum type="arabicPeriod"/>
            </a:pPr>
            <a:endParaRPr lang="en-US" sz="833" dirty="0"/>
          </a:p>
          <a:p>
            <a:endParaRPr lang="en-US" sz="833" dirty="0"/>
          </a:p>
        </p:txBody>
      </p:sp>
      <p:pic>
        <p:nvPicPr>
          <p:cNvPr id="30" name="Picture 29">
            <a:extLst>
              <a:ext uri="{FF2B5EF4-FFF2-40B4-BE49-F238E27FC236}">
                <a16:creationId xmlns:a16="http://schemas.microsoft.com/office/drawing/2014/main" id="{3F940B7A-83BD-FCE6-699A-7D25CB3F848B}"/>
              </a:ext>
            </a:extLst>
          </p:cNvPr>
          <p:cNvPicPr>
            <a:picLocks noChangeAspect="1"/>
          </p:cNvPicPr>
          <p:nvPr/>
        </p:nvPicPr>
        <p:blipFill>
          <a:blip r:embed="rId13"/>
          <a:stretch>
            <a:fillRect/>
          </a:stretch>
        </p:blipFill>
        <p:spPr>
          <a:xfrm>
            <a:off x="8443203" y="872438"/>
            <a:ext cx="1437397" cy="1435218"/>
          </a:xfrm>
          <a:prstGeom prst="rect">
            <a:avLst/>
          </a:prstGeom>
        </p:spPr>
      </p:pic>
      <p:pic>
        <p:nvPicPr>
          <p:cNvPr id="32" name="Picture 31">
            <a:extLst>
              <a:ext uri="{FF2B5EF4-FFF2-40B4-BE49-F238E27FC236}">
                <a16:creationId xmlns:a16="http://schemas.microsoft.com/office/drawing/2014/main" id="{E4D8D8B5-070E-8656-734B-8E16FE453E78}"/>
              </a:ext>
            </a:extLst>
          </p:cNvPr>
          <p:cNvPicPr>
            <a:picLocks noChangeAspect="1"/>
          </p:cNvPicPr>
          <p:nvPr/>
        </p:nvPicPr>
        <p:blipFill>
          <a:blip r:embed="rId14"/>
          <a:stretch>
            <a:fillRect/>
          </a:stretch>
        </p:blipFill>
        <p:spPr>
          <a:xfrm>
            <a:off x="6372842" y="891382"/>
            <a:ext cx="1978677" cy="1465337"/>
          </a:xfrm>
          <a:prstGeom prst="rect">
            <a:avLst/>
          </a:prstGeom>
        </p:spPr>
      </p:pic>
    </p:spTree>
    <p:extLst>
      <p:ext uri="{BB962C8B-B14F-4D97-AF65-F5344CB8AC3E}">
        <p14:creationId xmlns:p14="http://schemas.microsoft.com/office/powerpoint/2010/main" val="1695408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0" y="5407324"/>
            <a:ext cx="10160000" cy="227504"/>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p:cNvSpPr/>
          <p:nvPr/>
        </p:nvSpPr>
        <p:spPr>
          <a:xfrm>
            <a:off x="0" y="5487498"/>
            <a:ext cx="10160000" cy="227504"/>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pic>
        <p:nvPicPr>
          <p:cNvPr id="13" name="Picture 12">
            <a:extLst>
              <a:ext uri="{FF2B5EF4-FFF2-40B4-BE49-F238E27FC236}">
                <a16:creationId xmlns:a16="http://schemas.microsoft.com/office/drawing/2014/main" id="{352B53ED-E546-EEF3-D68C-1F08C6CC6ADA}"/>
              </a:ext>
            </a:extLst>
          </p:cNvPr>
          <p:cNvPicPr>
            <a:picLocks noChangeAspect="1"/>
          </p:cNvPicPr>
          <p:nvPr/>
        </p:nvPicPr>
        <p:blipFill>
          <a:blip r:embed="rId2"/>
          <a:stretch>
            <a:fillRect/>
          </a:stretch>
        </p:blipFill>
        <p:spPr>
          <a:xfrm>
            <a:off x="6989398" y="477292"/>
            <a:ext cx="2187889" cy="2451600"/>
          </a:xfrm>
          <a:prstGeom prst="rect">
            <a:avLst/>
          </a:prstGeom>
          <a:ln w="6350" cap="sq">
            <a:solidFill>
              <a:srgbClr val="000000"/>
            </a:solidFill>
            <a:prstDash val="solid"/>
            <a:miter lim="800000"/>
          </a:ln>
          <a:effectLst/>
        </p:spPr>
      </p:pic>
      <p:pic>
        <p:nvPicPr>
          <p:cNvPr id="17" name="Picture 16">
            <a:extLst>
              <a:ext uri="{FF2B5EF4-FFF2-40B4-BE49-F238E27FC236}">
                <a16:creationId xmlns:a16="http://schemas.microsoft.com/office/drawing/2014/main" id="{B8BA0E8A-9A61-CDE6-0646-7594EBC863E4}"/>
              </a:ext>
            </a:extLst>
          </p:cNvPr>
          <p:cNvPicPr>
            <a:picLocks noChangeAspect="1"/>
          </p:cNvPicPr>
          <p:nvPr/>
        </p:nvPicPr>
        <p:blipFill>
          <a:blip r:embed="rId3"/>
          <a:stretch>
            <a:fillRect/>
          </a:stretch>
        </p:blipFill>
        <p:spPr>
          <a:xfrm>
            <a:off x="320689" y="472905"/>
            <a:ext cx="2160000" cy="2452554"/>
          </a:xfrm>
          <a:prstGeom prst="rect">
            <a:avLst/>
          </a:prstGeom>
          <a:ln w="6350" cap="sq">
            <a:solidFill>
              <a:srgbClr val="000000"/>
            </a:solidFill>
            <a:prstDash val="solid"/>
            <a:miter lim="800000"/>
          </a:ln>
          <a:effectLst/>
        </p:spPr>
      </p:pic>
      <p:sp>
        <p:nvSpPr>
          <p:cNvPr id="4" name="TextBox 3">
            <a:extLst>
              <a:ext uri="{FF2B5EF4-FFF2-40B4-BE49-F238E27FC236}">
                <a16:creationId xmlns:a16="http://schemas.microsoft.com/office/drawing/2014/main" id="{4AB70619-1E16-9D48-83DA-24F54780E6D1}"/>
              </a:ext>
            </a:extLst>
          </p:cNvPr>
          <p:cNvSpPr txBox="1"/>
          <p:nvPr/>
        </p:nvSpPr>
        <p:spPr>
          <a:xfrm>
            <a:off x="221804" y="152400"/>
            <a:ext cx="5791200" cy="554639"/>
          </a:xfrm>
          <a:prstGeom prst="rect">
            <a:avLst/>
          </a:prstGeom>
          <a:noFill/>
        </p:spPr>
        <p:txBody>
          <a:bodyPr wrap="square" rtlCol="0">
            <a:spAutoFit/>
          </a:bodyPr>
          <a:lstStyle/>
          <a:p>
            <a:r>
              <a:rPr lang="en-US" sz="1600" b="1"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rPr>
              <a:t>Triple-Combo Log Display: Wells A1, A2, A3</a:t>
            </a:r>
          </a:p>
          <a:p>
            <a:endParaRPr lang="en-IN" dirty="0"/>
          </a:p>
        </p:txBody>
      </p:sp>
      <p:sp>
        <p:nvSpPr>
          <p:cNvPr id="5" name="TextBox 4">
            <a:extLst>
              <a:ext uri="{FF2B5EF4-FFF2-40B4-BE49-F238E27FC236}">
                <a16:creationId xmlns:a16="http://schemas.microsoft.com/office/drawing/2014/main" id="{DC205347-F7C1-5034-4AE9-C2318437E3A7}"/>
              </a:ext>
            </a:extLst>
          </p:cNvPr>
          <p:cNvSpPr txBox="1"/>
          <p:nvPr/>
        </p:nvSpPr>
        <p:spPr>
          <a:xfrm>
            <a:off x="2893927" y="528687"/>
            <a:ext cx="3266071"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just"/>
            <a:r>
              <a:rPr lang="en-IN" sz="1000" b="1" dirty="0"/>
              <a:t>Well A01 (2003.54–2103.01 m)</a:t>
            </a:r>
            <a:endParaRPr lang="en-IN" sz="1000" dirty="0"/>
          </a:p>
          <a:p>
            <a:pPr algn="just"/>
            <a:r>
              <a:rPr lang="en-IN" sz="1000" dirty="0"/>
              <a:t>Low-moderate GR with spikes → sand-shale intercalations</a:t>
            </a:r>
          </a:p>
          <a:p>
            <a:pPr algn="just"/>
            <a:r>
              <a:rPr lang="en-IN" sz="1000" dirty="0"/>
              <a:t>N-D crossover → oil effect or lithology change</a:t>
            </a:r>
          </a:p>
          <a:p>
            <a:pPr algn="just"/>
            <a:r>
              <a:rPr lang="en-IN" sz="1000" dirty="0"/>
              <a:t>Elevated LLD → potential HC zones</a:t>
            </a:r>
          </a:p>
        </p:txBody>
      </p:sp>
      <p:sp>
        <p:nvSpPr>
          <p:cNvPr id="8" name="TextBox 7">
            <a:extLst>
              <a:ext uri="{FF2B5EF4-FFF2-40B4-BE49-F238E27FC236}">
                <a16:creationId xmlns:a16="http://schemas.microsoft.com/office/drawing/2014/main" id="{057E897A-8150-D86E-3E34-491D815ACF86}"/>
              </a:ext>
            </a:extLst>
          </p:cNvPr>
          <p:cNvSpPr txBox="1"/>
          <p:nvPr/>
        </p:nvSpPr>
        <p:spPr>
          <a:xfrm>
            <a:off x="2893928" y="1995586"/>
            <a:ext cx="3266072"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just"/>
            <a:r>
              <a:rPr lang="en-US" sz="1000" b="1" dirty="0"/>
              <a:t>Well A02 (1987.21–2082.31 m)</a:t>
            </a:r>
            <a:endParaRPr lang="en-US" sz="1000" dirty="0"/>
          </a:p>
          <a:p>
            <a:pPr algn="just"/>
            <a:r>
              <a:rPr lang="en-US" sz="1000" dirty="0"/>
              <a:t>Low-Moderate GR → thick blocky sand</a:t>
            </a:r>
          </a:p>
          <a:p>
            <a:pPr algn="just"/>
            <a:r>
              <a:rPr lang="en-US" sz="1000" dirty="0"/>
              <a:t>Strong N-D crossover (~2010-2020 m) → probable gas zone</a:t>
            </a:r>
          </a:p>
          <a:p>
            <a:pPr algn="just"/>
            <a:r>
              <a:rPr lang="en-US" sz="1000" dirty="0"/>
              <a:t>High LLD throughout → excellent HC potential</a:t>
            </a:r>
          </a:p>
        </p:txBody>
      </p:sp>
      <p:sp>
        <p:nvSpPr>
          <p:cNvPr id="10" name="TextBox 9">
            <a:extLst>
              <a:ext uri="{FF2B5EF4-FFF2-40B4-BE49-F238E27FC236}">
                <a16:creationId xmlns:a16="http://schemas.microsoft.com/office/drawing/2014/main" id="{6256FE46-E882-ABF5-9F04-082AC2E26C02}"/>
              </a:ext>
            </a:extLst>
          </p:cNvPr>
          <p:cNvSpPr txBox="1"/>
          <p:nvPr/>
        </p:nvSpPr>
        <p:spPr>
          <a:xfrm>
            <a:off x="3316175" y="1331316"/>
            <a:ext cx="3608906" cy="58477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b="1" dirty="0"/>
              <a:t>Well A03 (1879.67–1939.54 m)</a:t>
            </a:r>
            <a:endParaRPr lang="en-US" sz="1000" dirty="0"/>
          </a:p>
          <a:p>
            <a:r>
              <a:rPr lang="en-US" sz="1000" dirty="0"/>
              <a:t>Higher GR than A1 and A2 → shalier reservoir</a:t>
            </a:r>
            <a:br>
              <a:rPr lang="en-US" sz="1000" dirty="0"/>
            </a:br>
            <a:r>
              <a:rPr lang="en-US" sz="1000" dirty="0"/>
              <a:t>N-D crossover (~1918-1924 m) + high LLD → possible HC zone</a:t>
            </a:r>
          </a:p>
          <a:p>
            <a:endParaRPr lang="en-IN" sz="200" dirty="0"/>
          </a:p>
        </p:txBody>
      </p:sp>
      <p:sp>
        <p:nvSpPr>
          <p:cNvPr id="12" name="TextBox 11">
            <a:extLst>
              <a:ext uri="{FF2B5EF4-FFF2-40B4-BE49-F238E27FC236}">
                <a16:creationId xmlns:a16="http://schemas.microsoft.com/office/drawing/2014/main" id="{C316ABB7-5110-C2D5-34A1-24EC556B3BBC}"/>
              </a:ext>
            </a:extLst>
          </p:cNvPr>
          <p:cNvSpPr txBox="1"/>
          <p:nvPr/>
        </p:nvSpPr>
        <p:spPr>
          <a:xfrm>
            <a:off x="221804" y="2893367"/>
            <a:ext cx="2445196" cy="215444"/>
          </a:xfrm>
          <a:prstGeom prst="rect">
            <a:avLst/>
          </a:prstGeom>
          <a:noFill/>
        </p:spPr>
        <p:txBody>
          <a:bodyPr wrap="square" rtlCol="0">
            <a:spAutoFit/>
          </a:bodyPr>
          <a:lstStyle/>
          <a:p>
            <a:pPr algn="ctr"/>
            <a:r>
              <a:rPr lang="en-US" sz="800" dirty="0"/>
              <a:t>Fig. 1: Well Log Display for Well A01</a:t>
            </a:r>
            <a:endParaRPr lang="en-IN" sz="800" dirty="0">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12CCDFBB-2763-4F94-F0D7-53F988234CF2}"/>
              </a:ext>
            </a:extLst>
          </p:cNvPr>
          <p:cNvSpPr txBox="1"/>
          <p:nvPr/>
        </p:nvSpPr>
        <p:spPr>
          <a:xfrm>
            <a:off x="4173663" y="5219428"/>
            <a:ext cx="1812674" cy="215444"/>
          </a:xfrm>
          <a:prstGeom prst="rect">
            <a:avLst/>
          </a:prstGeom>
          <a:noFill/>
        </p:spPr>
        <p:txBody>
          <a:bodyPr wrap="square" rtlCol="0">
            <a:spAutoFit/>
          </a:bodyPr>
          <a:lstStyle/>
          <a:p>
            <a:pPr algn="ctr"/>
            <a:r>
              <a:rPr lang="en-US" sz="800" dirty="0"/>
              <a:t>Fig. 2: Well Log Display for Well A02</a:t>
            </a:r>
            <a:endParaRPr lang="en-IN" sz="800" dirty="0">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5E3F840D-5D68-D138-4B2D-49600F833636}"/>
              </a:ext>
            </a:extLst>
          </p:cNvPr>
          <p:cNvSpPr txBox="1"/>
          <p:nvPr/>
        </p:nvSpPr>
        <p:spPr>
          <a:xfrm>
            <a:off x="6858072" y="2928892"/>
            <a:ext cx="2445196" cy="215444"/>
          </a:xfrm>
          <a:prstGeom prst="rect">
            <a:avLst/>
          </a:prstGeom>
          <a:noFill/>
        </p:spPr>
        <p:txBody>
          <a:bodyPr wrap="square" rtlCol="0">
            <a:spAutoFit/>
          </a:bodyPr>
          <a:lstStyle/>
          <a:p>
            <a:pPr algn="ctr"/>
            <a:r>
              <a:rPr lang="en-US" sz="800" dirty="0"/>
              <a:t>Fig. 3: Well Log Display for Well A03</a:t>
            </a:r>
            <a:endParaRPr lang="en-IN" sz="800" dirty="0">
              <a:latin typeface="Segoe UI" panose="020B0502040204020203" pitchFamily="34" charset="0"/>
              <a:cs typeface="Segoe UI" panose="020B0502040204020203" pitchFamily="34" charset="0"/>
            </a:endParaRPr>
          </a:p>
        </p:txBody>
      </p:sp>
      <p:sp>
        <p:nvSpPr>
          <p:cNvPr id="75" name="Arrow: Bent-Up 74">
            <a:extLst>
              <a:ext uri="{FF2B5EF4-FFF2-40B4-BE49-F238E27FC236}">
                <a16:creationId xmlns:a16="http://schemas.microsoft.com/office/drawing/2014/main" id="{B5B05D15-02D1-F68D-F591-40205E9DFFDB}"/>
              </a:ext>
            </a:extLst>
          </p:cNvPr>
          <p:cNvSpPr/>
          <p:nvPr/>
        </p:nvSpPr>
        <p:spPr>
          <a:xfrm rot="5400000" flipH="1">
            <a:off x="6323096" y="653080"/>
            <a:ext cx="584773" cy="611351"/>
          </a:xfrm>
          <a:prstGeom prst="bentUpArrow">
            <a:avLst>
              <a:gd name="adj1" fmla="val 24033"/>
              <a:gd name="adj2" fmla="val 31567"/>
              <a:gd name="adj3" fmla="val 2857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76" name="Arrow: Bent-Up 75">
            <a:extLst>
              <a:ext uri="{FF2B5EF4-FFF2-40B4-BE49-F238E27FC236}">
                <a16:creationId xmlns:a16="http://schemas.microsoft.com/office/drawing/2014/main" id="{A4313A5A-A7B8-A17C-5CBE-72E31D40E584}"/>
              </a:ext>
            </a:extLst>
          </p:cNvPr>
          <p:cNvSpPr/>
          <p:nvPr/>
        </p:nvSpPr>
        <p:spPr>
          <a:xfrm rot="5400000">
            <a:off x="3566635" y="2727113"/>
            <a:ext cx="435607" cy="429612"/>
          </a:xfrm>
          <a:prstGeom prst="bentUpArrow">
            <a:avLst>
              <a:gd name="adj1" fmla="val 24033"/>
              <a:gd name="adj2" fmla="val 31567"/>
              <a:gd name="adj3" fmla="val 2857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77" name="Arrow: Bent-Up 76">
            <a:extLst>
              <a:ext uri="{FF2B5EF4-FFF2-40B4-BE49-F238E27FC236}">
                <a16:creationId xmlns:a16="http://schemas.microsoft.com/office/drawing/2014/main" id="{23C0F5C5-93A6-5E85-444E-4116B72CFA81}"/>
              </a:ext>
            </a:extLst>
          </p:cNvPr>
          <p:cNvSpPr/>
          <p:nvPr/>
        </p:nvSpPr>
        <p:spPr>
          <a:xfrm rot="5400000" flipV="1">
            <a:off x="2534949" y="1322325"/>
            <a:ext cx="580027" cy="568871"/>
          </a:xfrm>
          <a:prstGeom prst="bentUpArrow">
            <a:avLst>
              <a:gd name="adj1" fmla="val 24033"/>
              <a:gd name="adj2" fmla="val 31567"/>
              <a:gd name="adj3" fmla="val 2857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pic>
        <p:nvPicPr>
          <p:cNvPr id="79" name="Picture 78">
            <a:extLst>
              <a:ext uri="{FF2B5EF4-FFF2-40B4-BE49-F238E27FC236}">
                <a16:creationId xmlns:a16="http://schemas.microsoft.com/office/drawing/2014/main" id="{8EBA7AC9-3BD0-50F0-8638-F13B63C375D2}"/>
              </a:ext>
            </a:extLst>
          </p:cNvPr>
          <p:cNvPicPr>
            <a:picLocks noChangeAspect="1"/>
          </p:cNvPicPr>
          <p:nvPr/>
        </p:nvPicPr>
        <p:blipFill>
          <a:blip r:embed="rId4"/>
          <a:stretch>
            <a:fillRect/>
          </a:stretch>
        </p:blipFill>
        <p:spPr>
          <a:xfrm>
            <a:off x="4000000" y="2806636"/>
            <a:ext cx="2160000" cy="2451600"/>
          </a:xfrm>
          <a:prstGeom prst="rect">
            <a:avLst/>
          </a:prstGeom>
        </p:spPr>
      </p:pic>
      <p:sp>
        <p:nvSpPr>
          <p:cNvPr id="80" name="TextBox 79">
            <a:extLst>
              <a:ext uri="{FF2B5EF4-FFF2-40B4-BE49-F238E27FC236}">
                <a16:creationId xmlns:a16="http://schemas.microsoft.com/office/drawing/2014/main" id="{1CF35939-3F40-46EA-5EA3-FD86323985E3}"/>
              </a:ext>
            </a:extLst>
          </p:cNvPr>
          <p:cNvSpPr txBox="1"/>
          <p:nvPr/>
        </p:nvSpPr>
        <p:spPr>
          <a:xfrm>
            <a:off x="320689" y="3233919"/>
            <a:ext cx="3632732" cy="1938992"/>
          </a:xfrm>
          <a:prstGeom prst="rect">
            <a:avLst/>
          </a:prstGeom>
          <a:ln>
            <a:solidFill>
              <a:srgbClr val="008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just"/>
            <a:r>
              <a:rPr lang="en-US" sz="1000" b="1" dirty="0"/>
              <a:t>Data Uncertainties:</a:t>
            </a:r>
          </a:p>
          <a:p>
            <a:pPr marL="171450" indent="-171450" algn="just">
              <a:buFont typeface="Arial" panose="020B0604020202020204" pitchFamily="34" charset="0"/>
              <a:buChar char="•"/>
            </a:pPr>
            <a:r>
              <a:rPr lang="en-US" sz="1000" dirty="0"/>
              <a:t>In well A03, there is a mismatch between the gamma ray log and the </a:t>
            </a:r>
            <a:r>
              <a:rPr lang="en-US" sz="1000" dirty="0" err="1"/>
              <a:t>crossplot</a:t>
            </a:r>
            <a:r>
              <a:rPr lang="en-US" sz="1000" dirty="0"/>
              <a:t> between the neutron and density log. There is a cross over in the region of high Gamma ray log value (high shale).</a:t>
            </a:r>
          </a:p>
          <a:p>
            <a:pPr marL="171450" indent="-171450" algn="just">
              <a:buFont typeface="Arial" panose="020B0604020202020204" pitchFamily="34" charset="0"/>
              <a:buChar char="•"/>
            </a:pPr>
            <a:r>
              <a:rPr lang="en-US" sz="1000" dirty="0"/>
              <a:t>In A02 (</a:t>
            </a:r>
            <a:r>
              <a:rPr lang="en-US" sz="1000" dirty="0" err="1"/>
              <a:t>eg</a:t>
            </a:r>
            <a:r>
              <a:rPr lang="en-US" sz="1000" dirty="0"/>
              <a:t>.,at 1995m depth), we are getting near zero neutron and  log in the region of low API value.</a:t>
            </a:r>
          </a:p>
          <a:p>
            <a:pPr marL="171450" indent="-171450" algn="just">
              <a:buFont typeface="Arial" panose="020B0604020202020204" pitchFamily="34" charset="0"/>
              <a:buChar char="•"/>
            </a:pPr>
            <a:r>
              <a:rPr lang="en-US" sz="1000" dirty="0"/>
              <a:t>Resistivity scale inconsistency between wells affects inter-well comparison</a:t>
            </a:r>
          </a:p>
          <a:p>
            <a:pPr marL="171450" indent="-171450" algn="just">
              <a:buFont typeface="Arial" panose="020B0604020202020204" pitchFamily="34" charset="0"/>
              <a:buChar char="•"/>
            </a:pPr>
            <a:r>
              <a:rPr lang="en-US" sz="1000" dirty="0"/>
              <a:t>N-D crossover interpretation limited without independent gas confirmation or fluid samples</a:t>
            </a:r>
          </a:p>
          <a:p>
            <a:pPr marL="171450" indent="-171450" algn="just">
              <a:buFont typeface="Arial" panose="020B0604020202020204" pitchFamily="34" charset="0"/>
              <a:buChar char="•"/>
            </a:pPr>
            <a:r>
              <a:rPr lang="en-US" sz="1000" dirty="0"/>
              <a:t>Lack of shallow resistivity prevents invasion assessment</a:t>
            </a:r>
          </a:p>
        </p:txBody>
      </p:sp>
      <p:sp>
        <p:nvSpPr>
          <p:cNvPr id="82" name="TextBox 81">
            <a:extLst>
              <a:ext uri="{FF2B5EF4-FFF2-40B4-BE49-F238E27FC236}">
                <a16:creationId xmlns:a16="http://schemas.microsoft.com/office/drawing/2014/main" id="{FFA4E009-B32D-AA52-A2FE-42502EB21992}"/>
              </a:ext>
            </a:extLst>
          </p:cNvPr>
          <p:cNvSpPr txBox="1"/>
          <p:nvPr/>
        </p:nvSpPr>
        <p:spPr>
          <a:xfrm>
            <a:off x="6333663" y="3120468"/>
            <a:ext cx="3608906" cy="2246769"/>
          </a:xfrm>
          <a:prstGeom prst="rect">
            <a:avLst/>
          </a:prstGeom>
          <a:ln>
            <a:solidFill>
              <a:srgbClr val="008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000" b="1" dirty="0"/>
              <a:t>Limitations:</a:t>
            </a:r>
            <a:endParaRPr lang="en-US" sz="1000" dirty="0"/>
          </a:p>
          <a:p>
            <a:pPr marL="171450" indent="-171450">
              <a:buFont typeface="Arial" panose="020B0604020202020204" pitchFamily="34" charset="0"/>
              <a:buChar char="•"/>
            </a:pPr>
            <a:r>
              <a:rPr lang="en-US" sz="1000" dirty="0"/>
              <a:t>Near well A02, the data (maps) is very limited. Since A02, well log analysis gave favorable reservoir values (high NTG value).</a:t>
            </a:r>
          </a:p>
          <a:p>
            <a:pPr marL="171450" indent="-171450">
              <a:buFont typeface="Arial" panose="020B0604020202020204" pitchFamily="34" charset="0"/>
              <a:buChar char="•"/>
            </a:pPr>
            <a:r>
              <a:rPr lang="en-US" sz="1000" dirty="0"/>
              <a:t>Single resistivity curve (LLD only) → invasion profile and true formation resistivity (Rt) cannot be validated</a:t>
            </a:r>
          </a:p>
          <a:p>
            <a:pPr marL="171450" indent="-171450">
              <a:buFont typeface="Arial" panose="020B0604020202020204" pitchFamily="34" charset="0"/>
              <a:buChar char="•"/>
            </a:pPr>
            <a:r>
              <a:rPr lang="en-US" sz="1000" dirty="0"/>
              <a:t>No caliper log available → borehole condition unknown; density and neutron may be affected by washout</a:t>
            </a:r>
          </a:p>
          <a:p>
            <a:pPr marL="171450" indent="-171450">
              <a:buFont typeface="Arial" panose="020B0604020202020204" pitchFamily="34" charset="0"/>
              <a:buChar char="•"/>
            </a:pPr>
            <a:r>
              <a:rPr lang="en-US" sz="1000" dirty="0"/>
              <a:t>Absence of PEF, sonic, NMR or mineralogy logs → lithology interpretation relies solely on GR trends</a:t>
            </a:r>
          </a:p>
          <a:p>
            <a:pPr marL="171450" indent="-171450">
              <a:buFont typeface="Arial" panose="020B0604020202020204" pitchFamily="34" charset="0"/>
              <a:buChar char="•"/>
            </a:pPr>
            <a:r>
              <a:rPr lang="en-US" sz="1000" dirty="0"/>
              <a:t>Environmental corrections (temperature, </a:t>
            </a:r>
            <a:r>
              <a:rPr lang="en-US" sz="1000" dirty="0" err="1"/>
              <a:t>calliper</a:t>
            </a:r>
            <a:r>
              <a:rPr lang="en-US" sz="1000" dirty="0"/>
              <a:t> log mud weight, salinity) not verified → may affect calculated parameters.</a:t>
            </a:r>
          </a:p>
          <a:p>
            <a:pPr marL="171450" indent="-171450">
              <a:buFont typeface="Arial" panose="020B0604020202020204" pitchFamily="34" charset="0"/>
              <a:buChar char="•"/>
            </a:pPr>
            <a:r>
              <a:rPr lang="en-US" sz="1000" dirty="0"/>
              <a:t>Due to intercalated sand and shale layer, it was a challenge to calculate the NTG because of sparse well data</a:t>
            </a:r>
          </a:p>
        </p:txBody>
      </p:sp>
    </p:spTree>
    <p:extLst>
      <p:ext uri="{BB962C8B-B14F-4D97-AF65-F5344CB8AC3E}">
        <p14:creationId xmlns:p14="http://schemas.microsoft.com/office/powerpoint/2010/main" val="1098656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EFCD8-A02C-AB8A-FF7E-7EB5AE3FED3B}"/>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ADA39763-F177-03BD-BAFB-69DF36352094}"/>
              </a:ext>
            </a:extLst>
          </p:cNvPr>
          <p:cNvSpPr/>
          <p:nvPr/>
        </p:nvSpPr>
        <p:spPr>
          <a:xfrm>
            <a:off x="3585661" y="3554900"/>
            <a:ext cx="3114469" cy="858608"/>
          </a:xfrm>
          <a:prstGeom prst="rect">
            <a:avLst/>
          </a:prstGeom>
          <a:ln w="6350">
            <a:solidFill>
              <a:srgbClr val="008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dirty="0"/>
          </a:p>
        </p:txBody>
      </p:sp>
      <p:sp>
        <p:nvSpPr>
          <p:cNvPr id="2" name="Wave 1">
            <a:extLst>
              <a:ext uri="{FF2B5EF4-FFF2-40B4-BE49-F238E27FC236}">
                <a16:creationId xmlns:a16="http://schemas.microsoft.com/office/drawing/2014/main" id="{A5BA146D-94E7-AE56-14A1-56A9536E8D76}"/>
              </a:ext>
            </a:extLst>
          </p:cNvPr>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a:extLst>
              <a:ext uri="{FF2B5EF4-FFF2-40B4-BE49-F238E27FC236}">
                <a16:creationId xmlns:a16="http://schemas.microsoft.com/office/drawing/2014/main" id="{1E75C8CB-8245-463B-2F86-33E5D869208F}"/>
              </a:ext>
            </a:extLst>
          </p:cNvPr>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5" name="TextBox 4">
            <a:extLst>
              <a:ext uri="{FF2B5EF4-FFF2-40B4-BE49-F238E27FC236}">
                <a16:creationId xmlns:a16="http://schemas.microsoft.com/office/drawing/2014/main" id="{48382FC8-2DEA-EBEF-A957-7249BF623003}"/>
              </a:ext>
            </a:extLst>
          </p:cNvPr>
          <p:cNvSpPr txBox="1"/>
          <p:nvPr/>
        </p:nvSpPr>
        <p:spPr>
          <a:xfrm>
            <a:off x="110802" y="254593"/>
            <a:ext cx="2512540" cy="338554"/>
          </a:xfrm>
          <a:prstGeom prst="rect">
            <a:avLst/>
          </a:prstGeom>
          <a:noFill/>
        </p:spPr>
        <p:txBody>
          <a:bodyPr wrap="square" rtlCol="0">
            <a:spAutoFit/>
          </a:bodyPr>
          <a:lstStyle/>
          <a:p>
            <a:r>
              <a:rPr lang="en-US" sz="16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Petrophysical Analysis</a:t>
            </a:r>
          </a:p>
        </p:txBody>
      </p:sp>
      <p:sp>
        <p:nvSpPr>
          <p:cNvPr id="6" name="TextBox 5">
            <a:extLst>
              <a:ext uri="{FF2B5EF4-FFF2-40B4-BE49-F238E27FC236}">
                <a16:creationId xmlns:a16="http://schemas.microsoft.com/office/drawing/2014/main" id="{F92621CC-BCD8-4E80-CFBB-E296FB7B545C}"/>
              </a:ext>
            </a:extLst>
          </p:cNvPr>
          <p:cNvSpPr txBox="1"/>
          <p:nvPr/>
        </p:nvSpPr>
        <p:spPr>
          <a:xfrm>
            <a:off x="110799" y="771040"/>
            <a:ext cx="2388974" cy="276999"/>
          </a:xfrm>
          <a:prstGeom prst="rect">
            <a:avLst/>
          </a:prstGeom>
          <a:noFill/>
        </p:spPr>
        <p:txBody>
          <a:bodyPr wrap="square" rtlCol="0">
            <a:spAutoFit/>
          </a:bodyPr>
          <a:lstStyle/>
          <a:p>
            <a:r>
              <a:rPr lang="en-IN" sz="1200" b="1" dirty="0">
                <a:solidFill>
                  <a:srgbClr val="006600"/>
                </a:solidFill>
              </a:rPr>
              <a:t>Volume of Shale</a:t>
            </a:r>
            <a:endParaRPr lang="en-IN" sz="1200" dirty="0"/>
          </a:p>
        </p:txBody>
      </p:sp>
      <p:cxnSp>
        <p:nvCxnSpPr>
          <p:cNvPr id="8" name="Straight Connector 7">
            <a:extLst>
              <a:ext uri="{FF2B5EF4-FFF2-40B4-BE49-F238E27FC236}">
                <a16:creationId xmlns:a16="http://schemas.microsoft.com/office/drawing/2014/main" id="{F9A29196-FED8-0FE6-23C2-39C03A88DEAD}"/>
              </a:ext>
            </a:extLst>
          </p:cNvPr>
          <p:cNvCxnSpPr>
            <a:cxnSpLocks/>
          </p:cNvCxnSpPr>
          <p:nvPr/>
        </p:nvCxnSpPr>
        <p:spPr>
          <a:xfrm>
            <a:off x="3361038" y="838200"/>
            <a:ext cx="0" cy="4428867"/>
          </a:xfrm>
          <a:prstGeom prst="line">
            <a:avLst/>
          </a:prstGeom>
          <a:ln>
            <a:solidFill>
              <a:srgbClr val="008000"/>
            </a:solidFill>
          </a:ln>
        </p:spPr>
        <p:style>
          <a:lnRef idx="2">
            <a:schemeClr val="accent3"/>
          </a:lnRef>
          <a:fillRef idx="0">
            <a:schemeClr val="accent3"/>
          </a:fillRef>
          <a:effectRef idx="1">
            <a:schemeClr val="accent3"/>
          </a:effectRef>
          <a:fontRef idx="minor">
            <a:schemeClr val="tx1"/>
          </a:fontRef>
        </p:style>
      </p:cxnSp>
      <p:cxnSp>
        <p:nvCxnSpPr>
          <p:cNvPr id="9" name="Straight Connector 8">
            <a:extLst>
              <a:ext uri="{FF2B5EF4-FFF2-40B4-BE49-F238E27FC236}">
                <a16:creationId xmlns:a16="http://schemas.microsoft.com/office/drawing/2014/main" id="{EDA40DCB-F87A-8039-25CC-1028918FB041}"/>
              </a:ext>
            </a:extLst>
          </p:cNvPr>
          <p:cNvCxnSpPr>
            <a:cxnSpLocks/>
          </p:cNvCxnSpPr>
          <p:nvPr/>
        </p:nvCxnSpPr>
        <p:spPr>
          <a:xfrm>
            <a:off x="6845210" y="817378"/>
            <a:ext cx="0" cy="4496027"/>
          </a:xfrm>
          <a:prstGeom prst="line">
            <a:avLst/>
          </a:prstGeom>
          <a:ln>
            <a:solidFill>
              <a:srgbClr val="008000"/>
            </a:solidFill>
          </a:ln>
        </p:spPr>
        <p:style>
          <a:lnRef idx="2">
            <a:schemeClr val="accent3"/>
          </a:lnRef>
          <a:fillRef idx="0">
            <a:schemeClr val="accent3"/>
          </a:fillRef>
          <a:effectRef idx="1">
            <a:schemeClr val="accent3"/>
          </a:effectRef>
          <a:fontRef idx="minor">
            <a:schemeClr val="tx1"/>
          </a:fontRef>
        </p:style>
      </p:cxnSp>
      <p:pic>
        <p:nvPicPr>
          <p:cNvPr id="10" name="Picture 9">
            <a:extLst>
              <a:ext uri="{FF2B5EF4-FFF2-40B4-BE49-F238E27FC236}">
                <a16:creationId xmlns:a16="http://schemas.microsoft.com/office/drawing/2014/main" id="{06D858AE-D4CC-A1B0-3183-E94D0FD63561}"/>
              </a:ext>
            </a:extLst>
          </p:cNvPr>
          <p:cNvPicPr>
            <a:picLocks noChangeAspect="1"/>
          </p:cNvPicPr>
          <p:nvPr/>
        </p:nvPicPr>
        <p:blipFill>
          <a:blip r:embed="rId2"/>
          <a:stretch>
            <a:fillRect/>
          </a:stretch>
        </p:blipFill>
        <p:spPr>
          <a:xfrm>
            <a:off x="164720" y="1048039"/>
            <a:ext cx="1785038" cy="527226"/>
          </a:xfrm>
          <a:prstGeom prst="rect">
            <a:avLst/>
          </a:prstGeom>
          <a:ln>
            <a:solidFill>
              <a:srgbClr val="008000"/>
            </a:solidFill>
          </a:ln>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4CB933-4DFD-A6D3-3C44-16C6975382A6}"/>
                  </a:ext>
                </a:extLst>
              </p:cNvPr>
              <p:cNvSpPr txBox="1"/>
              <p:nvPr/>
            </p:nvSpPr>
            <p:spPr>
              <a:xfrm>
                <a:off x="0" y="1575265"/>
                <a:ext cx="3598287" cy="784638"/>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r>
                      <a:rPr lang="en-IN" sz="1000" i="1" dirty="0" smtClean="0">
                        <a:latin typeface="Cambria Math" panose="02040503050406030204" pitchFamily="18" charset="0"/>
                      </a:rPr>
                      <m:t>𝐺</m:t>
                    </m:r>
                    <m:sSub>
                      <m:sSubPr>
                        <m:ctrlPr>
                          <a:rPr lang="en-IN" sz="1000" i="1" dirty="0">
                            <a:latin typeface="Cambria Math" panose="02040503050406030204" pitchFamily="18" charset="0"/>
                          </a:rPr>
                        </m:ctrlPr>
                      </m:sSubPr>
                      <m:e>
                        <m:r>
                          <a:rPr lang="en-IN" sz="1000" i="1" dirty="0">
                            <a:latin typeface="Cambria Math" panose="02040503050406030204" pitchFamily="18" charset="0"/>
                          </a:rPr>
                          <m:t>𝑅</m:t>
                        </m:r>
                      </m:e>
                      <m:sub>
                        <m:r>
                          <m:rPr>
                            <m:sty m:val="p"/>
                          </m:rPr>
                          <a:rPr lang="en-IN" sz="1000" dirty="0">
                            <a:latin typeface="Cambria Math" panose="02040503050406030204" pitchFamily="18" charset="0"/>
                          </a:rPr>
                          <m:t>log</m:t>
                        </m:r>
                      </m:sub>
                    </m:sSub>
                    <m:r>
                      <a:rPr lang="en-IN" sz="1000" b="0" i="1" dirty="0" smtClean="0">
                        <a:latin typeface="Cambria Math" panose="02040503050406030204" pitchFamily="18" charset="0"/>
                      </a:rPr>
                      <m:t>: </m:t>
                    </m:r>
                    <m:r>
                      <m:rPr>
                        <m:nor/>
                      </m:rPr>
                      <a:rPr lang="en-US" sz="1000"/>
                      <m:t>Measured</m:t>
                    </m:r>
                    <m:r>
                      <m:rPr>
                        <m:nor/>
                      </m:rPr>
                      <a:rPr lang="en-US" sz="1000"/>
                      <m:t> </m:t>
                    </m:r>
                    <m:r>
                      <m:rPr>
                        <m:nor/>
                      </m:rPr>
                      <a:rPr lang="en-US" sz="1000"/>
                      <m:t>gamma</m:t>
                    </m:r>
                    <m:r>
                      <m:rPr>
                        <m:nor/>
                      </m:rPr>
                      <a:rPr lang="en-US" sz="1000"/>
                      <m:t> </m:t>
                    </m:r>
                    <m:r>
                      <m:rPr>
                        <m:nor/>
                      </m:rPr>
                      <a:rPr lang="en-US" sz="1000"/>
                      <m:t>ray</m:t>
                    </m:r>
                    <m:r>
                      <m:rPr>
                        <m:nor/>
                      </m:rPr>
                      <a:rPr lang="en-US" sz="1000"/>
                      <m:t> </m:t>
                    </m:r>
                    <m:r>
                      <m:rPr>
                        <m:nor/>
                      </m:rPr>
                      <a:rPr lang="en-US" sz="1000"/>
                      <m:t>value</m:t>
                    </m:r>
                    <m:r>
                      <m:rPr>
                        <m:nor/>
                      </m:rPr>
                      <a:rPr lang="en-US" sz="1000"/>
                      <m:t> </m:t>
                    </m:r>
                    <m:r>
                      <m:rPr>
                        <m:nor/>
                      </m:rPr>
                      <a:rPr lang="en-US" sz="1000"/>
                      <m:t>at</m:t>
                    </m:r>
                    <m:r>
                      <m:rPr>
                        <m:nor/>
                      </m:rPr>
                      <a:rPr lang="en-US" sz="1000"/>
                      <m:t> </m:t>
                    </m:r>
                    <m:r>
                      <m:rPr>
                        <m:nor/>
                      </m:rPr>
                      <a:rPr lang="en-US" sz="1000"/>
                      <m:t>a</m:t>
                    </m:r>
                    <m:r>
                      <m:rPr>
                        <m:nor/>
                      </m:rPr>
                      <a:rPr lang="en-US" sz="1000"/>
                      <m:t> </m:t>
                    </m:r>
                    <m:r>
                      <m:rPr>
                        <m:nor/>
                      </m:rPr>
                      <a:rPr lang="en-US" sz="1000"/>
                      <m:t>given</m:t>
                    </m:r>
                    <m:r>
                      <m:rPr>
                        <m:nor/>
                      </m:rPr>
                      <a:rPr lang="en-US" sz="1000"/>
                      <m:t> </m:t>
                    </m:r>
                    <m:r>
                      <m:rPr>
                        <m:nor/>
                      </m:rPr>
                      <a:rPr lang="en-US" sz="1000"/>
                      <m:t>depth</m:t>
                    </m:r>
                  </m:oMath>
                </a14:m>
                <a:endParaRPr lang="en-IN" sz="1000" dirty="0"/>
              </a:p>
              <a:p>
                <a:pPr marL="171450" indent="-171450">
                  <a:buFont typeface="Arial" panose="020B0604020202020204" pitchFamily="34" charset="0"/>
                  <a:buChar char="•"/>
                </a:pPr>
                <a14:m>
                  <m:oMath xmlns:m="http://schemas.openxmlformats.org/officeDocument/2006/math">
                    <m:r>
                      <a:rPr lang="en-IN" sz="1000" i="1" dirty="0">
                        <a:latin typeface="Cambria Math" panose="02040503050406030204" pitchFamily="18" charset="0"/>
                      </a:rPr>
                      <m:t>𝐺</m:t>
                    </m:r>
                    <m:sSub>
                      <m:sSubPr>
                        <m:ctrlPr>
                          <a:rPr lang="en-IN" sz="1000" i="1" dirty="0">
                            <a:latin typeface="Cambria Math" panose="02040503050406030204" pitchFamily="18" charset="0"/>
                          </a:rPr>
                        </m:ctrlPr>
                      </m:sSubPr>
                      <m:e>
                        <m:r>
                          <a:rPr lang="en-IN" sz="1000" i="1" dirty="0">
                            <a:latin typeface="Cambria Math" panose="02040503050406030204" pitchFamily="18" charset="0"/>
                          </a:rPr>
                          <m:t>𝑅</m:t>
                        </m:r>
                      </m:e>
                      <m:sub>
                        <m:r>
                          <a:rPr lang="en-IN" sz="1000" i="1" dirty="0">
                            <a:latin typeface="Cambria Math" panose="02040503050406030204" pitchFamily="18" charset="0"/>
                          </a:rPr>
                          <m:t>𝑚𝑖𝑛</m:t>
                        </m:r>
                      </m:sub>
                    </m:sSub>
                    <m:r>
                      <a:rPr lang="en-IN" sz="1000" b="0" i="1" dirty="0" smtClean="0">
                        <a:latin typeface="Cambria Math" panose="02040503050406030204" pitchFamily="18" charset="0"/>
                      </a:rPr>
                      <m:t> </m:t>
                    </m:r>
                    <m:r>
                      <m:rPr>
                        <m:nor/>
                      </m:rPr>
                      <a:rPr lang="en-IN" sz="1000" b="0" i="0" dirty="0" smtClean="0"/>
                      <m:t>: </m:t>
                    </m:r>
                    <m:r>
                      <m:rPr>
                        <m:nor/>
                      </m:rPr>
                      <a:rPr lang="en-US" sz="1000"/>
                      <m:t>Minimum</m:t>
                    </m:r>
                    <m:r>
                      <m:rPr>
                        <m:nor/>
                      </m:rPr>
                      <a:rPr lang="en-US" sz="1000"/>
                      <m:t> </m:t>
                    </m:r>
                    <m:r>
                      <m:rPr>
                        <m:nor/>
                      </m:rPr>
                      <a:rPr lang="en-US" sz="1000"/>
                      <m:t>gamma</m:t>
                    </m:r>
                    <m:r>
                      <m:rPr>
                        <m:nor/>
                      </m:rPr>
                      <a:rPr lang="en-US" sz="1000"/>
                      <m:t> </m:t>
                    </m:r>
                    <m:r>
                      <m:rPr>
                        <m:nor/>
                      </m:rPr>
                      <a:rPr lang="en-US" sz="1000"/>
                      <m:t>ray</m:t>
                    </m:r>
                    <m:r>
                      <m:rPr>
                        <m:nor/>
                      </m:rPr>
                      <a:rPr lang="en-US" sz="1000"/>
                      <m:t> </m:t>
                    </m:r>
                    <m:r>
                      <m:rPr>
                        <m:nor/>
                      </m:rPr>
                      <a:rPr lang="en-US" sz="1000"/>
                      <m:t>representing</m:t>
                    </m:r>
                    <m:r>
                      <m:rPr>
                        <m:nor/>
                      </m:rPr>
                      <a:rPr lang="en-US" sz="1000"/>
                      <m:t> </m:t>
                    </m:r>
                    <m:r>
                      <m:rPr>
                        <m:nor/>
                      </m:rPr>
                      <a:rPr lang="en-US" sz="1000"/>
                      <m:t>clean</m:t>
                    </m:r>
                    <m:r>
                      <m:rPr>
                        <m:nor/>
                      </m:rPr>
                      <a:rPr lang="en-US" sz="1000"/>
                      <m:t> </m:t>
                    </m:r>
                    <m:r>
                      <m:rPr>
                        <m:nor/>
                      </m:rPr>
                      <a:rPr lang="en-US" sz="1000"/>
                      <m:t>sand</m:t>
                    </m:r>
                  </m:oMath>
                </a14:m>
                <a:endParaRPr lang="en-IN" sz="1000" dirty="0"/>
              </a:p>
              <a:p>
                <a:pPr marL="171450" indent="-171450">
                  <a:buFont typeface="Arial" panose="020B0604020202020204" pitchFamily="34" charset="0"/>
                  <a:buChar char="•"/>
                </a:pPr>
                <a14:m>
                  <m:oMath xmlns:m="http://schemas.openxmlformats.org/officeDocument/2006/math">
                    <m:r>
                      <a:rPr lang="en-IN" sz="1000" i="1" dirty="0">
                        <a:latin typeface="Cambria Math" panose="02040503050406030204" pitchFamily="18" charset="0"/>
                      </a:rPr>
                      <m:t>𝐺</m:t>
                    </m:r>
                    <m:sSub>
                      <m:sSubPr>
                        <m:ctrlPr>
                          <a:rPr lang="en-IN" sz="1000" i="1" dirty="0">
                            <a:latin typeface="Cambria Math" panose="02040503050406030204" pitchFamily="18" charset="0"/>
                          </a:rPr>
                        </m:ctrlPr>
                      </m:sSubPr>
                      <m:e>
                        <m:r>
                          <a:rPr lang="en-IN" sz="1000" i="1" dirty="0">
                            <a:latin typeface="Cambria Math" panose="02040503050406030204" pitchFamily="18" charset="0"/>
                          </a:rPr>
                          <m:t>𝑅</m:t>
                        </m:r>
                      </m:e>
                      <m:sub>
                        <m:r>
                          <m:rPr>
                            <m:sty m:val="p"/>
                          </m:rPr>
                          <a:rPr lang="en-IN" sz="1000" dirty="0">
                            <a:latin typeface="Cambria Math" panose="02040503050406030204" pitchFamily="18" charset="0"/>
                          </a:rPr>
                          <m:t>max</m:t>
                        </m:r>
                      </m:sub>
                    </m:sSub>
                    <m:r>
                      <a:rPr lang="en-IN" sz="1000" b="0" i="1" dirty="0" smtClean="0">
                        <a:latin typeface="Cambria Math" panose="02040503050406030204" pitchFamily="18" charset="0"/>
                      </a:rPr>
                      <m:t>: </m:t>
                    </m:r>
                    <m:r>
                      <m:rPr>
                        <m:nor/>
                      </m:rPr>
                      <a:rPr lang="en-US" sz="1000"/>
                      <m:t>Maximum</m:t>
                    </m:r>
                    <m:r>
                      <m:rPr>
                        <m:nor/>
                      </m:rPr>
                      <a:rPr lang="en-US" sz="1000"/>
                      <m:t> </m:t>
                    </m:r>
                    <m:r>
                      <m:rPr>
                        <m:nor/>
                      </m:rPr>
                      <a:rPr lang="en-US" sz="1000"/>
                      <m:t>gamma</m:t>
                    </m:r>
                    <m:r>
                      <m:rPr>
                        <m:nor/>
                      </m:rPr>
                      <a:rPr lang="en-US" sz="1000"/>
                      <m:t> </m:t>
                    </m:r>
                    <m:r>
                      <m:rPr>
                        <m:nor/>
                      </m:rPr>
                      <a:rPr lang="en-US" sz="1000"/>
                      <m:t>ray</m:t>
                    </m:r>
                    <m:r>
                      <m:rPr>
                        <m:nor/>
                      </m:rPr>
                      <a:rPr lang="en-US" sz="1000"/>
                      <m:t> </m:t>
                    </m:r>
                    <m:r>
                      <m:rPr>
                        <m:nor/>
                      </m:rPr>
                      <a:rPr lang="en-US" sz="1000"/>
                      <m:t>representing</m:t>
                    </m:r>
                    <m:r>
                      <m:rPr>
                        <m:nor/>
                      </m:rPr>
                      <a:rPr lang="en-US" sz="1000"/>
                      <m:t> </m:t>
                    </m:r>
                    <m:r>
                      <m:rPr>
                        <m:nor/>
                      </m:rPr>
                      <a:rPr lang="en-US" sz="1000"/>
                      <m:t>shale</m:t>
                    </m:r>
                  </m:oMath>
                </a14:m>
                <a:endParaRPr lang="en-IN" sz="1000" dirty="0"/>
              </a:p>
              <a:p>
                <a:endParaRPr lang="en-IN" dirty="0"/>
              </a:p>
            </p:txBody>
          </p:sp>
        </mc:Choice>
        <mc:Fallback xmlns="">
          <p:sp>
            <p:nvSpPr>
              <p:cNvPr id="16" name="TextBox 15">
                <a:extLst>
                  <a:ext uri="{FF2B5EF4-FFF2-40B4-BE49-F238E27FC236}">
                    <a16:creationId xmlns:a16="http://schemas.microsoft.com/office/drawing/2014/main" id="{114CB933-4DFD-A6D3-3C44-16C6975382A6}"/>
                  </a:ext>
                </a:extLst>
              </p:cNvPr>
              <p:cNvSpPr txBox="1">
                <a:spLocks noRot="1" noChangeAspect="1" noMove="1" noResize="1" noEditPoints="1" noAdjustHandles="1" noChangeArrowheads="1" noChangeShapeType="1" noTextEdit="1"/>
              </p:cNvSpPr>
              <p:nvPr/>
            </p:nvSpPr>
            <p:spPr>
              <a:xfrm>
                <a:off x="0" y="1575265"/>
                <a:ext cx="3598287" cy="784638"/>
              </a:xfrm>
              <a:prstGeom prst="rect">
                <a:avLst/>
              </a:prstGeom>
              <a:blipFill>
                <a:blip r:embed="rId3"/>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80E90652-7C8F-5E3C-8344-40585D0F6FE9}"/>
              </a:ext>
            </a:extLst>
          </p:cNvPr>
          <p:cNvSpPr txBox="1"/>
          <p:nvPr/>
        </p:nvSpPr>
        <p:spPr>
          <a:xfrm>
            <a:off x="110799" y="2122297"/>
            <a:ext cx="3139440" cy="861774"/>
          </a:xfrm>
          <a:prstGeom prst="rect">
            <a:avLst/>
          </a:prstGeom>
          <a:noFill/>
        </p:spPr>
        <p:txBody>
          <a:bodyPr wrap="square" rtlCol="0">
            <a:spAutoFit/>
          </a:bodyPr>
          <a:lstStyle/>
          <a:p>
            <a:pPr algn="just"/>
            <a:r>
              <a:rPr lang="en-US" sz="1000" dirty="0"/>
              <a:t>Vshale was computed using IGR, Stieber, and Larionov methods; however, linear IGR was used for final evaluation because it provides a more conservative estimate where feldspathic/arkosic sands may show elevated GR, especially under the high Vsh cutoff of 80%.</a:t>
            </a:r>
            <a:endParaRPr lang="en-IN" sz="1000" dirty="0"/>
          </a:p>
        </p:txBody>
      </p:sp>
      <p:sp>
        <p:nvSpPr>
          <p:cNvPr id="19" name="TextBox 18">
            <a:extLst>
              <a:ext uri="{FF2B5EF4-FFF2-40B4-BE49-F238E27FC236}">
                <a16:creationId xmlns:a16="http://schemas.microsoft.com/office/drawing/2014/main" id="{52764097-72E9-D728-4C99-151CBC3B9CF7}"/>
              </a:ext>
            </a:extLst>
          </p:cNvPr>
          <p:cNvSpPr txBox="1"/>
          <p:nvPr/>
        </p:nvSpPr>
        <p:spPr>
          <a:xfrm>
            <a:off x="110799" y="3011406"/>
            <a:ext cx="2388974" cy="276999"/>
          </a:xfrm>
          <a:prstGeom prst="rect">
            <a:avLst/>
          </a:prstGeom>
          <a:noFill/>
        </p:spPr>
        <p:txBody>
          <a:bodyPr wrap="square" rtlCol="0">
            <a:spAutoFit/>
          </a:bodyPr>
          <a:lstStyle/>
          <a:p>
            <a:r>
              <a:rPr lang="en-IN" sz="1200" b="1" dirty="0">
                <a:solidFill>
                  <a:srgbClr val="006600"/>
                </a:solidFill>
              </a:rPr>
              <a:t>Porosity</a:t>
            </a:r>
            <a:endParaRPr lang="en-IN" sz="1200" dirty="0"/>
          </a:p>
        </p:txBody>
      </p:sp>
      <p:pic>
        <p:nvPicPr>
          <p:cNvPr id="20" name="Picture 19">
            <a:extLst>
              <a:ext uri="{FF2B5EF4-FFF2-40B4-BE49-F238E27FC236}">
                <a16:creationId xmlns:a16="http://schemas.microsoft.com/office/drawing/2014/main" id="{C8C19C52-C4C9-AC00-DF95-2B481709A77F}"/>
              </a:ext>
            </a:extLst>
          </p:cNvPr>
          <p:cNvPicPr>
            <a:picLocks noChangeAspect="1"/>
          </p:cNvPicPr>
          <p:nvPr/>
        </p:nvPicPr>
        <p:blipFill>
          <a:blip r:embed="rId4"/>
          <a:stretch>
            <a:fillRect/>
          </a:stretch>
        </p:blipFill>
        <p:spPr>
          <a:xfrm>
            <a:off x="176319" y="3703762"/>
            <a:ext cx="1371765" cy="568562"/>
          </a:xfrm>
          <a:prstGeom prst="rect">
            <a:avLst/>
          </a:prstGeom>
          <a:ln>
            <a:solidFill>
              <a:srgbClr val="008000"/>
            </a:solidFill>
          </a:ln>
        </p:spPr>
      </p:pic>
      <p:sp>
        <p:nvSpPr>
          <p:cNvPr id="21" name="TextBox 20">
            <a:extLst>
              <a:ext uri="{FF2B5EF4-FFF2-40B4-BE49-F238E27FC236}">
                <a16:creationId xmlns:a16="http://schemas.microsoft.com/office/drawing/2014/main" id="{1AC9A1CD-2E2A-DE1F-227B-AD9FD324E2F0}"/>
              </a:ext>
            </a:extLst>
          </p:cNvPr>
          <p:cNvSpPr txBox="1"/>
          <p:nvPr/>
        </p:nvSpPr>
        <p:spPr>
          <a:xfrm>
            <a:off x="110802" y="3232767"/>
            <a:ext cx="3012988" cy="616194"/>
          </a:xfrm>
          <a:prstGeom prst="rect">
            <a:avLst/>
          </a:prstGeom>
          <a:noFill/>
        </p:spPr>
        <p:txBody>
          <a:bodyPr wrap="square" rtlCol="0">
            <a:spAutoFit/>
          </a:bodyPr>
          <a:lstStyle/>
          <a:p>
            <a:r>
              <a:rPr lang="en-IN" sz="1000" dirty="0"/>
              <a:t>NPHI-porosity from neutron log</a:t>
            </a:r>
          </a:p>
          <a:p>
            <a:r>
              <a:rPr lang="en-IN" sz="1000" dirty="0"/>
              <a:t>PHID-porosity from the density log</a:t>
            </a:r>
          </a:p>
          <a:p>
            <a:endParaRPr lang="en-IN"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9CAA8C6-8ACC-AB94-AE30-74721A2922B9}"/>
                  </a:ext>
                </a:extLst>
              </p:cNvPr>
              <p:cNvSpPr txBox="1"/>
              <p:nvPr/>
            </p:nvSpPr>
            <p:spPr>
              <a:xfrm>
                <a:off x="1595913" y="3608240"/>
                <a:ext cx="1989748" cy="722442"/>
              </a:xfrm>
              <a:prstGeom prst="rect">
                <a:avLst/>
              </a:prstGeom>
              <a:noFill/>
            </p:spPr>
            <p:txBody>
              <a:bodyPr wrap="square" rtlCol="0">
                <a:spAutoFit/>
              </a:bodyPr>
              <a:lstStyle/>
              <a:p>
                <a14:m>
                  <m:oMath xmlns:m="http://schemas.openxmlformats.org/officeDocument/2006/math">
                    <m:sSub>
                      <m:sSubPr>
                        <m:ctrlPr>
                          <a:rPr lang="en-IN" sz="1000" i="1" smtClean="0">
                            <a:latin typeface="Cambria Math" panose="02040503050406030204" pitchFamily="18" charset="0"/>
                          </a:rPr>
                        </m:ctrlPr>
                      </m:sSubPr>
                      <m:e>
                        <m:r>
                          <a:rPr lang="en-IN" sz="1000" i="1">
                            <a:latin typeface="Cambria Math" panose="02040503050406030204" pitchFamily="18" charset="0"/>
                          </a:rPr>
                          <m:t>𝜙</m:t>
                        </m:r>
                      </m:e>
                      <m:sub>
                        <m:r>
                          <a:rPr lang="en-IN" sz="1000" i="1">
                            <a:latin typeface="Cambria Math" panose="02040503050406030204" pitchFamily="18" charset="0"/>
                          </a:rPr>
                          <m:t>𝑑</m:t>
                        </m:r>
                        <m:r>
                          <a:rPr lang="en-IN" sz="1000" i="1">
                            <a:latin typeface="Cambria Math" panose="02040503050406030204" pitchFamily="18" charset="0"/>
                          </a:rPr>
                          <m:t>     </m:t>
                        </m:r>
                      </m:sub>
                    </m:sSub>
                  </m:oMath>
                </a14:m>
                <a:r>
                  <a:rPr lang="en-IN" sz="1000" dirty="0"/>
                  <a:t>: Density porosity</a:t>
                </a:r>
              </a:p>
              <a:p>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𝜌</m:t>
                        </m:r>
                      </m:e>
                      <m:sub>
                        <m:r>
                          <a:rPr lang="en-IN" sz="1000" i="1">
                            <a:latin typeface="Cambria Math" panose="02040503050406030204" pitchFamily="18" charset="0"/>
                          </a:rPr>
                          <m:t>𝑚𝑎</m:t>
                        </m:r>
                      </m:sub>
                    </m:sSub>
                  </m:oMath>
                </a14:m>
                <a:r>
                  <a:rPr lang="en-IN" sz="1000" dirty="0"/>
                  <a:t> : Matrix density (g/cc)</a:t>
                </a:r>
              </a:p>
              <a:p>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𝜌</m:t>
                        </m:r>
                      </m:e>
                      <m:sub>
                        <m:r>
                          <a:rPr lang="en-IN" sz="1000" i="1">
                            <a:latin typeface="Cambria Math" panose="02040503050406030204" pitchFamily="18" charset="0"/>
                          </a:rPr>
                          <m:t>𝑏</m:t>
                        </m:r>
                      </m:sub>
                    </m:sSub>
                  </m:oMath>
                </a14:m>
                <a:r>
                  <a:rPr lang="en-IN" sz="1000" dirty="0"/>
                  <a:t>  : </a:t>
                </a:r>
                <a:r>
                  <a:rPr lang="en-US" sz="1000" dirty="0"/>
                  <a:t>Bulk density from log </a:t>
                </a:r>
              </a:p>
              <a:p>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𝜌</m:t>
                        </m:r>
                      </m:e>
                      <m:sub>
                        <m:r>
                          <a:rPr lang="en-IN" sz="1000" i="1">
                            <a:latin typeface="Cambria Math" panose="02040503050406030204" pitchFamily="18" charset="0"/>
                          </a:rPr>
                          <m:t>𝑓</m:t>
                        </m:r>
                      </m:sub>
                    </m:sSub>
                  </m:oMath>
                </a14:m>
                <a:r>
                  <a:rPr lang="en-US" sz="1000" dirty="0"/>
                  <a:t>  : </a:t>
                </a:r>
                <a:r>
                  <a:rPr lang="en-IN" sz="1000" dirty="0"/>
                  <a:t>Fluid density (g/cc</a:t>
                </a:r>
                <a:r>
                  <a:rPr lang="en-IN" sz="900" dirty="0"/>
                  <a:t>)</a:t>
                </a:r>
              </a:p>
            </p:txBody>
          </p:sp>
        </mc:Choice>
        <mc:Fallback xmlns="">
          <p:sp>
            <p:nvSpPr>
              <p:cNvPr id="26" name="TextBox 25">
                <a:extLst>
                  <a:ext uri="{FF2B5EF4-FFF2-40B4-BE49-F238E27FC236}">
                    <a16:creationId xmlns:a16="http://schemas.microsoft.com/office/drawing/2014/main" id="{29CAA8C6-8ACC-AB94-AE30-74721A2922B9}"/>
                  </a:ext>
                </a:extLst>
              </p:cNvPr>
              <p:cNvSpPr txBox="1">
                <a:spLocks noRot="1" noChangeAspect="1" noMove="1" noResize="1" noEditPoints="1" noAdjustHandles="1" noChangeArrowheads="1" noChangeShapeType="1" noTextEdit="1"/>
              </p:cNvSpPr>
              <p:nvPr/>
            </p:nvSpPr>
            <p:spPr>
              <a:xfrm>
                <a:off x="1595913" y="3608240"/>
                <a:ext cx="1989748" cy="722442"/>
              </a:xfrm>
              <a:prstGeom prst="rect">
                <a:avLst/>
              </a:prstGeom>
              <a:blipFill>
                <a:blip r:embed="rId5"/>
                <a:stretch>
                  <a:fillRect b="-2542"/>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5ACD9F4E-E102-CBA9-4501-8B746D2E42AE}"/>
              </a:ext>
            </a:extLst>
          </p:cNvPr>
          <p:cNvSpPr txBox="1"/>
          <p:nvPr/>
        </p:nvSpPr>
        <p:spPr>
          <a:xfrm>
            <a:off x="76307" y="4383389"/>
            <a:ext cx="3081978" cy="707886"/>
          </a:xfrm>
          <a:prstGeom prst="rect">
            <a:avLst/>
          </a:prstGeom>
          <a:noFill/>
        </p:spPr>
        <p:txBody>
          <a:bodyPr wrap="square" rtlCol="0">
            <a:spAutoFit/>
          </a:bodyPr>
          <a:lstStyle/>
          <a:p>
            <a:pPr algn="just"/>
            <a:r>
              <a:rPr lang="en-US" sz="1000" dirty="0"/>
              <a:t>A matrix density greater than 2.65 g/cc was used because the reservoir is not purely quartzose and likely contains feldspathic/arkosic grains and heavy minerals, which increase the effective matrix density.</a:t>
            </a:r>
            <a:endParaRPr lang="en-IN" sz="1000" dirty="0"/>
          </a:p>
        </p:txBody>
      </p:sp>
      <p:pic>
        <p:nvPicPr>
          <p:cNvPr id="33" name="Picture 32">
            <a:extLst>
              <a:ext uri="{FF2B5EF4-FFF2-40B4-BE49-F238E27FC236}">
                <a16:creationId xmlns:a16="http://schemas.microsoft.com/office/drawing/2014/main" id="{C31EE7BC-7816-451C-7862-3C229E5FE248}"/>
              </a:ext>
            </a:extLst>
          </p:cNvPr>
          <p:cNvPicPr>
            <a:picLocks noChangeAspect="1"/>
          </p:cNvPicPr>
          <p:nvPr/>
        </p:nvPicPr>
        <p:blipFill>
          <a:blip r:embed="rId6"/>
          <a:stretch>
            <a:fillRect/>
          </a:stretch>
        </p:blipFill>
        <p:spPr>
          <a:xfrm>
            <a:off x="3660962" y="866777"/>
            <a:ext cx="1383912" cy="579170"/>
          </a:xfrm>
          <a:prstGeom prst="rect">
            <a:avLst/>
          </a:prstGeom>
          <a:ln>
            <a:solidFill>
              <a:srgbClr val="008000"/>
            </a:solidFill>
          </a:ln>
        </p:spPr>
      </p:pic>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08BA599-92E9-E9AE-5993-5178B37915D0}"/>
                  </a:ext>
                </a:extLst>
              </p:cNvPr>
              <p:cNvSpPr txBox="1"/>
              <p:nvPr/>
            </p:nvSpPr>
            <p:spPr>
              <a:xfrm>
                <a:off x="3564699" y="1469202"/>
                <a:ext cx="3286483" cy="553998"/>
              </a:xfrm>
              <a:prstGeom prst="rect">
                <a:avLst/>
              </a:prstGeom>
              <a:noFill/>
            </p:spPr>
            <p:txBody>
              <a:bodyPr wrap="square" rtlCol="0">
                <a:spAutoFit/>
              </a:bodyPr>
              <a:lstStyle/>
              <a:p>
                <a14:m>
                  <m:oMath xmlns:m="http://schemas.openxmlformats.org/officeDocument/2006/math">
                    <m:r>
                      <a:rPr lang="en-IN" sz="1000" i="1" smtClean="0">
                        <a:latin typeface="Cambria Math" panose="02040503050406030204" pitchFamily="18" charset="0"/>
                      </a:rPr>
                      <m:t>𝜙</m:t>
                    </m:r>
                  </m:oMath>
                </a14:m>
                <a:r>
                  <a:rPr lang="en-IN" sz="1000" dirty="0"/>
                  <a:t>:Combined porosity</a:t>
                </a:r>
              </a:p>
              <a:p>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𝜙</m:t>
                        </m:r>
                      </m:e>
                      <m:sub>
                        <m:r>
                          <a:rPr lang="en-IN" sz="1000" i="1">
                            <a:latin typeface="Cambria Math" panose="02040503050406030204" pitchFamily="18" charset="0"/>
                          </a:rPr>
                          <m:t>𝑛</m:t>
                        </m:r>
                      </m:sub>
                    </m:sSub>
                  </m:oMath>
                </a14:m>
                <a:r>
                  <a:rPr lang="en-IN" sz="1000" dirty="0"/>
                  <a:t>: Neutron porosity (from neutron log)</a:t>
                </a:r>
              </a:p>
              <a:p>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𝜙</m:t>
                        </m:r>
                      </m:e>
                      <m:sub>
                        <m:r>
                          <a:rPr lang="en-IN" sz="1000" i="1">
                            <a:latin typeface="Cambria Math" panose="02040503050406030204" pitchFamily="18" charset="0"/>
                          </a:rPr>
                          <m:t>𝑑</m:t>
                        </m:r>
                      </m:sub>
                    </m:sSub>
                    <m:r>
                      <a:rPr lang="en-IN" sz="1000" b="0" i="1" smtClean="0">
                        <a:latin typeface="Cambria Math" panose="02040503050406030204" pitchFamily="18" charset="0"/>
                      </a:rPr>
                      <m:t>:</m:t>
                    </m:r>
                  </m:oMath>
                </a14:m>
                <a:r>
                  <a:rPr lang="en-IN" sz="1000" b="0" dirty="0"/>
                  <a:t> </a:t>
                </a:r>
                <a:r>
                  <a:rPr lang="en-US" sz="1000" dirty="0"/>
                  <a:t>Density porosity (from density log)</a:t>
                </a:r>
                <a:endParaRPr lang="en-IN" sz="1000" b="0" dirty="0"/>
              </a:p>
            </p:txBody>
          </p:sp>
        </mc:Choice>
        <mc:Fallback xmlns="">
          <p:sp>
            <p:nvSpPr>
              <p:cNvPr id="39" name="TextBox 38">
                <a:extLst>
                  <a:ext uri="{FF2B5EF4-FFF2-40B4-BE49-F238E27FC236}">
                    <a16:creationId xmlns:a16="http://schemas.microsoft.com/office/drawing/2014/main" id="{008BA599-92E9-E9AE-5993-5178B37915D0}"/>
                  </a:ext>
                </a:extLst>
              </p:cNvPr>
              <p:cNvSpPr txBox="1">
                <a:spLocks noRot="1" noChangeAspect="1" noMove="1" noResize="1" noEditPoints="1" noAdjustHandles="1" noChangeArrowheads="1" noChangeShapeType="1" noTextEdit="1"/>
              </p:cNvSpPr>
              <p:nvPr/>
            </p:nvSpPr>
            <p:spPr>
              <a:xfrm>
                <a:off x="3564699" y="1469202"/>
                <a:ext cx="3286483" cy="553998"/>
              </a:xfrm>
              <a:prstGeom prst="rect">
                <a:avLst/>
              </a:prstGeom>
              <a:blipFill>
                <a:blip r:embed="rId10"/>
                <a:stretch>
                  <a:fillRect b="-6593"/>
                </a:stretch>
              </a:blipFill>
            </p:spPr>
            <p:txBody>
              <a:bodyPr/>
              <a:lstStyle/>
              <a:p>
                <a:r>
                  <a:rPr lang="en-IN">
                    <a:noFill/>
                  </a:rPr>
                  <a:t> </a:t>
                </a:r>
              </a:p>
            </p:txBody>
          </p:sp>
        </mc:Fallback>
      </mc:AlternateContent>
      <p:pic>
        <p:nvPicPr>
          <p:cNvPr id="40" name="Picture 39">
            <a:extLst>
              <a:ext uri="{FF2B5EF4-FFF2-40B4-BE49-F238E27FC236}">
                <a16:creationId xmlns:a16="http://schemas.microsoft.com/office/drawing/2014/main" id="{9A76786D-B6A1-4391-658D-30A073B892FA}"/>
              </a:ext>
            </a:extLst>
          </p:cNvPr>
          <p:cNvPicPr>
            <a:picLocks noChangeAspect="1"/>
          </p:cNvPicPr>
          <p:nvPr/>
        </p:nvPicPr>
        <p:blipFill>
          <a:blip r:embed="rId11"/>
          <a:stretch>
            <a:fillRect/>
          </a:stretch>
        </p:blipFill>
        <p:spPr>
          <a:xfrm>
            <a:off x="3667291" y="2103374"/>
            <a:ext cx="1584521" cy="423766"/>
          </a:xfrm>
          <a:prstGeom prst="rect">
            <a:avLst/>
          </a:prstGeom>
          <a:ln>
            <a:solidFill>
              <a:srgbClr val="008000"/>
            </a:solidFill>
          </a:ln>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E72748E-7292-6E08-6F75-8A5DA0AC362A}"/>
                  </a:ext>
                </a:extLst>
              </p:cNvPr>
              <p:cNvSpPr txBox="1"/>
              <p:nvPr/>
            </p:nvSpPr>
            <p:spPr>
              <a:xfrm>
                <a:off x="3598287" y="2595907"/>
                <a:ext cx="2452675" cy="553998"/>
              </a:xfrm>
              <a:prstGeom prst="rect">
                <a:avLst/>
              </a:prstGeom>
              <a:noFill/>
            </p:spPr>
            <p:txBody>
              <a:bodyPr wrap="square" rtlCol="0">
                <a:spAutoFit/>
              </a:bodyPr>
              <a:lstStyle/>
              <a:p>
                <a14:m>
                  <m:oMath xmlns:m="http://schemas.openxmlformats.org/officeDocument/2006/math">
                    <m:r>
                      <a:rPr lang="en-IN" sz="1000" i="1" smtClean="0">
                        <a:latin typeface="Cambria Math" panose="02040503050406030204" pitchFamily="18" charset="0"/>
                      </a:rPr>
                      <m:t>𝜙</m:t>
                    </m:r>
                    <m:r>
                      <a:rPr lang="en-IN" sz="1000" i="0">
                        <a:latin typeface="Cambria Math" panose="02040503050406030204" pitchFamily="18" charset="0"/>
                      </a:rPr>
                      <m:t>ⅇ</m:t>
                    </m:r>
                  </m:oMath>
                </a14:m>
                <a:r>
                  <a:rPr lang="en-IN" sz="1000" dirty="0"/>
                  <a:t> : </a:t>
                </a:r>
                <a14:m>
                  <m:oMath xmlns:m="http://schemas.openxmlformats.org/officeDocument/2006/math">
                    <m:r>
                      <a:rPr lang="en-IN" sz="1000" i="1">
                        <a:latin typeface="Cambria Math" panose="02040503050406030204" pitchFamily="18" charset="0"/>
                      </a:rPr>
                      <m:t>𝜙</m:t>
                    </m:r>
                  </m:oMath>
                </a14:m>
                <a:r>
                  <a:rPr lang="en-IN" sz="1000" dirty="0"/>
                  <a:t> : Effective porosity</a:t>
                </a:r>
              </a:p>
              <a:p>
                <a:pPr/>
                <a14:m>
                  <m:oMathPara xmlns:m="http://schemas.openxmlformats.org/officeDocument/2006/math">
                    <m:oMathParaPr>
                      <m:jc m:val="left"/>
                    </m:oMathParaPr>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𝜙</m:t>
                          </m:r>
                        </m:e>
                        <m:sub>
                          <m:r>
                            <a:rPr lang="en-IN" sz="1000" i="1">
                              <a:latin typeface="Cambria Math" panose="02040503050406030204" pitchFamily="18" charset="0"/>
                            </a:rPr>
                            <m:t>𝑡</m:t>
                          </m:r>
                        </m:sub>
                      </m:sSub>
                      <m:r>
                        <a:rPr lang="en-IN" sz="1000" b="0" i="1" smtClean="0">
                          <a:latin typeface="Cambria Math" panose="02040503050406030204" pitchFamily="18" charset="0"/>
                        </a:rPr>
                        <m:t> :</m:t>
                      </m:r>
                      <m:r>
                        <m:rPr>
                          <m:nor/>
                        </m:rPr>
                        <a:rPr lang="en-IN" sz="1000"/>
                        <m:t>Total</m:t>
                      </m:r>
                      <m:r>
                        <m:rPr>
                          <m:nor/>
                        </m:rPr>
                        <a:rPr lang="en-IN" sz="1000"/>
                        <m:t> </m:t>
                      </m:r>
                      <m:r>
                        <m:rPr>
                          <m:nor/>
                        </m:rPr>
                        <a:rPr lang="en-IN" sz="1000"/>
                        <m:t>porosity</m:t>
                      </m:r>
                    </m:oMath>
                  </m:oMathPara>
                </a14:m>
                <a:endParaRPr lang="en-IN" sz="1000" dirty="0"/>
              </a:p>
              <a:p>
                <a:pPr/>
                <a14:m>
                  <m:oMathPara xmlns:m="http://schemas.openxmlformats.org/officeDocument/2006/math">
                    <m:oMathParaPr>
                      <m:jc m:val="left"/>
                    </m:oMathParaPr>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𝑉</m:t>
                          </m:r>
                        </m:e>
                        <m:sub>
                          <m:r>
                            <a:rPr lang="en-IN" sz="1000" i="1">
                              <a:latin typeface="Cambria Math" panose="02040503050406030204" pitchFamily="18" charset="0"/>
                            </a:rPr>
                            <m:t>𝑆</m:t>
                          </m:r>
                          <m:r>
                            <a:rPr lang="en-IN" sz="1000" i="1">
                              <a:latin typeface="Cambria Math" panose="02040503050406030204" pitchFamily="18" charset="0"/>
                            </a:rPr>
                            <m:t>h</m:t>
                          </m:r>
                        </m:sub>
                      </m:sSub>
                      <m:r>
                        <a:rPr lang="en-IN" sz="1000" b="0" i="1" smtClean="0">
                          <a:latin typeface="Cambria Math" panose="02040503050406030204" pitchFamily="18" charset="0"/>
                        </a:rPr>
                        <m:t> :</m:t>
                      </m:r>
                      <m:r>
                        <m:rPr>
                          <m:nor/>
                        </m:rPr>
                        <a:rPr lang="en-IN" sz="1000"/>
                        <m:t>Volume</m:t>
                      </m:r>
                      <m:r>
                        <m:rPr>
                          <m:nor/>
                        </m:rPr>
                        <a:rPr lang="en-IN" sz="1000"/>
                        <m:t> </m:t>
                      </m:r>
                      <m:r>
                        <m:rPr>
                          <m:nor/>
                        </m:rPr>
                        <a:rPr lang="en-IN" sz="1000"/>
                        <m:t>of</m:t>
                      </m:r>
                      <m:r>
                        <m:rPr>
                          <m:nor/>
                        </m:rPr>
                        <a:rPr lang="en-IN" sz="1000"/>
                        <m:t> </m:t>
                      </m:r>
                      <m:r>
                        <m:rPr>
                          <m:nor/>
                        </m:rPr>
                        <a:rPr lang="en-IN" sz="1000"/>
                        <m:t>shale</m:t>
                      </m:r>
                    </m:oMath>
                  </m:oMathPara>
                </a14:m>
                <a:endParaRPr lang="en-IN" sz="1000" dirty="0"/>
              </a:p>
            </p:txBody>
          </p:sp>
        </mc:Choice>
        <mc:Fallback xmlns="">
          <p:sp>
            <p:nvSpPr>
              <p:cNvPr id="43" name="TextBox 42">
                <a:extLst>
                  <a:ext uri="{FF2B5EF4-FFF2-40B4-BE49-F238E27FC236}">
                    <a16:creationId xmlns:a16="http://schemas.microsoft.com/office/drawing/2014/main" id="{4E72748E-7292-6E08-6F75-8A5DA0AC362A}"/>
                  </a:ext>
                </a:extLst>
              </p:cNvPr>
              <p:cNvSpPr txBox="1">
                <a:spLocks noRot="1" noChangeAspect="1" noMove="1" noResize="1" noEditPoints="1" noAdjustHandles="1" noChangeArrowheads="1" noChangeShapeType="1" noTextEdit="1"/>
              </p:cNvSpPr>
              <p:nvPr/>
            </p:nvSpPr>
            <p:spPr>
              <a:xfrm>
                <a:off x="3598287" y="2595907"/>
                <a:ext cx="2452675" cy="553998"/>
              </a:xfrm>
              <a:prstGeom prst="rect">
                <a:avLst/>
              </a:prstGeom>
              <a:blipFill>
                <a:blip r:embed="rId13"/>
                <a:stretch>
                  <a:fillRect/>
                </a:stretch>
              </a:blipFill>
            </p:spPr>
            <p:txBody>
              <a:bodyPr/>
              <a:lstStyle/>
              <a:p>
                <a:r>
                  <a:rPr lang="en-IN">
                    <a:noFill/>
                  </a:rPr>
                  <a:t> </a:t>
                </a:r>
              </a:p>
            </p:txBody>
          </p:sp>
        </mc:Fallback>
      </mc:AlternateContent>
      <p:sp>
        <p:nvSpPr>
          <p:cNvPr id="44" name="TextBox 43">
            <a:extLst>
              <a:ext uri="{FF2B5EF4-FFF2-40B4-BE49-F238E27FC236}">
                <a16:creationId xmlns:a16="http://schemas.microsoft.com/office/drawing/2014/main" id="{3A75555C-2203-EDE5-C086-B5C24B6C6146}"/>
              </a:ext>
            </a:extLst>
          </p:cNvPr>
          <p:cNvSpPr txBox="1"/>
          <p:nvPr/>
        </p:nvSpPr>
        <p:spPr>
          <a:xfrm>
            <a:off x="3598286" y="3165106"/>
            <a:ext cx="2744251" cy="276999"/>
          </a:xfrm>
          <a:prstGeom prst="rect">
            <a:avLst/>
          </a:prstGeom>
          <a:noFill/>
        </p:spPr>
        <p:txBody>
          <a:bodyPr wrap="square" rtlCol="0">
            <a:spAutoFit/>
          </a:bodyPr>
          <a:lstStyle/>
          <a:p>
            <a:r>
              <a:rPr lang="en-IN" sz="1200" b="1" dirty="0">
                <a:solidFill>
                  <a:srgbClr val="006600"/>
                </a:solidFill>
              </a:rPr>
              <a:t>Water Saturation</a:t>
            </a:r>
          </a:p>
        </p:txBody>
      </p:sp>
      <p:sp>
        <p:nvSpPr>
          <p:cNvPr id="45" name="TextBox 44">
            <a:extLst>
              <a:ext uri="{FF2B5EF4-FFF2-40B4-BE49-F238E27FC236}">
                <a16:creationId xmlns:a16="http://schemas.microsoft.com/office/drawing/2014/main" id="{C1CCAC50-2F72-28E2-7C7C-A1894AB019A6}"/>
              </a:ext>
            </a:extLst>
          </p:cNvPr>
          <p:cNvSpPr txBox="1"/>
          <p:nvPr/>
        </p:nvSpPr>
        <p:spPr>
          <a:xfrm>
            <a:off x="3585661" y="3357595"/>
            <a:ext cx="2452673" cy="246221"/>
          </a:xfrm>
          <a:prstGeom prst="rect">
            <a:avLst/>
          </a:prstGeom>
          <a:noFill/>
        </p:spPr>
        <p:txBody>
          <a:bodyPr wrap="square" rtlCol="0">
            <a:spAutoFit/>
          </a:bodyPr>
          <a:lstStyle/>
          <a:p>
            <a:r>
              <a:rPr lang="en-IN" sz="1000" b="1" kern="100" dirty="0">
                <a:ea typeface="Aptos" panose="020B0004020202020204" pitchFamily="34" charset="0"/>
                <a:cs typeface="Times New Roman" panose="02020603050405020304" pitchFamily="18" charset="0"/>
              </a:rPr>
              <a:t>Indonesian Model</a:t>
            </a:r>
            <a:endParaRPr lang="en-IN" sz="1000" b="1" dirty="0"/>
          </a:p>
        </p:txBody>
      </p:sp>
      <p:pic>
        <p:nvPicPr>
          <p:cNvPr id="46" name="Picture 2" descr="GeolOil - The Indonesia Poupon-Leveaux Water Saturation Equation">
            <a:extLst>
              <a:ext uri="{FF2B5EF4-FFF2-40B4-BE49-F238E27FC236}">
                <a16:creationId xmlns:a16="http://schemas.microsoft.com/office/drawing/2014/main" id="{CEF3938E-1723-2C57-56CB-641D29F6D2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1456" y="3641426"/>
            <a:ext cx="2879238" cy="721464"/>
          </a:xfrm>
          <a:prstGeom prst="rect">
            <a:avLst/>
          </a:prstGeom>
          <a:noFill/>
          <a:ln>
            <a:solidFill>
              <a:schemeClr val="bg1"/>
            </a:solidFill>
          </a:ln>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3337479-FB20-ED15-ADE6-4190E2F42160}"/>
                  </a:ext>
                </a:extLst>
              </p:cNvPr>
              <p:cNvSpPr txBox="1"/>
              <p:nvPr/>
            </p:nvSpPr>
            <p:spPr>
              <a:xfrm>
                <a:off x="3697945" y="4407535"/>
                <a:ext cx="217046" cy="1692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sz="1100" smtClean="0">
                              <a:latin typeface="Cambria Math" panose="02040503050406030204" pitchFamily="18" charset="0"/>
                            </a:rPr>
                          </m:ctrlPr>
                        </m:sSubPr>
                        <m:e>
                          <m:r>
                            <a:rPr lang="en-IN" sz="1100" i="1">
                              <a:latin typeface="Cambria Math" panose="02040503050406030204" pitchFamily="18" charset="0"/>
                            </a:rPr>
                            <m:t>𝑆</m:t>
                          </m:r>
                        </m:e>
                        <m:sub>
                          <m:r>
                            <a:rPr lang="en-IN" sz="1100" i="1" smtClean="0">
                              <a:latin typeface="Cambria Math" panose="02040503050406030204" pitchFamily="18" charset="0"/>
                            </a:rPr>
                            <m:t>𝑤</m:t>
                          </m:r>
                          <m:r>
                            <a:rPr lang="en-IN" sz="1100" b="0" i="1" smtClean="0">
                              <a:latin typeface="Cambria Math" panose="02040503050406030204" pitchFamily="18" charset="0"/>
                            </a:rPr>
                            <m:t> </m:t>
                          </m:r>
                        </m:sub>
                      </m:sSub>
                    </m:oMath>
                  </m:oMathPara>
                </a14:m>
                <a:endParaRPr lang="en-IN" dirty="0"/>
              </a:p>
            </p:txBody>
          </p:sp>
        </mc:Choice>
        <mc:Fallback>
          <p:sp>
            <p:nvSpPr>
              <p:cNvPr id="4" name="TextBox 3">
                <a:extLst>
                  <a:ext uri="{FF2B5EF4-FFF2-40B4-BE49-F238E27FC236}">
                    <a16:creationId xmlns:a16="http://schemas.microsoft.com/office/drawing/2014/main" id="{03337479-FB20-ED15-ADE6-4190E2F42160}"/>
                  </a:ext>
                </a:extLst>
              </p:cNvPr>
              <p:cNvSpPr txBox="1">
                <a:spLocks noRot="1" noChangeAspect="1" noMove="1" noResize="1" noEditPoints="1" noAdjustHandles="1" noChangeArrowheads="1" noChangeShapeType="1" noTextEdit="1"/>
              </p:cNvSpPr>
              <p:nvPr/>
            </p:nvSpPr>
            <p:spPr>
              <a:xfrm>
                <a:off x="3697945" y="4407535"/>
                <a:ext cx="217046" cy="169277"/>
              </a:xfrm>
              <a:prstGeom prst="rect">
                <a:avLst/>
              </a:prstGeom>
              <a:blipFill>
                <a:blip r:embed="rId15"/>
                <a:stretch>
                  <a:fillRect l="-14286" b="-14286"/>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0518B00-AFD4-C61E-332E-DDC1F6D8BEE6}"/>
                  </a:ext>
                </a:extLst>
              </p:cNvPr>
              <p:cNvSpPr txBox="1"/>
              <p:nvPr/>
            </p:nvSpPr>
            <p:spPr>
              <a:xfrm>
                <a:off x="3655413" y="4593570"/>
                <a:ext cx="290464" cy="89319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sz="1100" smtClean="0">
                              <a:latin typeface="Cambria Math" panose="02040503050406030204" pitchFamily="18" charset="0"/>
                            </a:rPr>
                          </m:ctrlPr>
                        </m:sSubPr>
                        <m:e>
                          <m:r>
                            <a:rPr lang="en-IN" sz="1100" i="1" smtClean="0">
                              <a:latin typeface="Cambria Math" panose="02040503050406030204" pitchFamily="18" charset="0"/>
                            </a:rPr>
                            <m:t>𝑣</m:t>
                          </m:r>
                        </m:e>
                        <m:sub>
                          <m:r>
                            <a:rPr lang="en-IN" sz="1100" i="1" smtClean="0">
                              <a:latin typeface="Cambria Math" panose="02040503050406030204" pitchFamily="18" charset="0"/>
                            </a:rPr>
                            <m:t>𝑠</m:t>
                          </m:r>
                          <m:r>
                            <a:rPr lang="en-IN" sz="1100" i="1" smtClean="0">
                              <a:latin typeface="Cambria Math" panose="02040503050406030204" pitchFamily="18" charset="0"/>
                            </a:rPr>
                            <m:t>h</m:t>
                          </m:r>
                        </m:sub>
                      </m:sSub>
                    </m:oMath>
                  </m:oMathPara>
                </a14:m>
                <a:endParaRPr lang="en-IN" sz="11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IN" sz="1100" smtClean="0">
                              <a:latin typeface="Cambria Math" panose="02040503050406030204" pitchFamily="18" charset="0"/>
                            </a:rPr>
                          </m:ctrlPr>
                        </m:sSubPr>
                        <m:e>
                          <m:r>
                            <a:rPr lang="en-IN" sz="1100" i="1">
                              <a:latin typeface="Cambria Math" panose="02040503050406030204" pitchFamily="18" charset="0"/>
                            </a:rPr>
                            <m:t>𝑅</m:t>
                          </m:r>
                        </m:e>
                        <m:sub>
                          <m:r>
                            <a:rPr lang="en-IN" sz="1100" i="1">
                              <a:latin typeface="Cambria Math" panose="02040503050406030204" pitchFamily="18" charset="0"/>
                            </a:rPr>
                            <m:t>𝑡</m:t>
                          </m:r>
                        </m:sub>
                      </m:sSub>
                    </m:oMath>
                  </m:oMathPara>
                </a14:m>
                <a:endParaRPr lang="en-IN" sz="1100" dirty="0"/>
              </a:p>
              <a:p>
                <a14:m>
                  <m:oMathPara xmlns:m="http://schemas.openxmlformats.org/officeDocument/2006/math">
                    <m:oMathParaPr>
                      <m:jc m:val="centerGroup"/>
                    </m:oMathParaPr>
                    <m:oMath xmlns:m="http://schemas.openxmlformats.org/officeDocument/2006/math">
                      <m:r>
                        <a:rPr lang="en-IN" sz="1100" i="1" dirty="0" smtClean="0">
                          <a:latin typeface="Cambria Math" panose="02040503050406030204" pitchFamily="18" charset="0"/>
                        </a:rPr>
                        <m:t>𝑚</m:t>
                      </m:r>
                    </m:oMath>
                  </m:oMathPara>
                </a14:m>
                <a:endParaRPr lang="en-IN" sz="1100" dirty="0"/>
              </a:p>
              <a:p>
                <a:endParaRPr lang="en-IN" sz="1100" dirty="0"/>
              </a:p>
              <a:p>
                <a:endParaRPr lang="en-IN" dirty="0"/>
              </a:p>
            </p:txBody>
          </p:sp>
        </mc:Choice>
        <mc:Fallback>
          <p:sp>
            <p:nvSpPr>
              <p:cNvPr id="12" name="TextBox 11">
                <a:extLst>
                  <a:ext uri="{FF2B5EF4-FFF2-40B4-BE49-F238E27FC236}">
                    <a16:creationId xmlns:a16="http://schemas.microsoft.com/office/drawing/2014/main" id="{E0518B00-AFD4-C61E-332E-DDC1F6D8BEE6}"/>
                  </a:ext>
                </a:extLst>
              </p:cNvPr>
              <p:cNvSpPr txBox="1">
                <a:spLocks noRot="1" noChangeAspect="1" noMove="1" noResize="1" noEditPoints="1" noAdjustHandles="1" noChangeArrowheads="1" noChangeShapeType="1" noTextEdit="1"/>
              </p:cNvSpPr>
              <p:nvPr/>
            </p:nvSpPr>
            <p:spPr>
              <a:xfrm>
                <a:off x="3655413" y="4593570"/>
                <a:ext cx="290464" cy="893193"/>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0FC951DF-1D14-2689-8AB0-7D1B93692C65}"/>
                  </a:ext>
                </a:extLst>
              </p:cNvPr>
              <p:cNvSpPr txBox="1"/>
              <p:nvPr/>
            </p:nvSpPr>
            <p:spPr>
              <a:xfrm>
                <a:off x="5165907" y="4480097"/>
                <a:ext cx="392783" cy="76944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IN" sz="1100" smtClean="0">
                              <a:latin typeface="Cambria Math" panose="02040503050406030204" pitchFamily="18" charset="0"/>
                            </a:rPr>
                          </m:ctrlPr>
                        </m:sSubPr>
                        <m:e>
                          <m:r>
                            <a:rPr lang="en-IN" sz="1100" i="1">
                              <a:latin typeface="Cambria Math" panose="02040503050406030204" pitchFamily="18" charset="0"/>
                            </a:rPr>
                            <m:t>𝜙</m:t>
                          </m:r>
                        </m:e>
                        <m:sub>
                          <m:r>
                            <a:rPr lang="en-IN" sz="1100" i="1">
                              <a:latin typeface="Cambria Math" panose="02040503050406030204" pitchFamily="18" charset="0"/>
                            </a:rPr>
                            <m:t>𝑒</m:t>
                          </m:r>
                        </m:sub>
                      </m:sSub>
                    </m:oMath>
                  </m:oMathPara>
                </a14:m>
                <a:endParaRPr lang="en-IN" sz="1100" dirty="0"/>
              </a:p>
              <a:p>
                <a14:m>
                  <m:oMathPara xmlns:m="http://schemas.openxmlformats.org/officeDocument/2006/math">
                    <m:oMathParaPr>
                      <m:jc m:val="centerGroup"/>
                    </m:oMathParaPr>
                    <m:oMath xmlns:m="http://schemas.openxmlformats.org/officeDocument/2006/math">
                      <m:sSub>
                        <m:sSubPr>
                          <m:ctrlPr>
                            <a:rPr lang="en-IN" sz="1100" smtClean="0">
                              <a:latin typeface="Cambria Math" panose="02040503050406030204" pitchFamily="18" charset="0"/>
                            </a:rPr>
                          </m:ctrlPr>
                        </m:sSubPr>
                        <m:e>
                          <m:r>
                            <a:rPr lang="en-IN" sz="1100" i="1">
                              <a:latin typeface="Cambria Math" panose="02040503050406030204" pitchFamily="18" charset="0"/>
                            </a:rPr>
                            <m:t>𝑅</m:t>
                          </m:r>
                        </m:e>
                        <m:sub>
                          <m:r>
                            <a:rPr lang="en-IN" sz="1100" i="1">
                              <a:latin typeface="Cambria Math" panose="02040503050406030204" pitchFamily="18" charset="0"/>
                            </a:rPr>
                            <m:t>𝜔</m:t>
                          </m:r>
                        </m:sub>
                      </m:sSub>
                    </m:oMath>
                  </m:oMathPara>
                </a14:m>
                <a:endParaRPr lang="en-IN" sz="1100" dirty="0"/>
              </a:p>
              <a:p>
                <a14:m>
                  <m:oMathPara xmlns:m="http://schemas.openxmlformats.org/officeDocument/2006/math">
                    <m:oMathParaPr>
                      <m:jc m:val="centerGroup"/>
                    </m:oMathParaPr>
                    <m:oMath xmlns:m="http://schemas.openxmlformats.org/officeDocument/2006/math">
                      <m:r>
                        <a:rPr lang="en-IN" sz="1100" i="1" smtClean="0">
                          <a:latin typeface="Cambria Math" panose="02040503050406030204" pitchFamily="18" charset="0"/>
                        </a:rPr>
                        <m:t>𝑎</m:t>
                      </m:r>
                    </m:oMath>
                  </m:oMathPara>
                </a14:m>
                <a:endParaRPr lang="en-IN" sz="11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IN" sz="1100" smtClean="0">
                              <a:latin typeface="Cambria Math" panose="02040503050406030204" pitchFamily="18" charset="0"/>
                            </a:rPr>
                          </m:ctrlPr>
                        </m:sSubPr>
                        <m:e>
                          <m:r>
                            <a:rPr lang="en-IN" sz="1100" i="1">
                              <a:latin typeface="Cambria Math" panose="02040503050406030204" pitchFamily="18" charset="0"/>
                            </a:rPr>
                            <m:t>𝑅</m:t>
                          </m:r>
                        </m:e>
                        <m:sub>
                          <m:r>
                            <a:rPr lang="en-IN" sz="1100" i="1">
                              <a:latin typeface="Cambria Math" panose="02040503050406030204" pitchFamily="18" charset="0"/>
                            </a:rPr>
                            <m:t>𝑠</m:t>
                          </m:r>
                          <m:r>
                            <a:rPr lang="en-IN" sz="1100" i="1">
                              <a:latin typeface="Cambria Math" panose="02040503050406030204" pitchFamily="18" charset="0"/>
                            </a:rPr>
                            <m:t>h</m:t>
                          </m:r>
                        </m:sub>
                      </m:sSub>
                    </m:oMath>
                  </m:oMathPara>
                </a14:m>
                <a:endParaRPr lang="en-IN" sz="1100" dirty="0"/>
              </a:p>
            </p:txBody>
          </p:sp>
        </mc:Choice>
        <mc:Fallback>
          <p:sp>
            <p:nvSpPr>
              <p:cNvPr id="13" name="TextBox 12">
                <a:extLst>
                  <a:ext uri="{FF2B5EF4-FFF2-40B4-BE49-F238E27FC236}">
                    <a16:creationId xmlns:a16="http://schemas.microsoft.com/office/drawing/2014/main" id="{0FC951DF-1D14-2689-8AB0-7D1B93692C65}"/>
                  </a:ext>
                </a:extLst>
              </p:cNvPr>
              <p:cNvSpPr txBox="1">
                <a:spLocks noRot="1" noChangeAspect="1" noMove="1" noResize="1" noEditPoints="1" noAdjustHandles="1" noChangeArrowheads="1" noChangeShapeType="1" noTextEdit="1"/>
              </p:cNvSpPr>
              <p:nvPr/>
            </p:nvSpPr>
            <p:spPr>
              <a:xfrm>
                <a:off x="5165907" y="4480097"/>
                <a:ext cx="392783" cy="769441"/>
              </a:xfrm>
              <a:prstGeom prst="rect">
                <a:avLst/>
              </a:prstGeom>
              <a:blipFill>
                <a:blip r:embed="rId17"/>
                <a:stretch>
                  <a:fillRect/>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3210ABC0-B34E-B1BA-3844-A2F5586F769B}"/>
              </a:ext>
            </a:extLst>
          </p:cNvPr>
          <p:cNvSpPr txBox="1"/>
          <p:nvPr/>
        </p:nvSpPr>
        <p:spPr>
          <a:xfrm>
            <a:off x="3843927" y="4364245"/>
            <a:ext cx="1236072" cy="884858"/>
          </a:xfrm>
          <a:prstGeom prst="rect">
            <a:avLst/>
          </a:prstGeom>
          <a:noFill/>
        </p:spPr>
        <p:txBody>
          <a:bodyPr wrap="square" rtlCol="0">
            <a:spAutoFit/>
          </a:bodyPr>
          <a:lstStyle/>
          <a:p>
            <a:r>
              <a:rPr lang="en-IN" sz="1000" dirty="0"/>
              <a:t>: Saturation</a:t>
            </a:r>
          </a:p>
          <a:p>
            <a:r>
              <a:rPr lang="en-IN" sz="1000" dirty="0"/>
              <a:t>: Volume of Shale</a:t>
            </a:r>
          </a:p>
          <a:p>
            <a:r>
              <a:rPr lang="en-IN" sz="1000" dirty="0"/>
              <a:t>: True Resistivity</a:t>
            </a:r>
          </a:p>
          <a:p>
            <a:r>
              <a:rPr lang="en-IN" sz="1000" dirty="0"/>
              <a:t>: cementation factor</a:t>
            </a:r>
          </a:p>
        </p:txBody>
      </p:sp>
      <p:sp>
        <p:nvSpPr>
          <p:cNvPr id="15" name="TextBox 14">
            <a:extLst>
              <a:ext uri="{FF2B5EF4-FFF2-40B4-BE49-F238E27FC236}">
                <a16:creationId xmlns:a16="http://schemas.microsoft.com/office/drawing/2014/main" id="{D8224099-B49E-A91C-AF8B-22A62C79DFE0}"/>
              </a:ext>
            </a:extLst>
          </p:cNvPr>
          <p:cNvSpPr txBox="1"/>
          <p:nvPr/>
        </p:nvSpPr>
        <p:spPr>
          <a:xfrm>
            <a:off x="5381065" y="4466848"/>
            <a:ext cx="1580009" cy="707886"/>
          </a:xfrm>
          <a:prstGeom prst="rect">
            <a:avLst/>
          </a:prstGeom>
          <a:noFill/>
        </p:spPr>
        <p:txBody>
          <a:bodyPr wrap="square" rtlCol="0">
            <a:spAutoFit/>
          </a:bodyPr>
          <a:lstStyle/>
          <a:p>
            <a:r>
              <a:rPr lang="en-IN" sz="1000" dirty="0"/>
              <a:t>: Effective Porosity</a:t>
            </a:r>
          </a:p>
          <a:p>
            <a:r>
              <a:rPr lang="en-IN" sz="1000" dirty="0"/>
              <a:t>: Resistivity of Water</a:t>
            </a:r>
          </a:p>
          <a:p>
            <a:r>
              <a:rPr lang="en-IN" sz="1000" dirty="0"/>
              <a:t>: </a:t>
            </a:r>
            <a:r>
              <a:rPr lang="en-IN" sz="1000" dirty="0" err="1"/>
              <a:t>Tortousity</a:t>
            </a:r>
            <a:r>
              <a:rPr lang="en-IN" sz="1000" dirty="0"/>
              <a:t> factor</a:t>
            </a:r>
          </a:p>
          <a:p>
            <a:r>
              <a:rPr lang="en-IN" sz="1000" dirty="0"/>
              <a:t>: Resistivity of Shale</a:t>
            </a:r>
          </a:p>
        </p:txBody>
      </p:sp>
      <p:sp>
        <p:nvSpPr>
          <p:cNvPr id="18" name="TextBox 17">
            <a:extLst>
              <a:ext uri="{FF2B5EF4-FFF2-40B4-BE49-F238E27FC236}">
                <a16:creationId xmlns:a16="http://schemas.microsoft.com/office/drawing/2014/main" id="{8FB9B178-5F5F-F3E9-623B-105F65E50D71}"/>
              </a:ext>
            </a:extLst>
          </p:cNvPr>
          <p:cNvSpPr txBox="1"/>
          <p:nvPr/>
        </p:nvSpPr>
        <p:spPr>
          <a:xfrm>
            <a:off x="6961074" y="838200"/>
            <a:ext cx="3007536" cy="707886"/>
          </a:xfrm>
          <a:prstGeom prst="rect">
            <a:avLst/>
          </a:prstGeom>
          <a:noFill/>
        </p:spPr>
        <p:txBody>
          <a:bodyPr wrap="square" rtlCol="0">
            <a:spAutoFit/>
          </a:bodyPr>
          <a:lstStyle/>
          <a:p>
            <a:r>
              <a:rPr lang="en-IN" sz="1000" dirty="0"/>
              <a:t>Indonesian model is used for calculating the water saturation because the study area has intercalated layer of shale and sand. This model gives reasonable range considering the shaly region</a:t>
            </a:r>
          </a:p>
        </p:txBody>
      </p:sp>
      <p:sp>
        <p:nvSpPr>
          <p:cNvPr id="22" name="TextBox 21">
            <a:extLst>
              <a:ext uri="{FF2B5EF4-FFF2-40B4-BE49-F238E27FC236}">
                <a16:creationId xmlns:a16="http://schemas.microsoft.com/office/drawing/2014/main" id="{278FAC28-F3B3-AC25-6B79-E54A0636EF8C}"/>
              </a:ext>
            </a:extLst>
          </p:cNvPr>
          <p:cNvSpPr txBox="1"/>
          <p:nvPr/>
        </p:nvSpPr>
        <p:spPr>
          <a:xfrm>
            <a:off x="6961074" y="1442290"/>
            <a:ext cx="2744251" cy="276999"/>
          </a:xfrm>
          <a:prstGeom prst="rect">
            <a:avLst/>
          </a:prstGeom>
          <a:noFill/>
        </p:spPr>
        <p:txBody>
          <a:bodyPr wrap="square" rtlCol="0">
            <a:spAutoFit/>
          </a:bodyPr>
          <a:lstStyle/>
          <a:p>
            <a:r>
              <a:rPr lang="en-IN" sz="1200" b="1" dirty="0">
                <a:solidFill>
                  <a:srgbClr val="006600"/>
                </a:solidFill>
              </a:rPr>
              <a:t>Permeability</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FB2F70D4-007E-C102-E3C0-A64323F688D5}"/>
                  </a:ext>
                </a:extLst>
              </p:cNvPr>
              <p:cNvSpPr txBox="1"/>
              <p:nvPr/>
            </p:nvSpPr>
            <p:spPr>
              <a:xfrm>
                <a:off x="6961074" y="1847607"/>
                <a:ext cx="3007536" cy="1785104"/>
              </a:xfrm>
              <a:prstGeom prst="rect">
                <a:avLst/>
              </a:prstGeom>
              <a:noFill/>
            </p:spPr>
            <p:txBody>
              <a:bodyPr wrap="square">
                <a:spAutoFit/>
              </a:bodyPr>
              <a:lstStyle/>
              <a:p>
                <a:pPr>
                  <a:buNone/>
                </a:pPr>
                <a:r>
                  <a:rPr lang="en-IN" sz="1000" dirty="0">
                    <a:ea typeface="Sans Serif Collection" panose="020B0502040504020204" pitchFamily="34" charset="0"/>
                    <a:cs typeface="Sans Serif Collection" panose="020B0502040504020204" pitchFamily="34" charset="0"/>
                  </a:rPr>
                  <a:t>The permeability relationship was </a:t>
                </a:r>
                <a:r>
                  <a:rPr lang="en-IN" sz="1000" dirty="0" err="1">
                    <a:ea typeface="Sans Serif Collection" panose="020B0502040504020204" pitchFamily="34" charset="0"/>
                    <a:cs typeface="Sans Serif Collection" panose="020B0502040504020204" pitchFamily="34" charset="0"/>
                  </a:rPr>
                  <a:t>modeled</a:t>
                </a:r>
                <a:r>
                  <a:rPr lang="en-IN" sz="1000" dirty="0">
                    <a:ea typeface="Sans Serif Collection" panose="020B0502040504020204" pitchFamily="34" charset="0"/>
                    <a:cs typeface="Sans Serif Collection" panose="020B0502040504020204" pitchFamily="34" charset="0"/>
                  </a:rPr>
                  <a:t> using:</a:t>
                </a:r>
                <a:endParaRPr lang="en-IN" sz="1000" i="1" dirty="0">
                  <a:latin typeface="Cambria Math" panose="02040503050406030204" pitchFamily="18" charset="0"/>
                  <a:ea typeface="Sans Serif Collection" panose="020B0502040504020204" pitchFamily="34" charset="0"/>
                  <a:cs typeface="Sans Serif Collection" panose="020B0502040504020204" pitchFamily="34" charset="0"/>
                </a:endParaRPr>
              </a:p>
              <a:p>
                <a:pPr>
                  <a:buNone/>
                </a:pPr>
                <a14:m>
                  <m:oMathPara xmlns:m="http://schemas.openxmlformats.org/officeDocument/2006/math">
                    <m:oMathParaPr>
                      <m:jc m:val="left"/>
                    </m:oMathParaPr>
                    <m:oMath xmlns:m="http://schemas.openxmlformats.org/officeDocument/2006/math">
                      <m:r>
                        <a:rPr lang="en-IN" sz="1000" i="1">
                          <a:latin typeface="Cambria Math" panose="02040503050406030204" pitchFamily="18" charset="0"/>
                        </a:rPr>
                        <m:t>𝑘</m:t>
                      </m:r>
                      <m:r>
                        <a:rPr lang="en-IN" sz="1000">
                          <a:latin typeface="Cambria Math" panose="02040503050406030204" pitchFamily="18" charset="0"/>
                        </a:rPr>
                        <m:t>=</m:t>
                      </m:r>
                      <m:r>
                        <a:rPr lang="en-IN" sz="1000" i="1">
                          <a:latin typeface="Cambria Math" panose="02040503050406030204" pitchFamily="18" charset="0"/>
                        </a:rPr>
                        <m:t>𝐴</m:t>
                      </m:r>
                      <m:r>
                        <a:rPr lang="en-IN" sz="1000">
                          <a:latin typeface="Cambria Math" panose="02040503050406030204" pitchFamily="18" charset="0"/>
                        </a:rPr>
                        <m:t>⋅</m:t>
                      </m:r>
                      <m:sSup>
                        <m:sSupPr>
                          <m:ctrlPr>
                            <a:rPr lang="ar-AE" sz="1000" i="1">
                              <a:latin typeface="Cambria Math" panose="02040503050406030204" pitchFamily="18" charset="0"/>
                            </a:rPr>
                          </m:ctrlPr>
                        </m:sSupPr>
                        <m:e>
                          <m:r>
                            <a:rPr lang="ar-AE" sz="1000" i="1">
                              <a:latin typeface="Cambria Math" panose="02040503050406030204" pitchFamily="18" charset="0"/>
                            </a:rPr>
                            <m:t>𝜙</m:t>
                          </m:r>
                        </m:e>
                        <m:sup>
                          <m:r>
                            <a:rPr lang="ar-AE" sz="1000" i="1">
                              <a:latin typeface="Cambria Math" panose="02040503050406030204" pitchFamily="18" charset="0"/>
                            </a:rPr>
                            <m:t>𝐵</m:t>
                          </m:r>
                        </m:sup>
                      </m:sSup>
                    </m:oMath>
                  </m:oMathPara>
                </a14:m>
                <a:endParaRPr lang="en-IN" sz="1000" dirty="0">
                  <a:ea typeface="Sans Serif Collection" panose="020B0502040504020204" pitchFamily="34" charset="0"/>
                  <a:cs typeface="Sans Serif Collection" panose="020B0502040504020204" pitchFamily="34" charset="0"/>
                </a:endParaRPr>
              </a:p>
              <a:p>
                <a:pPr>
                  <a:buNone/>
                </a:pPr>
                <a:endParaRPr lang="en-IN" sz="1000" dirty="0">
                  <a:ea typeface="Sans Serif Collection" panose="020B0502040504020204" pitchFamily="34" charset="0"/>
                  <a:cs typeface="Sans Serif Collection" panose="020B0502040504020204" pitchFamily="34" charset="0"/>
                </a:endParaRPr>
              </a:p>
              <a:p>
                <a:pPr>
                  <a:buNone/>
                </a:pPr>
                <a:r>
                  <a:rPr lang="en-IN" sz="1000" dirty="0">
                    <a:ea typeface="Sans Serif Collection" panose="020B0502040504020204" pitchFamily="34" charset="0"/>
                    <a:cs typeface="Sans Serif Collection" panose="020B0502040504020204" pitchFamily="34" charset="0"/>
                  </a:rPr>
                  <a:t>Where:</a:t>
                </a:r>
              </a:p>
              <a:p>
                <a:pPr>
                  <a:buFont typeface="Arial" panose="020B0604020202020204" pitchFamily="34" charset="0"/>
                  <a:buChar char="•"/>
                </a:pPr>
                <a14:m>
                  <m:oMath xmlns:m="http://schemas.openxmlformats.org/officeDocument/2006/math">
                    <m:r>
                      <a:rPr lang="en-IN" sz="1000" i="1"/>
                      <m:t>𝑘</m:t>
                    </m:r>
                  </m:oMath>
                </a14:m>
                <a:r>
                  <a:rPr lang="en-IN" sz="1000" dirty="0">
                    <a:ea typeface="Sans Serif Collection" panose="020B0502040504020204" pitchFamily="34" charset="0"/>
                    <a:cs typeface="Sans Serif Collection" panose="020B0502040504020204" pitchFamily="34" charset="0"/>
                  </a:rPr>
                  <a:t>= permeability (</a:t>
                </a:r>
                <a:r>
                  <a:rPr lang="en-IN" sz="1000" dirty="0" err="1">
                    <a:ea typeface="Sans Serif Collection" panose="020B0502040504020204" pitchFamily="34" charset="0"/>
                    <a:cs typeface="Sans Serif Collection" panose="020B0502040504020204" pitchFamily="34" charset="0"/>
                  </a:rPr>
                  <a:t>mD</a:t>
                </a:r>
                <a:r>
                  <a:rPr lang="en-IN" sz="1000" dirty="0">
                    <a:ea typeface="Sans Serif Collection" panose="020B0502040504020204" pitchFamily="34" charset="0"/>
                    <a:cs typeface="Sans Serif Collection" panose="020B0502040504020204" pitchFamily="34" charset="0"/>
                  </a:rPr>
                  <a:t>)</a:t>
                </a:r>
              </a:p>
              <a:p>
                <a:pPr>
                  <a:buFont typeface="Arial" panose="020B0604020202020204" pitchFamily="34" charset="0"/>
                  <a:buChar char="•"/>
                </a:pPr>
                <a14:m>
                  <m:oMath xmlns:m="http://schemas.openxmlformats.org/officeDocument/2006/math">
                    <m:r>
                      <a:rPr lang="en-IN" sz="1000" i="1"/>
                      <m:t>𝜙</m:t>
                    </m:r>
                  </m:oMath>
                </a14:m>
                <a:r>
                  <a:rPr lang="en-IN" sz="1000" dirty="0">
                    <a:ea typeface="Sans Serif Collection" panose="020B0502040504020204" pitchFamily="34" charset="0"/>
                    <a:cs typeface="Sans Serif Collection" panose="020B0502040504020204" pitchFamily="34" charset="0"/>
                  </a:rPr>
                  <a:t>= porosity (fraction)</a:t>
                </a:r>
              </a:p>
              <a:p>
                <a:pPr>
                  <a:buFont typeface="Arial" panose="020B0604020202020204" pitchFamily="34" charset="0"/>
                  <a:buChar char="•"/>
                </a:pPr>
                <a14:m>
                  <m:oMath xmlns:m="http://schemas.openxmlformats.org/officeDocument/2006/math">
                    <m:r>
                      <a:rPr lang="en-IN" sz="1000" i="1"/>
                      <m:t>𝐴</m:t>
                    </m:r>
                  </m:oMath>
                </a14:m>
                <a:r>
                  <a:rPr lang="en-IN" sz="1000" dirty="0">
                    <a:ea typeface="Sans Serif Collection" panose="020B0502040504020204" pitchFamily="34" charset="0"/>
                    <a:cs typeface="Sans Serif Collection" panose="020B0502040504020204" pitchFamily="34" charset="0"/>
                  </a:rPr>
                  <a:t>= regression constant</a:t>
                </a:r>
              </a:p>
              <a:p>
                <a:pPr>
                  <a:buFont typeface="Arial" panose="020B0604020202020204" pitchFamily="34" charset="0"/>
                  <a:buChar char="•"/>
                </a:pPr>
                <a14:m>
                  <m:oMath xmlns:m="http://schemas.openxmlformats.org/officeDocument/2006/math">
                    <m:r>
                      <a:rPr lang="en-IN" sz="1000" i="1"/>
                      <m:t>𝐵</m:t>
                    </m:r>
                  </m:oMath>
                </a14:m>
                <a:r>
                  <a:rPr lang="en-IN" sz="1000" dirty="0">
                    <a:ea typeface="Sans Serif Collection" panose="020B0502040504020204" pitchFamily="34" charset="0"/>
                    <a:cs typeface="Sans Serif Collection" panose="020B0502040504020204" pitchFamily="34" charset="0"/>
                  </a:rPr>
                  <a:t>= exponent controlling sensitivity of permeability to porosity</a:t>
                </a:r>
              </a:p>
              <a:p>
                <a:pPr>
                  <a:buNone/>
                </a:pPr>
                <a:r>
                  <a:rPr lang="en-IN" sz="1000" dirty="0">
                    <a:ea typeface="Sans Serif Collection" panose="020B0502040504020204" pitchFamily="34" charset="0"/>
                    <a:cs typeface="Sans Serif Collection" panose="020B0502040504020204" pitchFamily="34" charset="0"/>
                  </a:rPr>
                  <a:t>Constants </a:t>
                </a:r>
                <a14:m>
                  <m:oMath xmlns:m="http://schemas.openxmlformats.org/officeDocument/2006/math">
                    <m:r>
                      <a:rPr lang="en-IN" sz="1000" i="1"/>
                      <m:t>𝐴</m:t>
                    </m:r>
                  </m:oMath>
                </a14:m>
                <a:r>
                  <a:rPr lang="en-IN" sz="1000" dirty="0">
                    <a:ea typeface="Sans Serif Collection" panose="020B0502040504020204" pitchFamily="34" charset="0"/>
                    <a:cs typeface="Sans Serif Collection" panose="020B0502040504020204" pitchFamily="34" charset="0"/>
                  </a:rPr>
                  <a:t>and </a:t>
                </a:r>
                <a14:m>
                  <m:oMath xmlns:m="http://schemas.openxmlformats.org/officeDocument/2006/math">
                    <m:r>
                      <a:rPr lang="en-IN" sz="1000" i="1"/>
                      <m:t>𝐵</m:t>
                    </m:r>
                  </m:oMath>
                </a14:m>
                <a:r>
                  <a:rPr lang="en-IN" sz="1000" dirty="0">
                    <a:ea typeface="Sans Serif Collection" panose="020B0502040504020204" pitchFamily="34" charset="0"/>
                    <a:cs typeface="Sans Serif Collection" panose="020B0502040504020204" pitchFamily="34" charset="0"/>
                  </a:rPr>
                  <a:t> were determined using </a:t>
                </a:r>
                <a:r>
                  <a:rPr lang="en-IN" sz="1000" b="1" dirty="0">
                    <a:ea typeface="Sans Serif Collection" panose="020B0502040504020204" pitchFamily="34" charset="0"/>
                    <a:cs typeface="Sans Serif Collection" panose="020B0502040504020204" pitchFamily="34" charset="0"/>
                  </a:rPr>
                  <a:t>log-log regression</a:t>
                </a:r>
                <a:r>
                  <a:rPr lang="en-IN" sz="1000" dirty="0">
                    <a:ea typeface="Sans Serif Collection" panose="020B0502040504020204" pitchFamily="34" charset="0"/>
                    <a:cs typeface="Sans Serif Collection" panose="020B0502040504020204" pitchFamily="34" charset="0"/>
                  </a:rPr>
                  <a:t> of the core dataset.</a:t>
                </a:r>
              </a:p>
            </p:txBody>
          </p:sp>
        </mc:Choice>
        <mc:Fallback>
          <p:sp>
            <p:nvSpPr>
              <p:cNvPr id="24" name="TextBox 23">
                <a:extLst>
                  <a:ext uri="{FF2B5EF4-FFF2-40B4-BE49-F238E27FC236}">
                    <a16:creationId xmlns:a16="http://schemas.microsoft.com/office/drawing/2014/main" id="{FB2F70D4-007E-C102-E3C0-A64323F688D5}"/>
                  </a:ext>
                </a:extLst>
              </p:cNvPr>
              <p:cNvSpPr txBox="1">
                <a:spLocks noRot="1" noChangeAspect="1" noMove="1" noResize="1" noEditPoints="1" noAdjustHandles="1" noChangeArrowheads="1" noChangeShapeType="1" noTextEdit="1"/>
              </p:cNvSpPr>
              <p:nvPr/>
            </p:nvSpPr>
            <p:spPr>
              <a:xfrm>
                <a:off x="6961074" y="1847607"/>
                <a:ext cx="3007536" cy="1785104"/>
              </a:xfrm>
              <a:prstGeom prst="rect">
                <a:avLst/>
              </a:prstGeom>
              <a:blipFill>
                <a:blip r:embed="rId18"/>
                <a:stretch>
                  <a:fillRect b="-1365"/>
                </a:stretch>
              </a:blipFill>
            </p:spPr>
            <p:txBody>
              <a:bodyPr/>
              <a:lstStyle/>
              <a:p>
                <a:r>
                  <a:rPr lang="en-IN">
                    <a:noFill/>
                  </a:rPr>
                  <a:t> </a:t>
                </a:r>
              </a:p>
            </p:txBody>
          </p:sp>
        </mc:Fallback>
      </mc:AlternateContent>
      <p:sp>
        <p:nvSpPr>
          <p:cNvPr id="27" name="TextBox 26">
            <a:extLst>
              <a:ext uri="{FF2B5EF4-FFF2-40B4-BE49-F238E27FC236}">
                <a16:creationId xmlns:a16="http://schemas.microsoft.com/office/drawing/2014/main" id="{8EB84BD8-D9E9-A86E-FC27-F332B0034584}"/>
              </a:ext>
            </a:extLst>
          </p:cNvPr>
          <p:cNvSpPr txBox="1"/>
          <p:nvPr/>
        </p:nvSpPr>
        <p:spPr>
          <a:xfrm>
            <a:off x="6938487" y="1672124"/>
            <a:ext cx="2735307" cy="246221"/>
          </a:xfrm>
          <a:prstGeom prst="rect">
            <a:avLst/>
          </a:prstGeom>
          <a:noFill/>
        </p:spPr>
        <p:txBody>
          <a:bodyPr wrap="square">
            <a:spAutoFit/>
          </a:bodyPr>
          <a:lstStyle/>
          <a:p>
            <a:r>
              <a:rPr lang="en-IN" sz="1000" dirty="0"/>
              <a:t>Using the </a:t>
            </a:r>
            <a:r>
              <a:rPr lang="en-IN" sz="1000" dirty="0" err="1"/>
              <a:t>crossplots</a:t>
            </a:r>
            <a:r>
              <a:rPr lang="en-IN" sz="1000" dirty="0"/>
              <a:t> of porosity vs permeability</a:t>
            </a:r>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0A637470-664D-C437-2002-ABFA3F796E28}"/>
                  </a:ext>
                </a:extLst>
              </p:cNvPr>
              <p:cNvSpPr txBox="1"/>
              <p:nvPr/>
            </p:nvSpPr>
            <p:spPr>
              <a:xfrm>
                <a:off x="7044392" y="3808491"/>
                <a:ext cx="1382856" cy="1483355"/>
              </a:xfrm>
              <a:prstGeom prst="rect">
                <a:avLst/>
              </a:prstGeom>
              <a:noFill/>
            </p:spPr>
            <p:txBody>
              <a:bodyPr wrap="square">
                <a:spAutoFit/>
              </a:bodyPr>
              <a:lstStyle/>
              <a:p>
                <a:pPr>
                  <a:lnSpc>
                    <a:spcPct val="107000"/>
                  </a:lnSpc>
                  <a:spcAft>
                    <a:spcPts val="800"/>
                  </a:spcAft>
                  <a:buNone/>
                </a:pPr>
                <a:r>
                  <a:rPr lang="en-IN" sz="1000" b="1" kern="100" dirty="0">
                    <a:effectLst/>
                    <a:ea typeface="Aptos" panose="020B0004020202020204" pitchFamily="34" charset="0"/>
                    <a:cs typeface="Times New Roman" panose="02020603050405020304" pitchFamily="18" charset="0"/>
                  </a:rPr>
                  <a:t>Flow Capacity (</a:t>
                </a:r>
                <a:r>
                  <a:rPr lang="en-IN" sz="1000" b="1" kern="100" dirty="0">
                    <a:ea typeface="Aptos" panose="020B0004020202020204" pitchFamily="34" charset="0"/>
                    <a:cs typeface="Times New Roman" panose="02020603050405020304" pitchFamily="18" charset="0"/>
                  </a:rPr>
                  <a:t>F</a:t>
                </a:r>
                <a:r>
                  <a:rPr lang="en-IN" sz="1000" b="1" kern="100" dirty="0">
                    <a:effectLst/>
                    <a:ea typeface="Aptos" panose="020B0004020202020204" pitchFamily="34" charset="0"/>
                    <a:cs typeface="Times New Roman" panose="02020603050405020304" pitchFamily="18" charset="0"/>
                  </a:rPr>
                  <a:t>)</a:t>
                </a:r>
                <a:endParaRPr lang="en-IN" sz="10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en-IN" sz="1000" kern="100" dirty="0">
                    <a:effectLst/>
                    <a:ea typeface="Aptos" panose="020B0004020202020204" pitchFamily="34" charset="0"/>
                    <a:cs typeface="Times New Roman" panose="02020603050405020304" pitchFamily="18" charset="0"/>
                  </a:rPr>
                  <a:t>        F=k*h</a:t>
                </a:r>
              </a:p>
              <a:p>
                <a:pPr>
                  <a:lnSpc>
                    <a:spcPct val="107000"/>
                  </a:lnSpc>
                  <a:spcAft>
                    <a:spcPts val="800"/>
                  </a:spcAft>
                  <a:buNone/>
                </a:pPr>
                <a:r>
                  <a:rPr lang="en-IN" sz="1000" kern="100" dirty="0">
                    <a:effectLst/>
                    <a:ea typeface="Aptos" panose="020B0004020202020204" pitchFamily="34" charset="0"/>
                    <a:cs typeface="Times New Roman" panose="02020603050405020304" pitchFamily="18" charset="0"/>
                  </a:rPr>
                  <a:t>Where:</a:t>
                </a:r>
              </a:p>
              <a:p>
                <a:pPr lvl="0">
                  <a:lnSpc>
                    <a:spcPct val="107000"/>
                  </a:lnSpc>
                  <a:spcAft>
                    <a:spcPts val="800"/>
                  </a:spcAft>
                  <a:buSzPts val="1000"/>
                  <a:tabLst>
                    <a:tab pos="457200" algn="l"/>
                  </a:tabLst>
                </a:pPr>
                <a14:m>
                  <m:oMath xmlns:m="http://schemas.openxmlformats.org/officeDocument/2006/math">
                    <m:r>
                      <a:rPr lang="en-IN" sz="1000" i="1" kern="100">
                        <a:effectLst/>
                        <a:latin typeface="Cambria Math" panose="02040503050406030204" pitchFamily="18" charset="0"/>
                        <a:ea typeface="Aptos" panose="020B0004020202020204" pitchFamily="34" charset="0"/>
                        <a:cs typeface="Times New Roman" panose="02020603050405020304" pitchFamily="18" charset="0"/>
                      </a:rPr>
                      <m:t>𝑘</m:t>
                    </m:r>
                  </m:oMath>
                </a14:m>
                <a:r>
                  <a:rPr lang="en-IN" sz="1000" kern="100" dirty="0">
                    <a:effectLst/>
                    <a:ea typeface="Aptos" panose="020B0004020202020204" pitchFamily="34" charset="0"/>
                    <a:cs typeface="Times New Roman" panose="02020603050405020304" pitchFamily="18" charset="0"/>
                  </a:rPr>
                  <a:t>= permeability (</a:t>
                </a:r>
                <a:r>
                  <a:rPr lang="en-IN" sz="1000" kern="100" dirty="0" err="1">
                    <a:effectLst/>
                    <a:ea typeface="Aptos" panose="020B0004020202020204" pitchFamily="34" charset="0"/>
                    <a:cs typeface="Times New Roman" panose="02020603050405020304" pitchFamily="18" charset="0"/>
                  </a:rPr>
                  <a:t>mD</a:t>
                </a:r>
                <a:r>
                  <a:rPr lang="en-IN" sz="1000" kern="100" dirty="0">
                    <a:effectLst/>
                    <a:ea typeface="Aptos" panose="020B0004020202020204" pitchFamily="34" charset="0"/>
                    <a:cs typeface="Times New Roman" panose="02020603050405020304" pitchFamily="18" charset="0"/>
                  </a:rPr>
                  <a:t>)</a:t>
                </a:r>
              </a:p>
              <a:p>
                <a:pPr lvl="0">
                  <a:lnSpc>
                    <a:spcPct val="107000"/>
                  </a:lnSpc>
                  <a:spcAft>
                    <a:spcPts val="800"/>
                  </a:spcAft>
                  <a:buSzPts val="1000"/>
                  <a:tabLst>
                    <a:tab pos="457200" algn="l"/>
                  </a:tabLst>
                </a:pPr>
                <a14:m>
                  <m:oMath xmlns:m="http://schemas.openxmlformats.org/officeDocument/2006/math">
                    <m:r>
                      <a:rPr lang="en-IN" sz="1000" i="1" kern="100">
                        <a:effectLst/>
                        <a:latin typeface="Cambria Math" panose="02040503050406030204" pitchFamily="18" charset="0"/>
                        <a:ea typeface="Aptos" panose="020B0004020202020204" pitchFamily="34" charset="0"/>
                        <a:cs typeface="Times New Roman" panose="02020603050405020304" pitchFamily="18" charset="0"/>
                      </a:rPr>
                      <m:t>h</m:t>
                    </m:r>
                  </m:oMath>
                </a14:m>
                <a:r>
                  <a:rPr lang="en-IN" sz="1000" kern="100" dirty="0">
                    <a:effectLst/>
                    <a:ea typeface="Aptos" panose="020B0004020202020204" pitchFamily="34" charset="0"/>
                    <a:cs typeface="Times New Roman" panose="02020603050405020304" pitchFamily="18" charset="0"/>
                  </a:rPr>
                  <a:t>= net pay thickness (m)</a:t>
                </a:r>
              </a:p>
            </p:txBody>
          </p:sp>
        </mc:Choice>
        <mc:Fallback>
          <p:sp>
            <p:nvSpPr>
              <p:cNvPr id="29" name="TextBox 28">
                <a:extLst>
                  <a:ext uri="{FF2B5EF4-FFF2-40B4-BE49-F238E27FC236}">
                    <a16:creationId xmlns:a16="http://schemas.microsoft.com/office/drawing/2014/main" id="{0A637470-664D-C437-2002-ABFA3F796E28}"/>
                  </a:ext>
                </a:extLst>
              </p:cNvPr>
              <p:cNvSpPr txBox="1">
                <a:spLocks noRot="1" noChangeAspect="1" noMove="1" noResize="1" noEditPoints="1" noAdjustHandles="1" noChangeArrowheads="1" noChangeShapeType="1" noTextEdit="1"/>
              </p:cNvSpPr>
              <p:nvPr/>
            </p:nvSpPr>
            <p:spPr>
              <a:xfrm>
                <a:off x="7044392" y="3808491"/>
                <a:ext cx="1382856" cy="1483355"/>
              </a:xfrm>
              <a:prstGeom prst="rect">
                <a:avLst/>
              </a:prstGeom>
              <a:blipFill>
                <a:blip r:embed="rId19"/>
                <a:stretch>
                  <a:fillRect b="-1235"/>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9D60C23F-76E4-81BC-E842-3F4D65C21DAC}"/>
                  </a:ext>
                </a:extLst>
              </p:cNvPr>
              <p:cNvSpPr txBox="1"/>
              <p:nvPr/>
            </p:nvSpPr>
            <p:spPr>
              <a:xfrm>
                <a:off x="8279441" y="3875365"/>
                <a:ext cx="1722757" cy="1215910"/>
              </a:xfrm>
              <a:prstGeom prst="rect">
                <a:avLst/>
              </a:prstGeom>
              <a:noFill/>
            </p:spPr>
            <p:txBody>
              <a:bodyPr wrap="square">
                <a:spAutoFit/>
              </a:bodyPr>
              <a:lstStyle/>
              <a:p>
                <a:pPr marL="457200" lvl="1">
                  <a:lnSpc>
                    <a:spcPct val="107000"/>
                  </a:lnSpc>
                  <a:spcAft>
                    <a:spcPts val="800"/>
                  </a:spcAft>
                </a:pPr>
                <a:r>
                  <a:rPr lang="en-IN" sz="1000" b="1" kern="100" dirty="0">
                    <a:effectLst/>
                    <a:latin typeface="Aptos" panose="020B0004020202020204" pitchFamily="34" charset="0"/>
                    <a:ea typeface="Aptos" panose="020B0004020202020204" pitchFamily="34" charset="0"/>
                    <a:cs typeface="Times New Roman" panose="02020603050405020304" pitchFamily="18" charset="0"/>
                  </a:rPr>
                  <a:t>Reservoir Quality</a:t>
                </a:r>
              </a:p>
              <a:p>
                <a:pPr marL="457200" lvl="1">
                  <a:lnSpc>
                    <a:spcPct val="107000"/>
                  </a:lnSpc>
                  <a:spcAft>
                    <a:spcPts val="800"/>
                  </a:spcAft>
                </a:pPr>
                <a:r>
                  <a:rPr lang="en-IN" sz="1000" b="1" kern="100" dirty="0">
                    <a:effectLst/>
                    <a:latin typeface="Aptos" panose="020B0004020202020204" pitchFamily="34" charset="0"/>
                    <a:ea typeface="Aptos" panose="020B0004020202020204" pitchFamily="34" charset="0"/>
                    <a:cs typeface="Times New Roman" panose="02020603050405020304" pitchFamily="18" charset="0"/>
                  </a:rPr>
                  <a:t>Index (RQI)</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IN" sz="1000" b="0" i="1" kern="100" smtClean="0">
                          <a:effectLst/>
                          <a:latin typeface="Cambria Math" panose="02040503050406030204" pitchFamily="18" charset="0"/>
                          <a:ea typeface="Aptos" panose="020B0004020202020204" pitchFamily="34" charset="0"/>
                          <a:cs typeface="Times New Roman" panose="02020603050405020304" pitchFamily="18" charset="0"/>
                        </a:rPr>
                        <m:t>           </m:t>
                      </m:r>
                      <m:r>
                        <a:rPr lang="en-IN" sz="1000" i="1" kern="100">
                          <a:effectLst/>
                          <a:latin typeface="Cambria Math" panose="02040503050406030204" pitchFamily="18" charset="0"/>
                          <a:ea typeface="Aptos" panose="020B0004020202020204" pitchFamily="34" charset="0"/>
                          <a:cs typeface="Times New Roman" panose="02020603050405020304" pitchFamily="18" charset="0"/>
                        </a:rPr>
                        <m:t>𝑅𝑄𝐼</m:t>
                      </m:r>
                      <m:r>
                        <a:rPr lang="en-IN" sz="1000" i="1" kern="100">
                          <a:effectLst/>
                          <a:latin typeface="Cambria Math" panose="02040503050406030204" pitchFamily="18" charset="0"/>
                          <a:ea typeface="Aptos" panose="020B0004020202020204" pitchFamily="34" charset="0"/>
                          <a:cs typeface="Times New Roman" panose="02020603050405020304" pitchFamily="18" charset="0"/>
                        </a:rPr>
                        <m:t>=</m:t>
                      </m:r>
                      <m:r>
                        <a:rPr lang="en-IN" sz="1000" i="1" kern="100">
                          <a:effectLst/>
                          <a:latin typeface="Cambria Math" panose="02040503050406030204" pitchFamily="18" charset="0"/>
                          <a:ea typeface="Aptos" panose="020B0004020202020204" pitchFamily="34" charset="0"/>
                          <a:cs typeface="Times New Roman" panose="02020603050405020304" pitchFamily="18" charset="0"/>
                        </a:rPr>
                        <m:t>0</m:t>
                      </m:r>
                      <m:r>
                        <a:rPr lang="en-IN" sz="1000" i="1" kern="100">
                          <a:effectLst/>
                          <a:latin typeface="Cambria Math" panose="02040503050406030204" pitchFamily="18" charset="0"/>
                          <a:ea typeface="Aptos" panose="020B0004020202020204" pitchFamily="34" charset="0"/>
                          <a:cs typeface="Times New Roman" panose="02020603050405020304" pitchFamily="18" charset="0"/>
                        </a:rPr>
                        <m:t>.</m:t>
                      </m:r>
                      <m:r>
                        <a:rPr lang="en-IN" sz="1000" i="1" kern="100">
                          <a:effectLst/>
                          <a:latin typeface="Cambria Math" panose="02040503050406030204" pitchFamily="18" charset="0"/>
                          <a:ea typeface="Aptos" panose="020B0004020202020204" pitchFamily="34" charset="0"/>
                          <a:cs typeface="Times New Roman" panose="02020603050405020304" pitchFamily="18" charset="0"/>
                        </a:rPr>
                        <m:t>0314</m:t>
                      </m:r>
                      <m:rad>
                        <m:radPr>
                          <m:degHide m:val="on"/>
                          <m:ctrlPr>
                            <a:rPr lang="en-IN" sz="1000" i="1" kern="100">
                              <a:effectLst/>
                              <a:latin typeface="Cambria Math" panose="02040503050406030204" pitchFamily="18" charset="0"/>
                              <a:ea typeface="Aptos" panose="020B0004020202020204" pitchFamily="34" charset="0"/>
                              <a:cs typeface="Times New Roman" panose="02020603050405020304" pitchFamily="18" charset="0"/>
                            </a:rPr>
                          </m:ctrlPr>
                        </m:radPr>
                        <m:deg/>
                        <m:e>
                          <m:f>
                            <m:fPr>
                              <m:ctrlPr>
                                <a:rPr lang="en-IN" sz="10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IN" sz="1000" i="1" kern="100">
                                  <a:effectLst/>
                                  <a:latin typeface="Cambria Math" panose="02040503050406030204" pitchFamily="18" charset="0"/>
                                  <a:ea typeface="Aptos" panose="020B0004020202020204" pitchFamily="34" charset="0"/>
                                  <a:cs typeface="Times New Roman" panose="02020603050405020304" pitchFamily="18" charset="0"/>
                                </a:rPr>
                                <m:t>𝑘</m:t>
                              </m:r>
                            </m:num>
                            <m:den>
                              <m:r>
                                <a:rPr lang="en-IN" sz="1000" i="1" kern="100">
                                  <a:effectLst/>
                                  <a:latin typeface="Cambria Math" panose="02040503050406030204" pitchFamily="18" charset="0"/>
                                  <a:ea typeface="Aptos" panose="020B0004020202020204" pitchFamily="34" charset="0"/>
                                  <a:cs typeface="Times New Roman" panose="02020603050405020304" pitchFamily="18" charset="0"/>
                                </a:rPr>
                                <m:t>𝜙</m:t>
                              </m:r>
                            </m:den>
                          </m:f>
                        </m:e>
                      </m:rad>
                    </m:oMath>
                  </m:oMathPara>
                </a14:m>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30" name="TextBox 29">
                <a:extLst>
                  <a:ext uri="{FF2B5EF4-FFF2-40B4-BE49-F238E27FC236}">
                    <a16:creationId xmlns:a16="http://schemas.microsoft.com/office/drawing/2014/main" id="{9D60C23F-76E4-81BC-E842-3F4D65C21DAC}"/>
                  </a:ext>
                </a:extLst>
              </p:cNvPr>
              <p:cNvSpPr txBox="1">
                <a:spLocks noRot="1" noChangeAspect="1" noMove="1" noResize="1" noEditPoints="1" noAdjustHandles="1" noChangeArrowheads="1" noChangeShapeType="1" noTextEdit="1"/>
              </p:cNvSpPr>
              <p:nvPr/>
            </p:nvSpPr>
            <p:spPr>
              <a:xfrm>
                <a:off x="8279441" y="3875365"/>
                <a:ext cx="1722757" cy="1215910"/>
              </a:xfrm>
              <a:prstGeom prst="rect">
                <a:avLst/>
              </a:prstGeom>
              <a:blipFill>
                <a:blip r:embed="rId20"/>
                <a:stretch>
                  <a:fillRect/>
                </a:stretch>
              </a:blipFill>
            </p:spPr>
            <p:txBody>
              <a:bodyPr/>
              <a:lstStyle/>
              <a:p>
                <a:r>
                  <a:rPr lang="en-IN">
                    <a:noFill/>
                  </a:rPr>
                  <a:t> </a:t>
                </a:r>
              </a:p>
            </p:txBody>
          </p:sp>
        </mc:Fallback>
      </mc:AlternateContent>
      <p:sp>
        <p:nvSpPr>
          <p:cNvPr id="38" name="Rectangle 37">
            <a:extLst>
              <a:ext uri="{FF2B5EF4-FFF2-40B4-BE49-F238E27FC236}">
                <a16:creationId xmlns:a16="http://schemas.microsoft.com/office/drawing/2014/main" id="{193BA4A8-4D17-3955-1DA8-1F89A5A76E19}"/>
              </a:ext>
            </a:extLst>
          </p:cNvPr>
          <p:cNvSpPr/>
          <p:nvPr/>
        </p:nvSpPr>
        <p:spPr>
          <a:xfrm>
            <a:off x="6990291" y="2024614"/>
            <a:ext cx="815753" cy="204751"/>
          </a:xfrm>
          <a:prstGeom prst="rect">
            <a:avLst/>
          </a:prstGeom>
          <a:noFill/>
          <a:ln w="6350"/>
        </p:spPr>
        <p:style>
          <a:lnRef idx="2">
            <a:schemeClr val="accent3"/>
          </a:lnRef>
          <a:fillRef idx="1">
            <a:schemeClr val="lt1"/>
          </a:fillRef>
          <a:effectRef idx="0">
            <a:schemeClr val="accent3"/>
          </a:effectRef>
          <a:fontRef idx="minor">
            <a:schemeClr val="dk1"/>
          </a:fontRef>
        </p:style>
        <p:txBody>
          <a:bodyPr rtlCol="0" anchor="ctr"/>
          <a:lstStyle/>
          <a:p>
            <a:pPr algn="ctr"/>
            <a:endParaRPr lang="en-IN" dirty="0"/>
          </a:p>
        </p:txBody>
      </p:sp>
      <p:sp>
        <p:nvSpPr>
          <p:cNvPr id="42" name="Rectangle 41">
            <a:extLst>
              <a:ext uri="{FF2B5EF4-FFF2-40B4-BE49-F238E27FC236}">
                <a16:creationId xmlns:a16="http://schemas.microsoft.com/office/drawing/2014/main" id="{C8A4A681-6544-6D16-D0DA-AC94BA11AE50}"/>
              </a:ext>
            </a:extLst>
          </p:cNvPr>
          <p:cNvSpPr/>
          <p:nvPr/>
        </p:nvSpPr>
        <p:spPr>
          <a:xfrm>
            <a:off x="7141041" y="4086480"/>
            <a:ext cx="815753" cy="204751"/>
          </a:xfrm>
          <a:prstGeom prst="rect">
            <a:avLst/>
          </a:prstGeom>
          <a:noFill/>
          <a:ln w="6350"/>
        </p:spPr>
        <p:style>
          <a:lnRef idx="2">
            <a:schemeClr val="accent3"/>
          </a:lnRef>
          <a:fillRef idx="1">
            <a:schemeClr val="lt1"/>
          </a:fillRef>
          <a:effectRef idx="0">
            <a:schemeClr val="accent3"/>
          </a:effectRef>
          <a:fontRef idx="minor">
            <a:schemeClr val="dk1"/>
          </a:fontRef>
        </p:style>
        <p:txBody>
          <a:bodyPr rtlCol="0" anchor="ctr"/>
          <a:lstStyle/>
          <a:p>
            <a:pPr algn="ctr"/>
            <a:endParaRPr lang="en-IN" dirty="0"/>
          </a:p>
        </p:txBody>
      </p:sp>
      <p:sp>
        <p:nvSpPr>
          <p:cNvPr id="48" name="Rectangle 47">
            <a:extLst>
              <a:ext uri="{FF2B5EF4-FFF2-40B4-BE49-F238E27FC236}">
                <a16:creationId xmlns:a16="http://schemas.microsoft.com/office/drawing/2014/main" id="{1DE45123-D568-E46F-888D-53EBD4B6C20B}"/>
              </a:ext>
            </a:extLst>
          </p:cNvPr>
          <p:cNvSpPr/>
          <p:nvPr/>
        </p:nvSpPr>
        <p:spPr>
          <a:xfrm>
            <a:off x="8777439" y="4407535"/>
            <a:ext cx="1054801" cy="643310"/>
          </a:xfrm>
          <a:prstGeom prst="rect">
            <a:avLst/>
          </a:prstGeom>
          <a:noFill/>
          <a:ln w="6350"/>
        </p:spPr>
        <p:style>
          <a:lnRef idx="2">
            <a:schemeClr val="accent3"/>
          </a:lnRef>
          <a:fillRef idx="1">
            <a:schemeClr val="lt1"/>
          </a:fillRef>
          <a:effectRef idx="0">
            <a:schemeClr val="accent3"/>
          </a:effectRef>
          <a:fontRef idx="minor">
            <a:schemeClr val="dk1"/>
          </a:fontRef>
        </p:style>
        <p:txBody>
          <a:bodyPr rtlCol="0" anchor="ctr"/>
          <a:lstStyle/>
          <a:p>
            <a:pPr algn="ctr"/>
            <a:endParaRPr lang="en-IN" dirty="0"/>
          </a:p>
        </p:txBody>
      </p:sp>
      <p:sp>
        <p:nvSpPr>
          <p:cNvPr id="49" name="TextBox 48">
            <a:extLst>
              <a:ext uri="{FF2B5EF4-FFF2-40B4-BE49-F238E27FC236}">
                <a16:creationId xmlns:a16="http://schemas.microsoft.com/office/drawing/2014/main" id="{08B7CF4A-9FD5-1A58-BDA1-F9D5B000C5EB}"/>
              </a:ext>
            </a:extLst>
          </p:cNvPr>
          <p:cNvSpPr txBox="1"/>
          <p:nvPr/>
        </p:nvSpPr>
        <p:spPr>
          <a:xfrm>
            <a:off x="6938487" y="3568322"/>
            <a:ext cx="2744251" cy="276999"/>
          </a:xfrm>
          <a:prstGeom prst="rect">
            <a:avLst/>
          </a:prstGeom>
          <a:noFill/>
        </p:spPr>
        <p:txBody>
          <a:bodyPr wrap="square" rtlCol="0">
            <a:spAutoFit/>
          </a:bodyPr>
          <a:lstStyle/>
          <a:p>
            <a:r>
              <a:rPr lang="en-IN" sz="1200" b="1" dirty="0">
                <a:solidFill>
                  <a:srgbClr val="006600"/>
                </a:solidFill>
              </a:rPr>
              <a:t>Reservoir Deliverability Characteristics</a:t>
            </a:r>
          </a:p>
        </p:txBody>
      </p:sp>
      <p:pic>
        <p:nvPicPr>
          <p:cNvPr id="51" name="Picture 50">
            <a:extLst>
              <a:ext uri="{FF2B5EF4-FFF2-40B4-BE49-F238E27FC236}">
                <a16:creationId xmlns:a16="http://schemas.microsoft.com/office/drawing/2014/main" id="{20769887-A74F-EFCF-4F2D-9011E0CAF55B}"/>
              </a:ext>
            </a:extLst>
          </p:cNvPr>
          <p:cNvPicPr>
            <a:picLocks noChangeAspect="1"/>
          </p:cNvPicPr>
          <p:nvPr/>
        </p:nvPicPr>
        <p:blipFill>
          <a:blip r:embed="rId21"/>
          <a:stretch>
            <a:fillRect/>
          </a:stretch>
        </p:blipFill>
        <p:spPr>
          <a:xfrm>
            <a:off x="8333199" y="2085199"/>
            <a:ext cx="1647260" cy="808320"/>
          </a:xfrm>
          <a:prstGeom prst="rect">
            <a:avLst/>
          </a:prstGeom>
        </p:spPr>
      </p:pic>
    </p:spTree>
    <p:extLst>
      <p:ext uri="{BB962C8B-B14F-4D97-AF65-F5344CB8AC3E}">
        <p14:creationId xmlns:p14="http://schemas.microsoft.com/office/powerpoint/2010/main" val="3747618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E153B-2D20-2D13-FEC5-1D311F9AF6C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949B70F-315C-6DCC-D6CB-B7FDE6B6273D}"/>
              </a:ext>
            </a:extLst>
          </p:cNvPr>
          <p:cNvSpPr txBox="1"/>
          <p:nvPr/>
        </p:nvSpPr>
        <p:spPr>
          <a:xfrm>
            <a:off x="84771" y="107069"/>
            <a:ext cx="5400837" cy="338554"/>
          </a:xfrm>
          <a:prstGeom prst="rect">
            <a:avLst/>
          </a:prstGeom>
          <a:noFill/>
        </p:spPr>
        <p:txBody>
          <a:bodyPr wrap="none" rtlCol="0">
            <a:spAutoFit/>
          </a:bodyPr>
          <a:lstStyle/>
          <a:p>
            <a:r>
              <a:rPr lang="en-IN" sz="16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Quantitative Petrophysical Analysis and Interpretation</a:t>
            </a:r>
          </a:p>
        </p:txBody>
      </p:sp>
      <p:sp>
        <p:nvSpPr>
          <p:cNvPr id="32" name="Rectangle 31">
            <a:extLst>
              <a:ext uri="{FF2B5EF4-FFF2-40B4-BE49-F238E27FC236}">
                <a16:creationId xmlns:a16="http://schemas.microsoft.com/office/drawing/2014/main" id="{BA7C41AD-FB1D-AFE4-7BA4-6473120DBA92}"/>
              </a:ext>
            </a:extLst>
          </p:cNvPr>
          <p:cNvSpPr/>
          <p:nvPr/>
        </p:nvSpPr>
        <p:spPr>
          <a:xfrm>
            <a:off x="5414741" y="4585948"/>
            <a:ext cx="922971" cy="359683"/>
          </a:xfrm>
          <a:prstGeom prst="rect">
            <a:avLst/>
          </a:prstGeom>
          <a:solidFill>
            <a:srgbClr val="00CC3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dirty="0">
                <a:solidFill>
                  <a:schemeClr val="tx1"/>
                </a:solidFill>
              </a:rPr>
              <a:t>Non Reservoir</a:t>
            </a:r>
          </a:p>
        </p:txBody>
      </p:sp>
      <p:sp>
        <p:nvSpPr>
          <p:cNvPr id="33" name="Rectangle 32">
            <a:extLst>
              <a:ext uri="{FF2B5EF4-FFF2-40B4-BE49-F238E27FC236}">
                <a16:creationId xmlns:a16="http://schemas.microsoft.com/office/drawing/2014/main" id="{F61B6118-537F-877A-BB8E-DE46E6F30FCB}"/>
              </a:ext>
            </a:extLst>
          </p:cNvPr>
          <p:cNvSpPr/>
          <p:nvPr/>
        </p:nvSpPr>
        <p:spPr>
          <a:xfrm>
            <a:off x="5414742" y="4997211"/>
            <a:ext cx="929640" cy="368762"/>
          </a:xfrm>
          <a:prstGeom prst="rect">
            <a:avLst/>
          </a:prstGeom>
          <a:solidFill>
            <a:srgbClr val="FFFFA5"/>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dirty="0">
                <a:solidFill>
                  <a:schemeClr val="tx1"/>
                </a:solidFill>
              </a:rPr>
              <a:t>Reservoir</a:t>
            </a:r>
          </a:p>
        </p:txBody>
      </p:sp>
      <p:sp>
        <p:nvSpPr>
          <p:cNvPr id="37" name="Rectangle 36">
            <a:extLst>
              <a:ext uri="{FF2B5EF4-FFF2-40B4-BE49-F238E27FC236}">
                <a16:creationId xmlns:a16="http://schemas.microsoft.com/office/drawing/2014/main" id="{7BDE7C70-785F-F987-4F91-066F5DC7DC0D}"/>
              </a:ext>
            </a:extLst>
          </p:cNvPr>
          <p:cNvSpPr/>
          <p:nvPr/>
        </p:nvSpPr>
        <p:spPr>
          <a:xfrm>
            <a:off x="3487709" y="4575108"/>
            <a:ext cx="815340" cy="370523"/>
          </a:xfrm>
          <a:prstGeom prst="rect">
            <a:avLst/>
          </a:prstGeom>
          <a:solidFill>
            <a:srgbClr val="FFCFEA"/>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dirty="0">
                <a:solidFill>
                  <a:schemeClr val="tx1"/>
                </a:solidFill>
              </a:rPr>
              <a:t>Rock Type 1</a:t>
            </a:r>
          </a:p>
        </p:txBody>
      </p:sp>
      <p:sp>
        <p:nvSpPr>
          <p:cNvPr id="38" name="Rectangle 37">
            <a:extLst>
              <a:ext uri="{FF2B5EF4-FFF2-40B4-BE49-F238E27FC236}">
                <a16:creationId xmlns:a16="http://schemas.microsoft.com/office/drawing/2014/main" id="{D9DC5DB2-930C-DED7-8EFF-1C70F285B345}"/>
              </a:ext>
            </a:extLst>
          </p:cNvPr>
          <p:cNvSpPr/>
          <p:nvPr/>
        </p:nvSpPr>
        <p:spPr>
          <a:xfrm>
            <a:off x="3487709" y="4997210"/>
            <a:ext cx="815340" cy="381277"/>
          </a:xfrm>
          <a:prstGeom prst="rect">
            <a:avLst/>
          </a:prstGeom>
          <a:solidFill>
            <a:srgbClr val="FFB4B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dirty="0">
                <a:solidFill>
                  <a:schemeClr val="tx1"/>
                </a:solidFill>
              </a:rPr>
              <a:t>Rock Type 2</a:t>
            </a:r>
          </a:p>
        </p:txBody>
      </p:sp>
      <p:grpSp>
        <p:nvGrpSpPr>
          <p:cNvPr id="69" name="Group 68">
            <a:extLst>
              <a:ext uri="{FF2B5EF4-FFF2-40B4-BE49-F238E27FC236}">
                <a16:creationId xmlns:a16="http://schemas.microsoft.com/office/drawing/2014/main" id="{98AE9C6A-AD89-3C9A-5AD7-94B6968F716A}"/>
              </a:ext>
            </a:extLst>
          </p:cNvPr>
          <p:cNvGrpSpPr/>
          <p:nvPr/>
        </p:nvGrpSpPr>
        <p:grpSpPr>
          <a:xfrm>
            <a:off x="134088" y="4528494"/>
            <a:ext cx="2699597" cy="838928"/>
            <a:chOff x="2176940" y="4829920"/>
            <a:chExt cx="2699597" cy="838928"/>
          </a:xfrm>
        </p:grpSpPr>
        <p:sp>
          <p:nvSpPr>
            <p:cNvPr id="39" name="TextBox 38">
              <a:extLst>
                <a:ext uri="{FF2B5EF4-FFF2-40B4-BE49-F238E27FC236}">
                  <a16:creationId xmlns:a16="http://schemas.microsoft.com/office/drawing/2014/main" id="{4F89FA1D-2ABD-F25A-9CF9-B4F4460E8806}"/>
                </a:ext>
              </a:extLst>
            </p:cNvPr>
            <p:cNvSpPr txBox="1"/>
            <p:nvPr/>
          </p:nvSpPr>
          <p:spPr>
            <a:xfrm>
              <a:off x="2176940" y="4829920"/>
              <a:ext cx="758541" cy="246221"/>
            </a:xfrm>
            <a:prstGeom prst="rect">
              <a:avLst/>
            </a:prstGeom>
            <a:noFill/>
          </p:spPr>
          <p:txBody>
            <a:bodyPr wrap="none" rtlCol="0">
              <a:spAutoFit/>
            </a:bodyPr>
            <a:lstStyle/>
            <a:p>
              <a:r>
                <a:rPr lang="en-IN" sz="1000" dirty="0"/>
                <a:t>Clean Sand</a:t>
              </a:r>
            </a:p>
          </p:txBody>
        </p:sp>
        <p:grpSp>
          <p:nvGrpSpPr>
            <p:cNvPr id="68" name="Group 67">
              <a:extLst>
                <a:ext uri="{FF2B5EF4-FFF2-40B4-BE49-F238E27FC236}">
                  <a16:creationId xmlns:a16="http://schemas.microsoft.com/office/drawing/2014/main" id="{844235E2-1ABC-5256-2F09-CEC9C7A46736}"/>
                </a:ext>
              </a:extLst>
            </p:cNvPr>
            <p:cNvGrpSpPr/>
            <p:nvPr/>
          </p:nvGrpSpPr>
          <p:grpSpPr>
            <a:xfrm>
              <a:off x="2245100" y="4829920"/>
              <a:ext cx="2631437" cy="838928"/>
              <a:chOff x="2245100" y="4829920"/>
              <a:chExt cx="2631437" cy="838928"/>
            </a:xfrm>
          </p:grpSpPr>
          <p:sp>
            <p:nvSpPr>
              <p:cNvPr id="40" name="TextBox 39">
                <a:extLst>
                  <a:ext uri="{FF2B5EF4-FFF2-40B4-BE49-F238E27FC236}">
                    <a16:creationId xmlns:a16="http://schemas.microsoft.com/office/drawing/2014/main" id="{4C4DF289-50E9-84C8-04C0-4C92410671B3}"/>
                  </a:ext>
                </a:extLst>
              </p:cNvPr>
              <p:cNvSpPr txBox="1"/>
              <p:nvPr/>
            </p:nvSpPr>
            <p:spPr>
              <a:xfrm>
                <a:off x="2799479" y="4829920"/>
                <a:ext cx="742511" cy="246221"/>
              </a:xfrm>
              <a:prstGeom prst="rect">
                <a:avLst/>
              </a:prstGeom>
              <a:noFill/>
            </p:spPr>
            <p:txBody>
              <a:bodyPr wrap="none" rtlCol="0">
                <a:spAutoFit/>
              </a:bodyPr>
              <a:lstStyle/>
              <a:p>
                <a:r>
                  <a:rPr lang="en-IN" sz="1000" dirty="0"/>
                  <a:t>Shaly Sand</a:t>
                </a:r>
              </a:p>
            </p:txBody>
          </p:sp>
          <p:sp>
            <p:nvSpPr>
              <p:cNvPr id="42" name="TextBox 41">
                <a:extLst>
                  <a:ext uri="{FF2B5EF4-FFF2-40B4-BE49-F238E27FC236}">
                    <a16:creationId xmlns:a16="http://schemas.microsoft.com/office/drawing/2014/main" id="{DF54CB70-30BC-DB62-9813-E510EE9D4D0C}"/>
                  </a:ext>
                </a:extLst>
              </p:cNvPr>
              <p:cNvSpPr txBox="1"/>
              <p:nvPr/>
            </p:nvSpPr>
            <p:spPr>
              <a:xfrm>
                <a:off x="3395980" y="4830348"/>
                <a:ext cx="465192" cy="246221"/>
              </a:xfrm>
              <a:prstGeom prst="rect">
                <a:avLst/>
              </a:prstGeom>
              <a:noFill/>
            </p:spPr>
            <p:txBody>
              <a:bodyPr wrap="square" rtlCol="0">
                <a:spAutoFit/>
              </a:bodyPr>
              <a:lstStyle/>
              <a:p>
                <a:r>
                  <a:rPr lang="en-IN" sz="1000" dirty="0"/>
                  <a:t>Shale</a:t>
                </a:r>
              </a:p>
            </p:txBody>
          </p:sp>
          <p:grpSp>
            <p:nvGrpSpPr>
              <p:cNvPr id="58" name="Group 57">
                <a:extLst>
                  <a:ext uri="{FF2B5EF4-FFF2-40B4-BE49-F238E27FC236}">
                    <a16:creationId xmlns:a16="http://schemas.microsoft.com/office/drawing/2014/main" id="{0F559C60-9272-4F24-E27F-CFF1BB2736FF}"/>
                  </a:ext>
                </a:extLst>
              </p:cNvPr>
              <p:cNvGrpSpPr/>
              <p:nvPr/>
            </p:nvGrpSpPr>
            <p:grpSpPr>
              <a:xfrm rot="5400000">
                <a:off x="3263712" y="4056023"/>
                <a:ext cx="634853" cy="2590797"/>
                <a:chOff x="3153191" y="4834790"/>
                <a:chExt cx="427958" cy="792177"/>
              </a:xfrm>
            </p:grpSpPr>
            <p:pic>
              <p:nvPicPr>
                <p:cNvPr id="36" name="Picture 35">
                  <a:extLst>
                    <a:ext uri="{FF2B5EF4-FFF2-40B4-BE49-F238E27FC236}">
                      <a16:creationId xmlns:a16="http://schemas.microsoft.com/office/drawing/2014/main" id="{F9039673-ADBB-113B-CA71-EF9BB9564D37}"/>
                    </a:ext>
                  </a:extLst>
                </p:cNvPr>
                <p:cNvPicPr>
                  <a:picLocks noChangeAspect="1"/>
                </p:cNvPicPr>
                <p:nvPr/>
              </p:nvPicPr>
              <p:blipFill>
                <a:blip r:embed="rId3"/>
                <a:stretch>
                  <a:fillRect/>
                </a:stretch>
              </p:blipFill>
              <p:spPr>
                <a:xfrm>
                  <a:off x="3153191" y="4834792"/>
                  <a:ext cx="427956" cy="792175"/>
                </a:xfrm>
                <a:prstGeom prst="rect">
                  <a:avLst/>
                </a:prstGeom>
              </p:spPr>
            </p:pic>
            <p:sp>
              <p:nvSpPr>
                <p:cNvPr id="56" name="Rectangle 55">
                  <a:extLst>
                    <a:ext uri="{FF2B5EF4-FFF2-40B4-BE49-F238E27FC236}">
                      <a16:creationId xmlns:a16="http://schemas.microsoft.com/office/drawing/2014/main" id="{04DB22B1-F4C7-81D9-C72F-64E9E46AF5A0}"/>
                    </a:ext>
                  </a:extLst>
                </p:cNvPr>
                <p:cNvSpPr/>
                <p:nvPr/>
              </p:nvSpPr>
              <p:spPr>
                <a:xfrm rot="16200000">
                  <a:off x="3103020" y="5148837"/>
                  <a:ext cx="792175" cy="164082"/>
                </a:xfrm>
                <a:prstGeom prst="rect">
                  <a:avLst/>
                </a:prstGeom>
                <a:solidFill>
                  <a:srgbClr val="E2E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b="1" dirty="0">
                      <a:solidFill>
                        <a:schemeClr val="tx1"/>
                      </a:solidFill>
                    </a:rPr>
                    <a:t>GR (API)</a:t>
                  </a:r>
                </a:p>
              </p:txBody>
            </p:sp>
          </p:grpSp>
          <p:sp>
            <p:nvSpPr>
              <p:cNvPr id="59" name="Rectangle 58">
                <a:extLst>
                  <a:ext uri="{FF2B5EF4-FFF2-40B4-BE49-F238E27FC236}">
                    <a16:creationId xmlns:a16="http://schemas.microsoft.com/office/drawing/2014/main" id="{665EEFDE-DF2C-DA02-9551-B15E2E274F3F}"/>
                  </a:ext>
                </a:extLst>
              </p:cNvPr>
              <p:cNvSpPr/>
              <p:nvPr/>
            </p:nvSpPr>
            <p:spPr>
              <a:xfrm>
                <a:off x="2245100" y="4846321"/>
                <a:ext cx="2631435" cy="82252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61" name="Straight Connector 60">
                <a:extLst>
                  <a:ext uri="{FF2B5EF4-FFF2-40B4-BE49-F238E27FC236}">
                    <a16:creationId xmlns:a16="http://schemas.microsoft.com/office/drawing/2014/main" id="{5D5843C3-B529-4752-0E0A-357D86FDDC83}"/>
                  </a:ext>
                </a:extLst>
              </p:cNvPr>
              <p:cNvCxnSpPr>
                <a:cxnSpLocks/>
              </p:cNvCxnSpPr>
              <p:nvPr/>
            </p:nvCxnSpPr>
            <p:spPr>
              <a:xfrm>
                <a:off x="2862917" y="4846320"/>
                <a:ext cx="0" cy="391445"/>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291D67D1-8029-1733-84D7-233033EE96B3}"/>
                  </a:ext>
                </a:extLst>
              </p:cNvPr>
              <p:cNvCxnSpPr>
                <a:cxnSpLocks/>
              </p:cNvCxnSpPr>
              <p:nvPr/>
            </p:nvCxnSpPr>
            <p:spPr>
              <a:xfrm>
                <a:off x="3462357" y="4846320"/>
                <a:ext cx="0" cy="391445"/>
              </a:xfrm>
              <a:prstGeom prst="line">
                <a:avLst/>
              </a:prstGeom>
              <a:ln w="12700"/>
            </p:spPr>
            <p:style>
              <a:lnRef idx="2">
                <a:schemeClr val="accent1"/>
              </a:lnRef>
              <a:fillRef idx="0">
                <a:schemeClr val="accent1"/>
              </a:fillRef>
              <a:effectRef idx="1">
                <a:schemeClr val="accent1"/>
              </a:effectRef>
              <a:fontRef idx="minor">
                <a:schemeClr val="tx1"/>
              </a:fontRef>
            </p:style>
          </p:cxnSp>
        </p:grpSp>
      </p:grpSp>
      <p:pic>
        <p:nvPicPr>
          <p:cNvPr id="5" name="Picture 4">
            <a:extLst>
              <a:ext uri="{FF2B5EF4-FFF2-40B4-BE49-F238E27FC236}">
                <a16:creationId xmlns:a16="http://schemas.microsoft.com/office/drawing/2014/main" id="{DA1BCCDC-EB14-C927-34A4-965FA0B9203C}"/>
              </a:ext>
            </a:extLst>
          </p:cNvPr>
          <p:cNvPicPr>
            <a:picLocks noChangeAspect="1"/>
          </p:cNvPicPr>
          <p:nvPr/>
        </p:nvPicPr>
        <p:blipFill>
          <a:blip r:embed="rId4"/>
          <a:srcRect l="644" r="658" b="1369"/>
          <a:stretch>
            <a:fillRect/>
          </a:stretch>
        </p:blipFill>
        <p:spPr>
          <a:xfrm>
            <a:off x="202248" y="690114"/>
            <a:ext cx="6150357" cy="3793281"/>
          </a:xfrm>
          <a:prstGeom prst="rect">
            <a:avLst/>
          </a:prstGeom>
          <a:ln>
            <a:solidFill>
              <a:srgbClr val="008000"/>
            </a:solidFill>
          </a:ln>
        </p:spPr>
      </p:pic>
      <p:cxnSp>
        <p:nvCxnSpPr>
          <p:cNvPr id="19" name="Straight Connector 18">
            <a:extLst>
              <a:ext uri="{FF2B5EF4-FFF2-40B4-BE49-F238E27FC236}">
                <a16:creationId xmlns:a16="http://schemas.microsoft.com/office/drawing/2014/main" id="{97714A16-97DC-7E07-CD61-CBF0B936E589}"/>
              </a:ext>
            </a:extLst>
          </p:cNvPr>
          <p:cNvCxnSpPr>
            <a:cxnSpLocks/>
          </p:cNvCxnSpPr>
          <p:nvPr/>
        </p:nvCxnSpPr>
        <p:spPr>
          <a:xfrm>
            <a:off x="2108488" y="1174540"/>
            <a:ext cx="0" cy="322514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B1337F88-07DE-6EC0-4129-AFCA67DF8AB1}"/>
              </a:ext>
            </a:extLst>
          </p:cNvPr>
          <p:cNvSpPr/>
          <p:nvPr/>
        </p:nvSpPr>
        <p:spPr>
          <a:xfrm>
            <a:off x="4320943" y="4628346"/>
            <a:ext cx="1072361" cy="737627"/>
          </a:xfrm>
          <a:prstGeom prst="rect">
            <a:avLst/>
          </a:prstGeom>
          <a:solidFill>
            <a:srgbClr val="F93535"/>
          </a:solidFill>
        </p:spPr>
        <p:style>
          <a:lnRef idx="1">
            <a:schemeClr val="accent1"/>
          </a:lnRef>
          <a:fillRef idx="3">
            <a:schemeClr val="accent1"/>
          </a:fillRef>
          <a:effectRef idx="2">
            <a:schemeClr val="accent1"/>
          </a:effectRef>
          <a:fontRef idx="minor">
            <a:schemeClr val="lt1"/>
          </a:fontRef>
        </p:style>
        <p:txBody>
          <a:bodyPr rtlCol="0" anchor="ctr"/>
          <a:lstStyle/>
          <a:p>
            <a:pPr algn="just"/>
            <a:r>
              <a:rPr lang="en-IN" sz="1000" b="1" dirty="0">
                <a:solidFill>
                  <a:schemeClr val="bg1"/>
                </a:solidFill>
              </a:rPr>
              <a:t>OWC @ 70% </a:t>
            </a:r>
            <a:r>
              <a:rPr lang="en-IN" sz="1000" b="1" dirty="0" err="1">
                <a:solidFill>
                  <a:schemeClr val="bg1"/>
                </a:solidFill>
              </a:rPr>
              <a:t>Sw</a:t>
            </a:r>
            <a:endParaRPr lang="en-IN" sz="1000" b="1" dirty="0">
              <a:solidFill>
                <a:schemeClr val="bg1"/>
              </a:solidFill>
            </a:endParaRPr>
          </a:p>
          <a:p>
            <a:pPr algn="just"/>
            <a:r>
              <a:rPr lang="en-IN" sz="700" dirty="0"/>
              <a:t>In the reservoir interval, there is a sudden increase in </a:t>
            </a:r>
            <a:r>
              <a:rPr lang="en-IN" sz="700" dirty="0" err="1"/>
              <a:t>Sw</a:t>
            </a:r>
            <a:r>
              <a:rPr lang="en-IN" sz="700" dirty="0"/>
              <a:t> and decrease in Rt.</a:t>
            </a:r>
          </a:p>
        </p:txBody>
      </p:sp>
      <p:sp>
        <p:nvSpPr>
          <p:cNvPr id="55" name="Rectangle 54">
            <a:extLst>
              <a:ext uri="{FF2B5EF4-FFF2-40B4-BE49-F238E27FC236}">
                <a16:creationId xmlns:a16="http://schemas.microsoft.com/office/drawing/2014/main" id="{78849DDA-C8EA-CD7A-B1C9-96E54BA38746}"/>
              </a:ext>
            </a:extLst>
          </p:cNvPr>
          <p:cNvSpPr/>
          <p:nvPr/>
        </p:nvSpPr>
        <p:spPr>
          <a:xfrm>
            <a:off x="1652145" y="954554"/>
            <a:ext cx="699295" cy="25011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800" b="1" dirty="0">
                <a:solidFill>
                  <a:schemeClr val="tx1"/>
                </a:solidFill>
              </a:rPr>
              <a:t>Vsh @ 0.80</a:t>
            </a:r>
          </a:p>
        </p:txBody>
      </p:sp>
      <p:cxnSp>
        <p:nvCxnSpPr>
          <p:cNvPr id="71" name="Straight Arrow Connector 70">
            <a:extLst>
              <a:ext uri="{FF2B5EF4-FFF2-40B4-BE49-F238E27FC236}">
                <a16:creationId xmlns:a16="http://schemas.microsoft.com/office/drawing/2014/main" id="{0258D35B-1604-95B6-0E4D-BE1FAA55F0DF}"/>
              </a:ext>
            </a:extLst>
          </p:cNvPr>
          <p:cNvCxnSpPr>
            <a:cxnSpLocks/>
          </p:cNvCxnSpPr>
          <p:nvPr/>
        </p:nvCxnSpPr>
        <p:spPr>
          <a:xfrm>
            <a:off x="4654378" y="3665799"/>
            <a:ext cx="202746" cy="96610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691C1465-853D-0DB1-B075-51436A339BDB}"/>
              </a:ext>
            </a:extLst>
          </p:cNvPr>
          <p:cNvSpPr/>
          <p:nvPr/>
        </p:nvSpPr>
        <p:spPr>
          <a:xfrm>
            <a:off x="2351440" y="1569455"/>
            <a:ext cx="347431" cy="60553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C4DE586D-0A2E-C129-A5E2-8AF83D956AC4}"/>
              </a:ext>
            </a:extLst>
          </p:cNvPr>
          <p:cNvSpPr/>
          <p:nvPr/>
        </p:nvSpPr>
        <p:spPr>
          <a:xfrm>
            <a:off x="2351440" y="3238595"/>
            <a:ext cx="347431" cy="60553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4CEB31C3-6FB0-8210-D433-07A365791C80}"/>
              </a:ext>
            </a:extLst>
          </p:cNvPr>
          <p:cNvSpPr/>
          <p:nvPr/>
        </p:nvSpPr>
        <p:spPr>
          <a:xfrm>
            <a:off x="2395752" y="2673035"/>
            <a:ext cx="258806" cy="419344"/>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80" name="Picture 79">
            <a:extLst>
              <a:ext uri="{FF2B5EF4-FFF2-40B4-BE49-F238E27FC236}">
                <a16:creationId xmlns:a16="http://schemas.microsoft.com/office/drawing/2014/main" id="{EDF3A22D-5473-3167-0F94-FBCE53D25242}"/>
              </a:ext>
            </a:extLst>
          </p:cNvPr>
          <p:cNvPicPr>
            <a:picLocks noChangeAspect="1"/>
          </p:cNvPicPr>
          <p:nvPr/>
        </p:nvPicPr>
        <p:blipFill>
          <a:blip r:embed="rId5"/>
          <a:srcRect l="1" r="587"/>
          <a:stretch>
            <a:fillRect/>
          </a:stretch>
        </p:blipFill>
        <p:spPr>
          <a:xfrm>
            <a:off x="6513235" y="872034"/>
            <a:ext cx="3424051" cy="1857600"/>
          </a:xfrm>
          <a:prstGeom prst="rect">
            <a:avLst/>
          </a:prstGeom>
          <a:ln>
            <a:solidFill>
              <a:srgbClr val="008000"/>
            </a:solidFill>
          </a:ln>
        </p:spPr>
      </p:pic>
      <p:cxnSp>
        <p:nvCxnSpPr>
          <p:cNvPr id="93" name="Straight Connector 92">
            <a:extLst>
              <a:ext uri="{FF2B5EF4-FFF2-40B4-BE49-F238E27FC236}">
                <a16:creationId xmlns:a16="http://schemas.microsoft.com/office/drawing/2014/main" id="{CE06028C-9EED-A1B9-572F-115B96D6EB7A}"/>
              </a:ext>
            </a:extLst>
          </p:cNvPr>
          <p:cNvCxnSpPr>
            <a:cxnSpLocks/>
          </p:cNvCxnSpPr>
          <p:nvPr/>
        </p:nvCxnSpPr>
        <p:spPr>
          <a:xfrm>
            <a:off x="4303049" y="3665799"/>
            <a:ext cx="708940"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B9532FA7-9B01-2A88-FC9F-2B11B9D87582}"/>
              </a:ext>
            </a:extLst>
          </p:cNvPr>
          <p:cNvSpPr txBox="1"/>
          <p:nvPr/>
        </p:nvSpPr>
        <p:spPr>
          <a:xfrm>
            <a:off x="7912222" y="2809904"/>
            <a:ext cx="654346" cy="270843"/>
          </a:xfrm>
          <a:prstGeom prst="rect">
            <a:avLst/>
          </a:prstGeom>
          <a:solidFill>
            <a:schemeClr val="accent3">
              <a:lumMod val="20000"/>
              <a:lumOff val="80000"/>
            </a:schemeClr>
          </a:solidFill>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sz="1000" dirty="0">
                <a:solidFill>
                  <a:schemeClr val="tx1"/>
                </a:solidFill>
              </a:rPr>
              <a:t>Well A03</a:t>
            </a:r>
          </a:p>
        </p:txBody>
      </p:sp>
      <p:sp>
        <p:nvSpPr>
          <p:cNvPr id="98" name="TextBox 97">
            <a:extLst>
              <a:ext uri="{FF2B5EF4-FFF2-40B4-BE49-F238E27FC236}">
                <a16:creationId xmlns:a16="http://schemas.microsoft.com/office/drawing/2014/main" id="{F8DF915E-A015-9E39-B32C-7D07685F09F3}"/>
              </a:ext>
            </a:extLst>
          </p:cNvPr>
          <p:cNvSpPr txBox="1"/>
          <p:nvPr/>
        </p:nvSpPr>
        <p:spPr>
          <a:xfrm>
            <a:off x="7807982" y="541883"/>
            <a:ext cx="654346" cy="246221"/>
          </a:xfrm>
          <a:prstGeom prst="rect">
            <a:avLst/>
          </a:prstGeom>
          <a:solidFill>
            <a:schemeClr val="accent3">
              <a:lumMod val="20000"/>
              <a:lumOff val="80000"/>
            </a:schemeClr>
          </a:solidFill>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sz="1000" dirty="0">
                <a:solidFill>
                  <a:schemeClr val="tx1"/>
                </a:solidFill>
              </a:rPr>
              <a:t>Well A02</a:t>
            </a:r>
          </a:p>
        </p:txBody>
      </p:sp>
      <p:sp>
        <p:nvSpPr>
          <p:cNvPr id="2" name="TextBox 1">
            <a:extLst>
              <a:ext uri="{FF2B5EF4-FFF2-40B4-BE49-F238E27FC236}">
                <a16:creationId xmlns:a16="http://schemas.microsoft.com/office/drawing/2014/main" id="{E8B1843A-5C76-A2C0-62C4-813629239B2C}"/>
              </a:ext>
            </a:extLst>
          </p:cNvPr>
          <p:cNvSpPr txBox="1"/>
          <p:nvPr/>
        </p:nvSpPr>
        <p:spPr>
          <a:xfrm>
            <a:off x="2942030" y="390308"/>
            <a:ext cx="654346" cy="246221"/>
          </a:xfrm>
          <a:prstGeom prst="rect">
            <a:avLst/>
          </a:prstGeom>
          <a:solidFill>
            <a:schemeClr val="accent3">
              <a:lumMod val="20000"/>
              <a:lumOff val="80000"/>
            </a:schemeClr>
          </a:solidFill>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sz="1000" dirty="0">
                <a:solidFill>
                  <a:schemeClr val="tx1"/>
                </a:solidFill>
              </a:rPr>
              <a:t>Well A01</a:t>
            </a:r>
          </a:p>
        </p:txBody>
      </p:sp>
      <p:sp>
        <p:nvSpPr>
          <p:cNvPr id="6" name="Wave 5">
            <a:extLst>
              <a:ext uri="{FF2B5EF4-FFF2-40B4-BE49-F238E27FC236}">
                <a16:creationId xmlns:a16="http://schemas.microsoft.com/office/drawing/2014/main" id="{9CD2A3D2-4523-1D71-71A9-BFA9F8AC0415}"/>
              </a:ext>
            </a:extLst>
          </p:cNvPr>
          <p:cNvSpPr/>
          <p:nvPr/>
        </p:nvSpPr>
        <p:spPr>
          <a:xfrm>
            <a:off x="0" y="5434132"/>
            <a:ext cx="10160000" cy="25011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7" name="Wave 6">
            <a:extLst>
              <a:ext uri="{FF2B5EF4-FFF2-40B4-BE49-F238E27FC236}">
                <a16:creationId xmlns:a16="http://schemas.microsoft.com/office/drawing/2014/main" id="{9590BC4A-E659-FAC1-D224-39F6A609A354}"/>
              </a:ext>
            </a:extLst>
          </p:cNvPr>
          <p:cNvSpPr/>
          <p:nvPr/>
        </p:nvSpPr>
        <p:spPr>
          <a:xfrm>
            <a:off x="0" y="5510878"/>
            <a:ext cx="10160000" cy="204124"/>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Oval 2">
            <a:extLst>
              <a:ext uri="{FF2B5EF4-FFF2-40B4-BE49-F238E27FC236}">
                <a16:creationId xmlns:a16="http://schemas.microsoft.com/office/drawing/2014/main" id="{67980575-FEEB-FF90-E1B4-83F05F722C8C}"/>
              </a:ext>
            </a:extLst>
          </p:cNvPr>
          <p:cNvSpPr/>
          <p:nvPr/>
        </p:nvSpPr>
        <p:spPr>
          <a:xfrm>
            <a:off x="7759462" y="1413510"/>
            <a:ext cx="212964" cy="51054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264CFA97-6845-9440-0C8B-465689B6683F}"/>
              </a:ext>
            </a:extLst>
          </p:cNvPr>
          <p:cNvSpPr/>
          <p:nvPr/>
        </p:nvSpPr>
        <p:spPr>
          <a:xfrm>
            <a:off x="7807982" y="1978090"/>
            <a:ext cx="121523" cy="16539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027C6A2E-C6B4-9646-E2EA-EE88885C060A}"/>
              </a:ext>
            </a:extLst>
          </p:cNvPr>
          <p:cNvGrpSpPr/>
          <p:nvPr/>
        </p:nvGrpSpPr>
        <p:grpSpPr>
          <a:xfrm>
            <a:off x="6521519" y="3178961"/>
            <a:ext cx="3435752" cy="1857600"/>
            <a:chOff x="6521519" y="3439496"/>
            <a:chExt cx="3435752" cy="1857897"/>
          </a:xfrm>
        </p:grpSpPr>
        <p:pic>
          <p:nvPicPr>
            <p:cNvPr id="81" name="Picture 80">
              <a:extLst>
                <a:ext uri="{FF2B5EF4-FFF2-40B4-BE49-F238E27FC236}">
                  <a16:creationId xmlns:a16="http://schemas.microsoft.com/office/drawing/2014/main" id="{BC6CFEBF-BA37-E2BD-1166-0DF47682D54D}"/>
                </a:ext>
              </a:extLst>
            </p:cNvPr>
            <p:cNvPicPr>
              <a:picLocks noChangeAspect="1"/>
            </p:cNvPicPr>
            <p:nvPr/>
          </p:nvPicPr>
          <p:blipFill>
            <a:blip r:embed="rId6"/>
            <a:srcRect/>
            <a:stretch>
              <a:fillRect/>
            </a:stretch>
          </p:blipFill>
          <p:spPr>
            <a:xfrm>
              <a:off x="6521519" y="3439496"/>
              <a:ext cx="3435752" cy="1857897"/>
            </a:xfrm>
            <a:prstGeom prst="rect">
              <a:avLst/>
            </a:prstGeom>
            <a:ln>
              <a:solidFill>
                <a:srgbClr val="008000"/>
              </a:solidFill>
            </a:ln>
          </p:spPr>
        </p:pic>
        <p:sp>
          <p:nvSpPr>
            <p:cNvPr id="8" name="Oval 7">
              <a:extLst>
                <a:ext uri="{FF2B5EF4-FFF2-40B4-BE49-F238E27FC236}">
                  <a16:creationId xmlns:a16="http://schemas.microsoft.com/office/drawing/2014/main" id="{CD132C94-111C-27C7-EA7E-4645A6272D0D}"/>
                </a:ext>
              </a:extLst>
            </p:cNvPr>
            <p:cNvSpPr/>
            <p:nvPr/>
          </p:nvSpPr>
          <p:spPr>
            <a:xfrm>
              <a:off x="7814454" y="4483395"/>
              <a:ext cx="121523" cy="16539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pSp>
      <p:sp>
        <p:nvSpPr>
          <p:cNvPr id="12" name="Oval 11">
            <a:extLst>
              <a:ext uri="{FF2B5EF4-FFF2-40B4-BE49-F238E27FC236}">
                <a16:creationId xmlns:a16="http://schemas.microsoft.com/office/drawing/2014/main" id="{A11C0EC5-4CD2-3F38-17BE-E96156BDE7B7}"/>
              </a:ext>
            </a:extLst>
          </p:cNvPr>
          <p:cNvSpPr/>
          <p:nvPr/>
        </p:nvSpPr>
        <p:spPr>
          <a:xfrm>
            <a:off x="7814454" y="5044691"/>
            <a:ext cx="121523" cy="114194"/>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D024DAD-73C3-11A9-960F-836579FAE074}"/>
              </a:ext>
            </a:extLst>
          </p:cNvPr>
          <p:cNvSpPr txBox="1"/>
          <p:nvPr/>
        </p:nvSpPr>
        <p:spPr>
          <a:xfrm>
            <a:off x="6632876" y="5092206"/>
            <a:ext cx="3415767" cy="400110"/>
          </a:xfrm>
          <a:prstGeom prst="rect">
            <a:avLst/>
          </a:prstGeom>
          <a:noFill/>
        </p:spPr>
        <p:txBody>
          <a:bodyPr wrap="square" rtlCol="0">
            <a:spAutoFit/>
          </a:bodyPr>
          <a:lstStyle/>
          <a:p>
            <a:pPr algn="ctr"/>
            <a:r>
              <a:rPr lang="en-IN" sz="1000" dirty="0"/>
              <a:t>In similar manner, interpretations are done for all the wells and the values are added in the summary table</a:t>
            </a:r>
          </a:p>
        </p:txBody>
      </p:sp>
      <p:sp>
        <p:nvSpPr>
          <p:cNvPr id="16" name="Rectangle 15">
            <a:extLst>
              <a:ext uri="{FF2B5EF4-FFF2-40B4-BE49-F238E27FC236}">
                <a16:creationId xmlns:a16="http://schemas.microsoft.com/office/drawing/2014/main" id="{5A7DFFFE-BFF9-D8B6-6B48-4CC3AEA82606}"/>
              </a:ext>
            </a:extLst>
          </p:cNvPr>
          <p:cNvSpPr/>
          <p:nvPr/>
        </p:nvSpPr>
        <p:spPr>
          <a:xfrm>
            <a:off x="6728460" y="5124014"/>
            <a:ext cx="3228811" cy="310118"/>
          </a:xfrm>
          <a:prstGeom prst="rect">
            <a:avLst/>
          </a:prstGeom>
          <a:no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92840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05F0-2A4E-292B-1984-B7D40B8696F1}"/>
            </a:ext>
          </a:extLst>
        </p:cNvPr>
        <p:cNvGrpSpPr/>
        <p:nvPr/>
      </p:nvGrpSpPr>
      <p:grpSpPr>
        <a:xfrm>
          <a:off x="0" y="0"/>
          <a:ext cx="0" cy="0"/>
          <a:chOff x="0" y="0"/>
          <a:chExt cx="0" cy="0"/>
        </a:xfrm>
      </p:grpSpPr>
      <p:sp>
        <p:nvSpPr>
          <p:cNvPr id="2" name="Wave 1">
            <a:extLst>
              <a:ext uri="{FF2B5EF4-FFF2-40B4-BE49-F238E27FC236}">
                <a16:creationId xmlns:a16="http://schemas.microsoft.com/office/drawing/2014/main" id="{423A7FA0-F2EF-9FB3-5187-39762113ACDD}"/>
              </a:ext>
            </a:extLst>
          </p:cNvPr>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a:extLst>
              <a:ext uri="{FF2B5EF4-FFF2-40B4-BE49-F238E27FC236}">
                <a16:creationId xmlns:a16="http://schemas.microsoft.com/office/drawing/2014/main" id="{8564EEE6-CCE5-A9CF-F609-7369453A1C00}"/>
              </a:ext>
            </a:extLst>
          </p:cNvPr>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pic>
        <p:nvPicPr>
          <p:cNvPr id="5" name="Picture 4">
            <a:extLst>
              <a:ext uri="{FF2B5EF4-FFF2-40B4-BE49-F238E27FC236}">
                <a16:creationId xmlns:a16="http://schemas.microsoft.com/office/drawing/2014/main" id="{45254121-236B-A245-C77B-2A2152C42B9C}"/>
              </a:ext>
            </a:extLst>
          </p:cNvPr>
          <p:cNvPicPr>
            <a:picLocks noChangeAspect="1"/>
          </p:cNvPicPr>
          <p:nvPr/>
        </p:nvPicPr>
        <p:blipFill>
          <a:blip r:embed="rId2"/>
          <a:stretch>
            <a:fillRect/>
          </a:stretch>
        </p:blipFill>
        <p:spPr>
          <a:xfrm>
            <a:off x="3944500" y="1012171"/>
            <a:ext cx="1395106" cy="2160000"/>
          </a:xfrm>
          <a:prstGeom prst="rect">
            <a:avLst/>
          </a:prstGeom>
          <a:ln>
            <a:solidFill>
              <a:srgbClr val="008000"/>
            </a:solidFill>
          </a:ln>
        </p:spPr>
      </p:pic>
      <p:pic>
        <p:nvPicPr>
          <p:cNvPr id="7" name="Picture 6">
            <a:extLst>
              <a:ext uri="{FF2B5EF4-FFF2-40B4-BE49-F238E27FC236}">
                <a16:creationId xmlns:a16="http://schemas.microsoft.com/office/drawing/2014/main" id="{5C3C0DF0-EAB6-9218-F752-3DA249FBCFA6}"/>
              </a:ext>
            </a:extLst>
          </p:cNvPr>
          <p:cNvPicPr>
            <a:picLocks noChangeAspect="1"/>
          </p:cNvPicPr>
          <p:nvPr/>
        </p:nvPicPr>
        <p:blipFill>
          <a:blip r:embed="rId3"/>
          <a:stretch>
            <a:fillRect/>
          </a:stretch>
        </p:blipFill>
        <p:spPr>
          <a:xfrm>
            <a:off x="898849" y="1007069"/>
            <a:ext cx="1493240" cy="2160000"/>
          </a:xfrm>
          <a:prstGeom prst="rect">
            <a:avLst/>
          </a:prstGeom>
          <a:ln>
            <a:solidFill>
              <a:srgbClr val="008000"/>
            </a:solidFill>
          </a:ln>
        </p:spPr>
      </p:pic>
      <p:pic>
        <p:nvPicPr>
          <p:cNvPr id="4" name="Picture 3">
            <a:extLst>
              <a:ext uri="{FF2B5EF4-FFF2-40B4-BE49-F238E27FC236}">
                <a16:creationId xmlns:a16="http://schemas.microsoft.com/office/drawing/2014/main" id="{18216F2B-0A3B-96BE-1052-D831C27C8965}"/>
              </a:ext>
            </a:extLst>
          </p:cNvPr>
          <p:cNvPicPr>
            <a:picLocks noChangeAspect="1"/>
          </p:cNvPicPr>
          <p:nvPr/>
        </p:nvPicPr>
        <p:blipFill>
          <a:blip r:embed="rId4"/>
          <a:stretch>
            <a:fillRect/>
          </a:stretch>
        </p:blipFill>
        <p:spPr>
          <a:xfrm>
            <a:off x="2428872" y="1007261"/>
            <a:ext cx="1433200" cy="2160000"/>
          </a:xfrm>
          <a:prstGeom prst="rect">
            <a:avLst/>
          </a:prstGeom>
          <a:ln>
            <a:solidFill>
              <a:srgbClr val="008000"/>
            </a:solidFill>
          </a:ln>
        </p:spPr>
      </p:pic>
      <p:sp>
        <p:nvSpPr>
          <p:cNvPr id="10" name="TextBox 9">
            <a:extLst>
              <a:ext uri="{FF2B5EF4-FFF2-40B4-BE49-F238E27FC236}">
                <a16:creationId xmlns:a16="http://schemas.microsoft.com/office/drawing/2014/main" id="{CA399783-0AF7-EBD0-0711-E497F20EB615}"/>
              </a:ext>
            </a:extLst>
          </p:cNvPr>
          <p:cNvSpPr txBox="1"/>
          <p:nvPr/>
        </p:nvSpPr>
        <p:spPr>
          <a:xfrm>
            <a:off x="123823" y="58452"/>
            <a:ext cx="7685117" cy="338554"/>
          </a:xfrm>
          <a:prstGeom prst="rect">
            <a:avLst/>
          </a:prstGeom>
          <a:noFill/>
        </p:spPr>
        <p:txBody>
          <a:bodyPr wrap="none" rtlCol="0">
            <a:spAutoFit/>
          </a:bodyPr>
          <a:lstStyle/>
          <a:p>
            <a:r>
              <a:rPr lang="en-IN" sz="1600" b="1" dirty="0">
                <a:solidFill>
                  <a:srgbClr val="008000"/>
                </a:solidFill>
                <a:latin typeface="Sans Serif Collection" panose="020B0502040504020204" pitchFamily="34" charset="0"/>
                <a:ea typeface="Sans Serif Collection" panose="020B0502040504020204" pitchFamily="34" charset="0"/>
                <a:cs typeface="Sans Serif Collection" panose="020B0502040504020204" pitchFamily="34" charset="0"/>
              </a:rPr>
              <a:t>Reservoir Deliverability Characteristics and Petrophysical Properties Summary</a:t>
            </a:r>
          </a:p>
        </p:txBody>
      </p:sp>
      <p:sp>
        <p:nvSpPr>
          <p:cNvPr id="12" name="TextBox 11">
            <a:extLst>
              <a:ext uri="{FF2B5EF4-FFF2-40B4-BE49-F238E27FC236}">
                <a16:creationId xmlns:a16="http://schemas.microsoft.com/office/drawing/2014/main" id="{CDD039F8-772B-D62E-D889-A0012798650D}"/>
              </a:ext>
            </a:extLst>
          </p:cNvPr>
          <p:cNvSpPr txBox="1"/>
          <p:nvPr/>
        </p:nvSpPr>
        <p:spPr>
          <a:xfrm>
            <a:off x="169735" y="412973"/>
            <a:ext cx="5124450" cy="251351"/>
          </a:xfrm>
          <a:prstGeom prst="rect">
            <a:avLst/>
          </a:prstGeom>
          <a:noFill/>
        </p:spPr>
        <p:txBody>
          <a:bodyPr wrap="square">
            <a:spAutoFit/>
          </a:bodyPr>
          <a:lstStyle/>
          <a:p>
            <a:pPr>
              <a:lnSpc>
                <a:spcPct val="107000"/>
              </a:lnSpc>
              <a:spcAft>
                <a:spcPts val="800"/>
              </a:spcAft>
              <a:buNone/>
            </a:pPr>
            <a:r>
              <a:rPr lang="en-IN" sz="1000" kern="100" dirty="0">
                <a:effectLst/>
                <a:ea typeface="Aptos" panose="020B0004020202020204" pitchFamily="34" charset="0"/>
                <a:cs typeface="Times New Roman" panose="02020603050405020304" pitchFamily="18" charset="0"/>
              </a:rPr>
              <a:t>Deliverability is fundamentally controlled by:</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D72FBE7-B9DF-3E6C-4338-B5CC670508B9}"/>
                  </a:ext>
                </a:extLst>
              </p:cNvPr>
              <p:cNvSpPr txBox="1"/>
              <p:nvPr/>
            </p:nvSpPr>
            <p:spPr>
              <a:xfrm>
                <a:off x="2336063" y="478712"/>
                <a:ext cx="1741576" cy="600998"/>
              </a:xfrm>
              <a:prstGeom prst="rect">
                <a:avLst/>
              </a:prstGeom>
              <a:noFill/>
            </p:spPr>
            <p:txBody>
              <a:bodyPr wrap="square">
                <a:spAutoFit/>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IN" sz="1200" i="1" kern="100" smtClean="0">
                          <a:effectLst/>
                          <a:latin typeface="Cambria Math" panose="02040503050406030204" pitchFamily="18" charset="0"/>
                          <a:ea typeface="Aptos" panose="020B0004020202020204" pitchFamily="34" charset="0"/>
                          <a:cs typeface="Times New Roman" panose="02020603050405020304" pitchFamily="18" charset="0"/>
                        </a:rPr>
                        <m:t>𝑞</m:t>
                      </m:r>
                      <m:r>
                        <a:rPr lang="en-IN" sz="1200" i="1" kern="10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en-IN" sz="12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IN" sz="1200" i="1" kern="100">
                              <a:effectLst/>
                              <a:latin typeface="Cambria Math" panose="02040503050406030204" pitchFamily="18" charset="0"/>
                              <a:ea typeface="Aptos" panose="020B0004020202020204" pitchFamily="34" charset="0"/>
                              <a:cs typeface="Times New Roman" panose="02020603050405020304" pitchFamily="18" charset="0"/>
                            </a:rPr>
                            <m:t>𝑘</m:t>
                          </m:r>
                          <m:r>
                            <a:rPr lang="en-IN" sz="1200" i="1" kern="100">
                              <a:effectLst/>
                              <a:latin typeface="Cambria Math" panose="02040503050406030204" pitchFamily="18" charset="0"/>
                              <a:ea typeface="Aptos" panose="020B0004020202020204" pitchFamily="34" charset="0"/>
                              <a:cs typeface="Times New Roman" panose="02020603050405020304" pitchFamily="18" charset="0"/>
                            </a:rPr>
                            <m:t>h</m:t>
                          </m:r>
                        </m:num>
                        <m:den>
                          <m:r>
                            <a:rPr lang="en-IN" sz="1200" i="1" kern="100">
                              <a:effectLst/>
                              <a:latin typeface="Cambria Math" panose="02040503050406030204" pitchFamily="18" charset="0"/>
                              <a:ea typeface="Aptos" panose="020B0004020202020204" pitchFamily="34" charset="0"/>
                              <a:cs typeface="Times New Roman" panose="02020603050405020304" pitchFamily="18" charset="0"/>
                            </a:rPr>
                            <m:t>𝜇</m:t>
                          </m:r>
                        </m:den>
                      </m:f>
                      <m:r>
                        <m:rPr>
                          <m:sty m:val="p"/>
                        </m:rPr>
                        <a:rPr lang="en-IN" sz="1200" kern="100">
                          <a:effectLst/>
                          <a:latin typeface="Cambria Math" panose="02040503050406030204" pitchFamily="18" charset="0"/>
                          <a:ea typeface="Aptos" panose="020B0004020202020204" pitchFamily="34" charset="0"/>
                          <a:cs typeface="Times New Roman" panose="02020603050405020304" pitchFamily="18" charset="0"/>
                        </a:rPr>
                        <m:t>Δ</m:t>
                      </m:r>
                      <m:r>
                        <a:rPr lang="en-IN" sz="1200" i="1" kern="100">
                          <a:effectLst/>
                          <a:latin typeface="Cambria Math" panose="02040503050406030204" pitchFamily="18" charset="0"/>
                          <a:ea typeface="Aptos" panose="020B0004020202020204" pitchFamily="34" charset="0"/>
                          <a:cs typeface="Times New Roman" panose="02020603050405020304" pitchFamily="18" charset="0"/>
                        </a:rPr>
                        <m:t>𝑃</m:t>
                      </m:r>
                    </m:oMath>
                  </m:oMathPara>
                </a14:m>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6D72FBE7-B9DF-3E6C-4338-B5CC670508B9}"/>
                  </a:ext>
                </a:extLst>
              </p:cNvPr>
              <p:cNvSpPr txBox="1">
                <a:spLocks noRot="1" noChangeAspect="1" noMove="1" noResize="1" noEditPoints="1" noAdjustHandles="1" noChangeArrowheads="1" noChangeShapeType="1" noTextEdit="1"/>
              </p:cNvSpPr>
              <p:nvPr/>
            </p:nvSpPr>
            <p:spPr>
              <a:xfrm>
                <a:off x="2336063" y="478712"/>
                <a:ext cx="1741576" cy="600998"/>
              </a:xfrm>
              <a:prstGeom prst="rect">
                <a:avLst/>
              </a:prstGeom>
              <a:blipFill>
                <a:blip r:embed="rId5"/>
                <a:stretch>
                  <a:fillRect/>
                </a:stretch>
              </a:blipFill>
            </p:spPr>
            <p:txBody>
              <a:bodyPr/>
              <a:lstStyle/>
              <a:p>
                <a:r>
                  <a:rPr lang="en-IN">
                    <a:noFill/>
                  </a:rPr>
                  <a:t> </a:t>
                </a:r>
              </a:p>
            </p:txBody>
          </p:sp>
        </mc:Fallback>
      </mc:AlternateContent>
      <p:graphicFrame>
        <p:nvGraphicFramePr>
          <p:cNvPr id="25" name="Table 24">
            <a:extLst>
              <a:ext uri="{FF2B5EF4-FFF2-40B4-BE49-F238E27FC236}">
                <a16:creationId xmlns:a16="http://schemas.microsoft.com/office/drawing/2014/main" id="{870D2DA1-4271-9A70-B696-FA8513E49C39}"/>
              </a:ext>
            </a:extLst>
          </p:cNvPr>
          <p:cNvGraphicFramePr>
            <a:graphicFrameLocks noGrp="1"/>
          </p:cNvGraphicFramePr>
          <p:nvPr/>
        </p:nvGraphicFramePr>
        <p:xfrm>
          <a:off x="268224" y="3218949"/>
          <a:ext cx="5568696" cy="2047678"/>
        </p:xfrm>
        <a:graphic>
          <a:graphicData uri="http://schemas.openxmlformats.org/drawingml/2006/table">
            <a:tbl>
              <a:tblPr firstRow="1" bandRow="1">
                <a:tableStyleId>{5C22544A-7EE6-4342-B048-85BDC9FD1C3A}</a:tableStyleId>
              </a:tblPr>
              <a:tblGrid>
                <a:gridCol w="1392174">
                  <a:extLst>
                    <a:ext uri="{9D8B030D-6E8A-4147-A177-3AD203B41FA5}">
                      <a16:colId xmlns:a16="http://schemas.microsoft.com/office/drawing/2014/main" val="3076506171"/>
                    </a:ext>
                  </a:extLst>
                </a:gridCol>
                <a:gridCol w="1392174">
                  <a:extLst>
                    <a:ext uri="{9D8B030D-6E8A-4147-A177-3AD203B41FA5}">
                      <a16:colId xmlns:a16="http://schemas.microsoft.com/office/drawing/2014/main" val="835194983"/>
                    </a:ext>
                  </a:extLst>
                </a:gridCol>
                <a:gridCol w="1392174">
                  <a:extLst>
                    <a:ext uri="{9D8B030D-6E8A-4147-A177-3AD203B41FA5}">
                      <a16:colId xmlns:a16="http://schemas.microsoft.com/office/drawing/2014/main" val="4048983916"/>
                    </a:ext>
                  </a:extLst>
                </a:gridCol>
                <a:gridCol w="1392174">
                  <a:extLst>
                    <a:ext uri="{9D8B030D-6E8A-4147-A177-3AD203B41FA5}">
                      <a16:colId xmlns:a16="http://schemas.microsoft.com/office/drawing/2014/main" val="2621345480"/>
                    </a:ext>
                  </a:extLst>
                </a:gridCol>
              </a:tblGrid>
              <a:tr h="232252">
                <a:tc>
                  <a:txBody>
                    <a:bodyPr/>
                    <a:lstStyle/>
                    <a:p>
                      <a:pPr>
                        <a:buNone/>
                      </a:pPr>
                      <a:r>
                        <a:rPr lang="en-IN" sz="1000" dirty="0"/>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D40"/>
                    </a:solidFill>
                  </a:tcPr>
                </a:tc>
                <a:tc>
                  <a:txBody>
                    <a:bodyPr/>
                    <a:lstStyle/>
                    <a:p>
                      <a:pPr>
                        <a:buNone/>
                      </a:pPr>
                      <a:r>
                        <a:rPr lang="en-IN" sz="1000" b="1" dirty="0"/>
                        <a:t>Well A03</a:t>
                      </a:r>
                      <a:endParaRPr lang="en-IN"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D40"/>
                    </a:solidFill>
                  </a:tcPr>
                </a:tc>
                <a:tc>
                  <a:txBody>
                    <a:bodyPr/>
                    <a:lstStyle/>
                    <a:p>
                      <a:pPr>
                        <a:buNone/>
                      </a:pPr>
                      <a:r>
                        <a:rPr lang="en-IN" sz="1000" b="1" dirty="0"/>
                        <a:t>Well A01</a:t>
                      </a:r>
                      <a:endParaRPr lang="en-IN"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D40"/>
                    </a:solidFill>
                  </a:tcPr>
                </a:tc>
                <a:tc>
                  <a:txBody>
                    <a:bodyPr/>
                    <a:lstStyle/>
                    <a:p>
                      <a:pPr>
                        <a:buNone/>
                      </a:pPr>
                      <a:r>
                        <a:rPr lang="en-IN" sz="1000" b="1" dirty="0"/>
                        <a:t>Well A02</a:t>
                      </a:r>
                      <a:endParaRPr lang="en-IN"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D40"/>
                    </a:solidFill>
                  </a:tcPr>
                </a:tc>
                <a:extLst>
                  <a:ext uri="{0D108BD9-81ED-4DB2-BD59-A6C34878D82A}">
                    <a16:rowId xmlns:a16="http://schemas.microsoft.com/office/drawing/2014/main" val="1716230142"/>
                  </a:ext>
                </a:extLst>
              </a:tr>
              <a:tr h="383759">
                <a:tc>
                  <a:txBody>
                    <a:bodyPr/>
                    <a:lstStyle/>
                    <a:p>
                      <a:pPr>
                        <a:buNone/>
                      </a:pPr>
                      <a:r>
                        <a:rPr lang="en-IN" sz="1000" dirty="0"/>
                        <a:t>Reservoir Quality (RQI)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High, concentrated in main interval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Moderate to high in several intervals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Moderate, distributed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0449248"/>
                  </a:ext>
                </a:extLst>
              </a:tr>
              <a:tr h="383759">
                <a:tc>
                  <a:txBody>
                    <a:bodyPr/>
                    <a:lstStyle/>
                    <a:p>
                      <a:pPr>
                        <a:buNone/>
                      </a:pPr>
                      <a:r>
                        <a:rPr lang="en-IN" sz="1000" dirty="0"/>
                        <a:t>Flow Capacity (kh)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US" sz="1000"/>
                        <a:t>Strong peak in central sand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sz="1000"/>
                        <a:t>Multiple moderate peaks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sz="1000" dirty="0"/>
                        <a:t>Moderate peaks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88080356"/>
                  </a:ext>
                </a:extLst>
              </a:tr>
              <a:tr h="383759">
                <a:tc>
                  <a:txBody>
                    <a:bodyPr/>
                    <a:lstStyle/>
                    <a:p>
                      <a:pPr>
                        <a:buNone/>
                      </a:pPr>
                      <a:r>
                        <a:rPr lang="en-IN" sz="1000"/>
                        <a:t>Reservoir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Thick continuous sand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Stacked sands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Thin stacked sands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2851359"/>
                  </a:ext>
                </a:extLst>
              </a:tr>
              <a:tr h="383759">
                <a:tc>
                  <a:txBody>
                    <a:bodyPr/>
                    <a:lstStyle/>
                    <a:p>
                      <a:pPr>
                        <a:buNone/>
                      </a:pPr>
                      <a:r>
                        <a:rPr lang="en-IN" sz="1000"/>
                        <a:t>Vertical Heterogeneity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sz="1000"/>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sz="1000" dirty="0"/>
                        <a:t>Moderate-high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sz="1000"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968269919"/>
                  </a:ext>
                </a:extLst>
              </a:tr>
              <a:tr h="232252">
                <a:tc>
                  <a:txBody>
                    <a:bodyPr/>
                    <a:lstStyle/>
                    <a:p>
                      <a:pPr>
                        <a:buNone/>
                      </a:pPr>
                      <a:r>
                        <a:rPr lang="en-IN" sz="1000" dirty="0"/>
                        <a:t>Deliverability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b="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b="0" dirty="0"/>
                        <a:t>Moderate-High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b="0" dirty="0"/>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1057679"/>
                  </a:ext>
                </a:extLst>
              </a:tr>
            </a:tbl>
          </a:graphicData>
        </a:graphic>
      </p:graphicFrame>
      <p:pic>
        <p:nvPicPr>
          <p:cNvPr id="27" name="Picture 26">
            <a:extLst>
              <a:ext uri="{FF2B5EF4-FFF2-40B4-BE49-F238E27FC236}">
                <a16:creationId xmlns:a16="http://schemas.microsoft.com/office/drawing/2014/main" id="{56C26E0C-6CC8-2083-2FD4-57818735876F}"/>
              </a:ext>
            </a:extLst>
          </p:cNvPr>
          <p:cNvPicPr>
            <a:picLocks noChangeAspect="1"/>
          </p:cNvPicPr>
          <p:nvPr/>
        </p:nvPicPr>
        <p:blipFill>
          <a:blip r:embed="rId6"/>
          <a:stretch>
            <a:fillRect/>
          </a:stretch>
        </p:blipFill>
        <p:spPr>
          <a:xfrm>
            <a:off x="268224" y="995831"/>
            <a:ext cx="625555" cy="1004812"/>
          </a:xfrm>
          <a:prstGeom prst="rect">
            <a:avLst/>
          </a:prstGeom>
        </p:spPr>
      </p:pic>
      <p:pic>
        <p:nvPicPr>
          <p:cNvPr id="29" name="Picture 28">
            <a:extLst>
              <a:ext uri="{FF2B5EF4-FFF2-40B4-BE49-F238E27FC236}">
                <a16:creationId xmlns:a16="http://schemas.microsoft.com/office/drawing/2014/main" id="{69665A80-4CB3-42E8-EBC8-3B48503C8D52}"/>
              </a:ext>
            </a:extLst>
          </p:cNvPr>
          <p:cNvPicPr>
            <a:picLocks noChangeAspect="1"/>
          </p:cNvPicPr>
          <p:nvPr/>
        </p:nvPicPr>
        <p:blipFill>
          <a:blip r:embed="rId7"/>
          <a:stretch>
            <a:fillRect/>
          </a:stretch>
        </p:blipFill>
        <p:spPr>
          <a:xfrm>
            <a:off x="268225" y="2132401"/>
            <a:ext cx="630624" cy="1026380"/>
          </a:xfrm>
          <a:prstGeom prst="rect">
            <a:avLst/>
          </a:prstGeom>
        </p:spPr>
      </p:pic>
      <p:sp>
        <p:nvSpPr>
          <p:cNvPr id="30" name="TextBox 29">
            <a:extLst>
              <a:ext uri="{FF2B5EF4-FFF2-40B4-BE49-F238E27FC236}">
                <a16:creationId xmlns:a16="http://schemas.microsoft.com/office/drawing/2014/main" id="{0E6183D6-9FB4-878F-235F-B5E977C22BAF}"/>
              </a:ext>
            </a:extLst>
          </p:cNvPr>
          <p:cNvSpPr txBox="1"/>
          <p:nvPr/>
        </p:nvSpPr>
        <p:spPr>
          <a:xfrm rot="16200000">
            <a:off x="442105" y="1398209"/>
            <a:ext cx="708711" cy="200055"/>
          </a:xfrm>
          <a:prstGeom prst="rect">
            <a:avLst/>
          </a:prstGeom>
          <a:solidFill>
            <a:srgbClr val="E2E7C7"/>
          </a:solidFill>
        </p:spPr>
        <p:txBody>
          <a:bodyPr wrap="square" rtlCol="0">
            <a:spAutoFit/>
          </a:bodyPr>
          <a:lstStyle/>
          <a:p>
            <a:r>
              <a:rPr lang="en-IN" sz="700" b="1" dirty="0"/>
              <a:t>Flow Capacity</a:t>
            </a:r>
          </a:p>
        </p:txBody>
      </p:sp>
      <p:sp>
        <p:nvSpPr>
          <p:cNvPr id="31" name="TextBox 30">
            <a:extLst>
              <a:ext uri="{FF2B5EF4-FFF2-40B4-BE49-F238E27FC236}">
                <a16:creationId xmlns:a16="http://schemas.microsoft.com/office/drawing/2014/main" id="{0F483111-FC21-9B71-7AA3-2D540EAC5E70}"/>
              </a:ext>
            </a:extLst>
          </p:cNvPr>
          <p:cNvSpPr txBox="1"/>
          <p:nvPr/>
        </p:nvSpPr>
        <p:spPr>
          <a:xfrm rot="16200000">
            <a:off x="319431" y="2541421"/>
            <a:ext cx="948642" cy="200055"/>
          </a:xfrm>
          <a:prstGeom prst="rect">
            <a:avLst/>
          </a:prstGeom>
          <a:solidFill>
            <a:srgbClr val="E2E7C7"/>
          </a:solidFill>
        </p:spPr>
        <p:txBody>
          <a:bodyPr wrap="square" rtlCol="0">
            <a:spAutoFit/>
          </a:bodyPr>
          <a:lstStyle/>
          <a:p>
            <a:r>
              <a:rPr lang="en-IN" sz="700" b="1" dirty="0"/>
              <a:t>Rock Quality Index</a:t>
            </a:r>
          </a:p>
        </p:txBody>
      </p:sp>
      <p:graphicFrame>
        <p:nvGraphicFramePr>
          <p:cNvPr id="32" name="Table 31">
            <a:extLst>
              <a:ext uri="{FF2B5EF4-FFF2-40B4-BE49-F238E27FC236}">
                <a16:creationId xmlns:a16="http://schemas.microsoft.com/office/drawing/2014/main" id="{3A284899-F0CC-5D1D-CEAE-6457D6674C21}"/>
              </a:ext>
            </a:extLst>
          </p:cNvPr>
          <p:cNvGraphicFramePr>
            <a:graphicFrameLocks noGrp="1"/>
          </p:cNvGraphicFramePr>
          <p:nvPr/>
        </p:nvGraphicFramePr>
        <p:xfrm>
          <a:off x="6026646" y="985005"/>
          <a:ext cx="3734088" cy="4281622"/>
        </p:xfrm>
        <a:graphic>
          <a:graphicData uri="http://schemas.openxmlformats.org/drawingml/2006/table">
            <a:tbl>
              <a:tblPr firstRow="1" bandRow="1">
                <a:tableStyleId>{5C22544A-7EE6-4342-B048-85BDC9FD1C3A}</a:tableStyleId>
              </a:tblPr>
              <a:tblGrid>
                <a:gridCol w="1286673">
                  <a:extLst>
                    <a:ext uri="{9D8B030D-6E8A-4147-A177-3AD203B41FA5}">
                      <a16:colId xmlns:a16="http://schemas.microsoft.com/office/drawing/2014/main" val="1303729759"/>
                    </a:ext>
                  </a:extLst>
                </a:gridCol>
                <a:gridCol w="683714">
                  <a:extLst>
                    <a:ext uri="{9D8B030D-6E8A-4147-A177-3AD203B41FA5}">
                      <a16:colId xmlns:a16="http://schemas.microsoft.com/office/drawing/2014/main" val="3420107481"/>
                    </a:ext>
                  </a:extLst>
                </a:gridCol>
                <a:gridCol w="969757">
                  <a:extLst>
                    <a:ext uri="{9D8B030D-6E8A-4147-A177-3AD203B41FA5}">
                      <a16:colId xmlns:a16="http://schemas.microsoft.com/office/drawing/2014/main" val="1012523099"/>
                    </a:ext>
                  </a:extLst>
                </a:gridCol>
                <a:gridCol w="793944">
                  <a:extLst>
                    <a:ext uri="{9D8B030D-6E8A-4147-A177-3AD203B41FA5}">
                      <a16:colId xmlns:a16="http://schemas.microsoft.com/office/drawing/2014/main" val="65821468"/>
                    </a:ext>
                  </a:extLst>
                </a:gridCol>
              </a:tblGrid>
              <a:tr h="353024">
                <a:tc>
                  <a:txBody>
                    <a:bodyPr/>
                    <a:lstStyle/>
                    <a:p>
                      <a:pPr>
                        <a:buNone/>
                      </a:pPr>
                      <a:r>
                        <a:rPr lang="en-IN" dirty="0"/>
                        <a:t>Petrophysical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000"/>
                    </a:solidFill>
                  </a:tcPr>
                </a:tc>
                <a:tc>
                  <a:txBody>
                    <a:bodyPr/>
                    <a:lstStyle/>
                    <a:p>
                      <a:pPr>
                        <a:buNone/>
                      </a:pPr>
                      <a:r>
                        <a:rPr lang="en-IN" dirty="0"/>
                        <a:t>A01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000"/>
                    </a:solidFill>
                  </a:tcPr>
                </a:tc>
                <a:tc>
                  <a:txBody>
                    <a:bodyPr/>
                    <a:lstStyle/>
                    <a:p>
                      <a:pPr>
                        <a:buNone/>
                      </a:pPr>
                      <a:r>
                        <a:rPr lang="en-IN" dirty="0"/>
                        <a:t>A02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000"/>
                    </a:solidFill>
                  </a:tcPr>
                </a:tc>
                <a:tc>
                  <a:txBody>
                    <a:bodyPr/>
                    <a:lstStyle/>
                    <a:p>
                      <a:pPr>
                        <a:buNone/>
                      </a:pPr>
                      <a:r>
                        <a:rPr lang="en-IN" dirty="0"/>
                        <a:t>A03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000"/>
                    </a:solidFill>
                  </a:tcPr>
                </a:tc>
                <a:extLst>
                  <a:ext uri="{0D108BD9-81ED-4DB2-BD59-A6C34878D82A}">
                    <a16:rowId xmlns:a16="http://schemas.microsoft.com/office/drawing/2014/main" val="1549203540"/>
                  </a:ext>
                </a:extLst>
              </a:tr>
              <a:tr h="301236">
                <a:tc>
                  <a:txBody>
                    <a:bodyPr/>
                    <a:lstStyle/>
                    <a:p>
                      <a:pPr>
                        <a:buNone/>
                      </a:pPr>
                      <a:r>
                        <a:rPr lang="en-IN" dirty="0"/>
                        <a:t>Gross thickness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99.47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95.10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59.87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4538778"/>
                  </a:ext>
                </a:extLst>
              </a:tr>
              <a:tr h="301236">
                <a:tc>
                  <a:txBody>
                    <a:bodyPr/>
                    <a:lstStyle/>
                    <a:p>
                      <a:pPr>
                        <a:buNone/>
                      </a:pPr>
                      <a:r>
                        <a:rPr lang="en-IN" dirty="0"/>
                        <a:t>Net Reservoir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47.39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53.03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22.25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541715298"/>
                  </a:ext>
                </a:extLst>
              </a:tr>
              <a:tr h="301236">
                <a:tc>
                  <a:txBody>
                    <a:bodyPr/>
                    <a:lstStyle/>
                    <a:p>
                      <a:pPr>
                        <a:buNone/>
                      </a:pPr>
                      <a:r>
                        <a:rPr lang="en-IN"/>
                        <a:t>Net pay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36.27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52.27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21.03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4438228"/>
                  </a:ext>
                </a:extLst>
              </a:tr>
              <a:tr h="301236">
                <a:tc>
                  <a:txBody>
                    <a:bodyPr/>
                    <a:lstStyle/>
                    <a:p>
                      <a:pPr>
                        <a:buNone/>
                      </a:pPr>
                      <a:r>
                        <a:rPr lang="en-IN" dirty="0"/>
                        <a:t>Net-to-Gross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36.46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54.96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35.12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118552335"/>
                  </a:ext>
                </a:extLst>
              </a:tr>
              <a:tr h="301236">
                <a:tc>
                  <a:txBody>
                    <a:bodyPr/>
                    <a:lstStyle/>
                    <a:p>
                      <a:pPr>
                        <a:buNone/>
                      </a:pPr>
                      <a:r>
                        <a:rPr lang="en-IN"/>
                        <a:t>Avg Vsh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7587799"/>
                  </a:ext>
                </a:extLst>
              </a:tr>
              <a:tr h="301236">
                <a:tc>
                  <a:txBody>
                    <a:bodyPr/>
                    <a:lstStyle/>
                    <a:p>
                      <a:pPr>
                        <a:buNone/>
                      </a:pPr>
                      <a:r>
                        <a:rPr lang="en-IN"/>
                        <a:t>Avg </a:t>
                      </a:r>
                      <a:r>
                        <a:rPr lang="el-GR"/>
                        <a:t>Φ</a:t>
                      </a:r>
                      <a:r>
                        <a:rPr lang="en-IN"/>
                        <a:t>eff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979917026"/>
                  </a:ext>
                </a:extLst>
              </a:tr>
              <a:tr h="301236">
                <a:tc>
                  <a:txBody>
                    <a:bodyPr/>
                    <a:lstStyle/>
                    <a:p>
                      <a:pPr>
                        <a:buNone/>
                      </a:pPr>
                      <a:r>
                        <a:rPr lang="en-IN"/>
                        <a:t>Avg Sw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0.64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0.45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0.61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746195"/>
                  </a:ext>
                </a:extLst>
              </a:tr>
              <a:tr h="301236">
                <a:tc>
                  <a:txBody>
                    <a:bodyPr/>
                    <a:lstStyle/>
                    <a:p>
                      <a:pPr>
                        <a:buNone/>
                      </a:pPr>
                      <a:r>
                        <a:rPr lang="en-IN" dirty="0" err="1"/>
                        <a:t>Avg</a:t>
                      </a:r>
                      <a:r>
                        <a:rPr lang="en-IN" dirty="0"/>
                        <a:t> Permeability (mD)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77.34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330.09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123.95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255214463"/>
                  </a:ext>
                </a:extLst>
              </a:tr>
              <a:tr h="301236">
                <a:tc>
                  <a:txBody>
                    <a:bodyPr/>
                    <a:lstStyle/>
                    <a:p>
                      <a:pPr>
                        <a:buNone/>
                      </a:pPr>
                      <a:r>
                        <a:rPr lang="en-IN" dirty="0"/>
                        <a:t>Flow Capacity (kh)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455.02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5554.49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2267.58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699237"/>
                  </a:ext>
                </a:extLst>
              </a:tr>
              <a:tr h="301236">
                <a:tc>
                  <a:txBody>
                    <a:bodyPr/>
                    <a:lstStyle/>
                    <a:p>
                      <a:pPr>
                        <a:buNone/>
                      </a:pPr>
                      <a:r>
                        <a:rPr lang="en-IN" dirty="0"/>
                        <a:t>Rock Quality Index (RQI)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0.35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IN" dirty="0"/>
                        <a:t>0.35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111578816"/>
                  </a:ext>
                </a:extLst>
              </a:tr>
              <a:tr h="301236">
                <a:tc>
                  <a:txBody>
                    <a:bodyPr/>
                    <a:lstStyle/>
                    <a:p>
                      <a:pPr>
                        <a:buNone/>
                      </a:pPr>
                      <a:r>
                        <a:rPr lang="en-IN" dirty="0"/>
                        <a:t>Deliverability Ranking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3648532"/>
                  </a:ext>
                </a:extLst>
              </a:tr>
            </a:tbl>
          </a:graphicData>
        </a:graphic>
      </p:graphicFrame>
      <p:sp>
        <p:nvSpPr>
          <p:cNvPr id="6" name="TextBox 5">
            <a:extLst>
              <a:ext uri="{FF2B5EF4-FFF2-40B4-BE49-F238E27FC236}">
                <a16:creationId xmlns:a16="http://schemas.microsoft.com/office/drawing/2014/main" id="{BAC98104-55A5-836A-A007-E7EC27E63E8B}"/>
              </a:ext>
            </a:extLst>
          </p:cNvPr>
          <p:cNvSpPr txBox="1"/>
          <p:nvPr/>
        </p:nvSpPr>
        <p:spPr>
          <a:xfrm>
            <a:off x="5943600" y="665708"/>
            <a:ext cx="2895600" cy="307777"/>
          </a:xfrm>
          <a:prstGeom prst="rect">
            <a:avLst/>
          </a:prstGeom>
          <a:noFill/>
        </p:spPr>
        <p:txBody>
          <a:bodyPr wrap="square" rtlCol="0">
            <a:spAutoFit/>
          </a:bodyPr>
          <a:lstStyle/>
          <a:p>
            <a:r>
              <a:rPr lang="en-IN" sz="1400" b="1" dirty="0">
                <a:solidFill>
                  <a:srgbClr val="008000"/>
                </a:solidFill>
                <a:ea typeface="Sans Serif Collection" panose="020B0502040504020204" pitchFamily="34" charset="0"/>
                <a:cs typeface="Sans Serif Collection" panose="020B0502040504020204" pitchFamily="34" charset="0"/>
              </a:rPr>
              <a:t>Petrophysical Properties Summary</a:t>
            </a:r>
            <a:endParaRPr lang="en-IN" dirty="0"/>
          </a:p>
        </p:txBody>
      </p:sp>
    </p:spTree>
    <p:extLst>
      <p:ext uri="{BB962C8B-B14F-4D97-AF65-F5344CB8AC3E}">
        <p14:creationId xmlns:p14="http://schemas.microsoft.com/office/powerpoint/2010/main" val="3351147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4" name="TextBox 3">
            <a:extLst>
              <a:ext uri="{FF2B5EF4-FFF2-40B4-BE49-F238E27FC236}">
                <a16:creationId xmlns:a16="http://schemas.microsoft.com/office/drawing/2014/main" id="{D87B7072-AA26-988E-F4C7-6242DD971BD4}"/>
              </a:ext>
            </a:extLst>
          </p:cNvPr>
          <p:cNvSpPr txBox="1"/>
          <p:nvPr/>
        </p:nvSpPr>
        <p:spPr>
          <a:xfrm>
            <a:off x="221804" y="152400"/>
            <a:ext cx="5791200" cy="338554"/>
          </a:xfrm>
          <a:prstGeom prst="rect">
            <a:avLst/>
          </a:prstGeom>
          <a:noFill/>
        </p:spPr>
        <p:txBody>
          <a:bodyPr wrap="square" rtlCol="0">
            <a:spAutoFit/>
          </a:bodyPr>
          <a:lstStyle/>
          <a:p>
            <a:r>
              <a:rPr lang="en-IN" sz="1600" b="1"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rPr>
              <a:t>Net-to-Gross Analysis</a:t>
            </a:r>
            <a:endParaRPr lang="en-IN" sz="1600"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2" name="TextBox 11">
            <a:extLst>
              <a:ext uri="{FF2B5EF4-FFF2-40B4-BE49-F238E27FC236}">
                <a16:creationId xmlns:a16="http://schemas.microsoft.com/office/drawing/2014/main" id="{D7B0C2DE-910F-A8C4-101E-560FAFF9AB79}"/>
              </a:ext>
            </a:extLst>
          </p:cNvPr>
          <p:cNvSpPr txBox="1"/>
          <p:nvPr/>
        </p:nvSpPr>
        <p:spPr>
          <a:xfrm>
            <a:off x="238477" y="496955"/>
            <a:ext cx="1878844" cy="276999"/>
          </a:xfrm>
          <a:prstGeom prst="rect">
            <a:avLst/>
          </a:prstGeom>
          <a:noFill/>
        </p:spPr>
        <p:txBody>
          <a:bodyPr wrap="square" rtlCol="0">
            <a:spAutoFit/>
          </a:bodyPr>
          <a:lstStyle/>
          <a:p>
            <a:r>
              <a:rPr lang="en-US" sz="1200" b="1" dirty="0"/>
              <a:t>Gross Reservoir Thickness</a:t>
            </a:r>
            <a:endParaRPr lang="en-IN" sz="1200" b="1" dirty="0"/>
          </a:p>
        </p:txBody>
      </p:sp>
      <p:sp>
        <p:nvSpPr>
          <p:cNvPr id="13" name="TextBox 12">
            <a:extLst>
              <a:ext uri="{FF2B5EF4-FFF2-40B4-BE49-F238E27FC236}">
                <a16:creationId xmlns:a16="http://schemas.microsoft.com/office/drawing/2014/main" id="{5F6DBF99-CD6B-A4D9-2099-5A49C930F81A}"/>
              </a:ext>
            </a:extLst>
          </p:cNvPr>
          <p:cNvSpPr txBox="1"/>
          <p:nvPr/>
        </p:nvSpPr>
        <p:spPr>
          <a:xfrm>
            <a:off x="248303" y="1221841"/>
            <a:ext cx="2524005" cy="246221"/>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000" b="1" dirty="0"/>
              <a:t>Gross Thickness = Bottom depth - Top depth </a:t>
            </a:r>
          </a:p>
        </p:txBody>
      </p:sp>
      <p:sp>
        <p:nvSpPr>
          <p:cNvPr id="14" name="TextBox 13">
            <a:extLst>
              <a:ext uri="{FF2B5EF4-FFF2-40B4-BE49-F238E27FC236}">
                <a16:creationId xmlns:a16="http://schemas.microsoft.com/office/drawing/2014/main" id="{65B03284-75A3-B944-A427-60EE8423AFF8}"/>
              </a:ext>
            </a:extLst>
          </p:cNvPr>
          <p:cNvSpPr txBox="1"/>
          <p:nvPr/>
        </p:nvSpPr>
        <p:spPr>
          <a:xfrm>
            <a:off x="283230" y="1406264"/>
            <a:ext cx="2807655" cy="525977"/>
          </a:xfrm>
          <a:prstGeom prst="rect">
            <a:avLst/>
          </a:prstGeom>
          <a:noFill/>
        </p:spPr>
        <p:txBody>
          <a:bodyPr wrap="square" rtlCol="0">
            <a:spAutoFit/>
          </a:bodyPr>
          <a:lstStyle/>
          <a:p>
            <a:r>
              <a:rPr lang="en-US" sz="1000" dirty="0"/>
              <a:t>Where,</a:t>
            </a:r>
          </a:p>
          <a:p>
            <a:pPr marL="171450" indent="-171450">
              <a:buFont typeface="Arial" panose="020B0604020202020204" pitchFamily="34" charset="0"/>
              <a:buChar char="•"/>
            </a:pPr>
            <a:r>
              <a:rPr lang="en-US" sz="1000" dirty="0"/>
              <a:t>Bottom = Base of reservoir interval (m) </a:t>
            </a:r>
          </a:p>
          <a:p>
            <a:pPr marL="171450" indent="-171450">
              <a:buFont typeface="Arial" panose="020B0604020202020204" pitchFamily="34" charset="0"/>
              <a:buChar char="•"/>
            </a:pPr>
            <a:r>
              <a:rPr lang="en-US" sz="1000" dirty="0"/>
              <a:t>Top = Top of reservoir interval (m)</a:t>
            </a:r>
            <a:endParaRPr lang="en-IN" sz="1000" dirty="0"/>
          </a:p>
          <a:p>
            <a:endParaRPr lang="en-IN" dirty="0"/>
          </a:p>
        </p:txBody>
      </p:sp>
      <p:sp>
        <p:nvSpPr>
          <p:cNvPr id="15" name="TextBox 14">
            <a:extLst>
              <a:ext uri="{FF2B5EF4-FFF2-40B4-BE49-F238E27FC236}">
                <a16:creationId xmlns:a16="http://schemas.microsoft.com/office/drawing/2014/main" id="{D4DEE79A-E42D-F4E5-908C-FF1160C52859}"/>
              </a:ext>
            </a:extLst>
          </p:cNvPr>
          <p:cNvSpPr txBox="1"/>
          <p:nvPr/>
        </p:nvSpPr>
        <p:spPr>
          <a:xfrm>
            <a:off x="183224" y="1963806"/>
            <a:ext cx="2623586" cy="730969"/>
          </a:xfrm>
          <a:prstGeom prst="rect">
            <a:avLst/>
          </a:prstGeom>
          <a:noFill/>
        </p:spPr>
        <p:txBody>
          <a:bodyPr wrap="square" rtlCol="0">
            <a:spAutoFit/>
          </a:bodyPr>
          <a:lstStyle/>
          <a:p>
            <a:r>
              <a:rPr lang="en-US" sz="1050" b="1" dirty="0"/>
              <a:t>Well A01: </a:t>
            </a:r>
            <a:r>
              <a:rPr lang="en-US" sz="1050" dirty="0"/>
              <a:t>H1 = 2103.01 - 2003.54 = </a:t>
            </a:r>
            <a:r>
              <a:rPr lang="en-US" sz="1050" b="1" dirty="0"/>
              <a:t>99.47 m</a:t>
            </a:r>
          </a:p>
          <a:p>
            <a:endParaRPr lang="en-US" sz="500" dirty="0"/>
          </a:p>
          <a:p>
            <a:r>
              <a:rPr lang="en-US" sz="1050" b="1" dirty="0"/>
              <a:t>Well A02: </a:t>
            </a:r>
            <a:r>
              <a:rPr lang="en-US" sz="1050" dirty="0"/>
              <a:t>H2 = 2082.31 - 1987.21 = </a:t>
            </a:r>
            <a:r>
              <a:rPr lang="en-US" sz="1050" b="1" dirty="0"/>
              <a:t>95.10 m</a:t>
            </a:r>
          </a:p>
          <a:p>
            <a:endParaRPr lang="en-US" sz="500" dirty="0"/>
          </a:p>
          <a:p>
            <a:r>
              <a:rPr lang="en-US" sz="1050" b="1" dirty="0"/>
              <a:t>Well A03: </a:t>
            </a:r>
            <a:r>
              <a:rPr lang="en-US" sz="1050" dirty="0"/>
              <a:t>H3 = 1939.54 - 1879.67 = </a:t>
            </a:r>
            <a:r>
              <a:rPr lang="en-US" sz="1050" b="1" dirty="0"/>
              <a:t>59.87 m</a:t>
            </a:r>
            <a:endParaRPr lang="en-US" sz="1050" dirty="0"/>
          </a:p>
        </p:txBody>
      </p:sp>
      <p:sp>
        <p:nvSpPr>
          <p:cNvPr id="21" name="TextBox 20">
            <a:extLst>
              <a:ext uri="{FF2B5EF4-FFF2-40B4-BE49-F238E27FC236}">
                <a16:creationId xmlns:a16="http://schemas.microsoft.com/office/drawing/2014/main" id="{08BA5005-C192-2D43-6556-78AF9E9E14DF}"/>
              </a:ext>
            </a:extLst>
          </p:cNvPr>
          <p:cNvSpPr txBox="1"/>
          <p:nvPr/>
        </p:nvSpPr>
        <p:spPr>
          <a:xfrm>
            <a:off x="167224" y="2688750"/>
            <a:ext cx="1878844" cy="276999"/>
          </a:xfrm>
          <a:prstGeom prst="rect">
            <a:avLst/>
          </a:prstGeom>
          <a:noFill/>
        </p:spPr>
        <p:txBody>
          <a:bodyPr wrap="square" rtlCol="0">
            <a:spAutoFit/>
          </a:bodyPr>
          <a:lstStyle/>
          <a:p>
            <a:r>
              <a:rPr lang="en-US" sz="1200" b="1" dirty="0"/>
              <a:t>Net Reservoir Thickness</a:t>
            </a:r>
            <a:endParaRPr lang="en-IN" sz="1200" b="1" dirty="0"/>
          </a:p>
        </p:txBody>
      </p:sp>
      <p:sp>
        <p:nvSpPr>
          <p:cNvPr id="30" name="TextBox 29">
            <a:extLst>
              <a:ext uri="{FF2B5EF4-FFF2-40B4-BE49-F238E27FC236}">
                <a16:creationId xmlns:a16="http://schemas.microsoft.com/office/drawing/2014/main" id="{6BF793CB-8E51-2889-0908-B3432B2FAA2A}"/>
              </a:ext>
            </a:extLst>
          </p:cNvPr>
          <p:cNvSpPr txBox="1"/>
          <p:nvPr/>
        </p:nvSpPr>
        <p:spPr>
          <a:xfrm>
            <a:off x="227977" y="695003"/>
            <a:ext cx="2516340" cy="553998"/>
          </a:xfrm>
          <a:prstGeom prst="rect">
            <a:avLst/>
          </a:prstGeom>
          <a:noFill/>
        </p:spPr>
        <p:txBody>
          <a:bodyPr wrap="square" rtlCol="0">
            <a:spAutoFit/>
          </a:bodyPr>
          <a:lstStyle/>
          <a:p>
            <a:pPr algn="just"/>
            <a:r>
              <a:rPr lang="en-US" sz="1000" dirty="0"/>
              <a:t>For vertical wells, gross reservoir thickness is calculated as the difference between reservoir bottom and top depths.</a:t>
            </a:r>
            <a:endParaRPr lang="en-IN" sz="1000" dirty="0"/>
          </a:p>
        </p:txBody>
      </p:sp>
      <p:sp>
        <p:nvSpPr>
          <p:cNvPr id="41" name="TextBox 40">
            <a:extLst>
              <a:ext uri="{FF2B5EF4-FFF2-40B4-BE49-F238E27FC236}">
                <a16:creationId xmlns:a16="http://schemas.microsoft.com/office/drawing/2014/main" id="{49E64251-C596-7EA6-05A4-B47DCB848E61}"/>
              </a:ext>
            </a:extLst>
          </p:cNvPr>
          <p:cNvSpPr txBox="1"/>
          <p:nvPr/>
        </p:nvSpPr>
        <p:spPr>
          <a:xfrm>
            <a:off x="175050" y="2876951"/>
            <a:ext cx="2695357" cy="553998"/>
          </a:xfrm>
          <a:prstGeom prst="rect">
            <a:avLst/>
          </a:prstGeom>
          <a:noFill/>
        </p:spPr>
        <p:txBody>
          <a:bodyPr wrap="square" rtlCol="0">
            <a:spAutoFit/>
          </a:bodyPr>
          <a:lstStyle/>
          <a:p>
            <a:pPr algn="just"/>
            <a:r>
              <a:rPr lang="en-US" sz="1000" dirty="0"/>
              <a:t>Net reservoir is calculated by applying petrophysical cutoffs to identify reservoir-quality intervals.</a:t>
            </a:r>
            <a:endParaRPr lang="en-IN" sz="1000" dirty="0"/>
          </a:p>
        </p:txBody>
      </p:sp>
      <p:cxnSp>
        <p:nvCxnSpPr>
          <p:cNvPr id="42" name="Straight Connector 41">
            <a:extLst>
              <a:ext uri="{FF2B5EF4-FFF2-40B4-BE49-F238E27FC236}">
                <a16:creationId xmlns:a16="http://schemas.microsoft.com/office/drawing/2014/main" id="{5A25D91A-F6ED-563B-76C0-98064E291AA8}"/>
              </a:ext>
            </a:extLst>
          </p:cNvPr>
          <p:cNvCxnSpPr>
            <a:cxnSpLocks/>
          </p:cNvCxnSpPr>
          <p:nvPr/>
        </p:nvCxnSpPr>
        <p:spPr>
          <a:xfrm>
            <a:off x="6109242" y="460381"/>
            <a:ext cx="16259" cy="4838251"/>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CFC1ACA-A4AB-5C84-F7E0-745A1AB74507}"/>
              </a:ext>
            </a:extLst>
          </p:cNvPr>
          <p:cNvSpPr txBox="1"/>
          <p:nvPr/>
        </p:nvSpPr>
        <p:spPr>
          <a:xfrm>
            <a:off x="2891198" y="4800269"/>
            <a:ext cx="2935773" cy="400110"/>
          </a:xfrm>
          <a:prstGeom prst="rect">
            <a:avLst/>
          </a:prstGeom>
          <a:ln>
            <a:solidFill>
              <a:srgbClr val="006600"/>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IN" sz="1000" dirty="0"/>
              <a:t>Net pay calculated using additional water saturation cutoff: V_shale ≤ 80%, </a:t>
            </a:r>
            <a:r>
              <a:rPr lang="el-GR" sz="1000" dirty="0"/>
              <a:t>φ ≥ 15%, </a:t>
            </a:r>
            <a:r>
              <a:rPr lang="en-IN" sz="1000" dirty="0"/>
              <a:t>Sw ≤ 70%</a:t>
            </a:r>
          </a:p>
        </p:txBody>
      </p:sp>
      <p:sp>
        <p:nvSpPr>
          <p:cNvPr id="54" name="TextBox 53">
            <a:extLst>
              <a:ext uri="{FF2B5EF4-FFF2-40B4-BE49-F238E27FC236}">
                <a16:creationId xmlns:a16="http://schemas.microsoft.com/office/drawing/2014/main" id="{EAC64A27-30E1-7B35-244B-AAE8EBDD08DF}"/>
              </a:ext>
            </a:extLst>
          </p:cNvPr>
          <p:cNvSpPr txBox="1"/>
          <p:nvPr/>
        </p:nvSpPr>
        <p:spPr>
          <a:xfrm>
            <a:off x="195126" y="3369988"/>
            <a:ext cx="2695355" cy="246221"/>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a:spAutoFit/>
          </a:bodyPr>
          <a:lstStyle/>
          <a:p>
            <a:r>
              <a:rPr lang="en-US" sz="1000" b="1" dirty="0"/>
              <a:t>P</a:t>
            </a:r>
            <a:r>
              <a:rPr lang="en-US" sz="1000" b="1" i="0" dirty="0">
                <a:effectLst/>
              </a:rPr>
              <a:t>etrophysical cutoffs: V_shale ≤ 80%, φ ≥ 15%</a:t>
            </a:r>
            <a:endParaRPr lang="en-IN" sz="1000" b="1" dirty="0"/>
          </a:p>
        </p:txBody>
      </p:sp>
      <p:sp>
        <p:nvSpPr>
          <p:cNvPr id="55" name="TextBox 54">
            <a:extLst>
              <a:ext uri="{FF2B5EF4-FFF2-40B4-BE49-F238E27FC236}">
                <a16:creationId xmlns:a16="http://schemas.microsoft.com/office/drawing/2014/main" id="{5CAB0580-E4ED-E597-A69C-2C3557762008}"/>
              </a:ext>
            </a:extLst>
          </p:cNvPr>
          <p:cNvSpPr txBox="1"/>
          <p:nvPr/>
        </p:nvSpPr>
        <p:spPr>
          <a:xfrm>
            <a:off x="185657" y="3595691"/>
            <a:ext cx="2610031" cy="1169551"/>
          </a:xfrm>
          <a:prstGeom prst="rect">
            <a:avLst/>
          </a:prstGeom>
          <a:noFill/>
        </p:spPr>
        <p:txBody>
          <a:bodyPr wrap="square" rtlCol="0">
            <a:spAutoFit/>
          </a:bodyPr>
          <a:lstStyle/>
          <a:p>
            <a:r>
              <a:rPr lang="en-IN" sz="1000" b="1" dirty="0"/>
              <a:t>Methodology:</a:t>
            </a:r>
            <a:endParaRPr lang="en-IN" sz="1000" dirty="0"/>
          </a:p>
          <a:p>
            <a:pPr marL="228600" indent="-228600">
              <a:buFont typeface="+mj-lt"/>
              <a:buAutoNum type="arabicPeriod"/>
            </a:pPr>
            <a:r>
              <a:rPr lang="en-IN" sz="1000" dirty="0"/>
              <a:t>Thickness log generated in RokDoc using V_shale ≤ 80% and </a:t>
            </a:r>
            <a:r>
              <a:rPr lang="el-GR" sz="1000" dirty="0"/>
              <a:t>φ ≥ 15% </a:t>
            </a:r>
            <a:r>
              <a:rPr lang="en-IN" sz="1000" dirty="0"/>
              <a:t>cutoffs</a:t>
            </a:r>
          </a:p>
          <a:p>
            <a:pPr marL="228600" indent="-228600">
              <a:buFont typeface="+mj-lt"/>
              <a:buAutoNum type="arabicPeriod"/>
            </a:pPr>
            <a:r>
              <a:rPr lang="en-IN" sz="1000" dirty="0"/>
              <a:t>Intervals meeting both criteria flagged as net reservoir</a:t>
            </a:r>
          </a:p>
          <a:p>
            <a:pPr marL="228600" indent="-228600">
              <a:buFont typeface="+mj-lt"/>
              <a:buAutoNum type="arabicPeriod"/>
            </a:pPr>
            <a:r>
              <a:rPr lang="en-IN" sz="1000" dirty="0"/>
              <a:t>Exported to Excel and summed for each well's reservoir zone</a:t>
            </a:r>
          </a:p>
        </p:txBody>
      </p:sp>
      <p:sp>
        <p:nvSpPr>
          <p:cNvPr id="58" name="TextBox 57">
            <a:extLst>
              <a:ext uri="{FF2B5EF4-FFF2-40B4-BE49-F238E27FC236}">
                <a16:creationId xmlns:a16="http://schemas.microsoft.com/office/drawing/2014/main" id="{4C037690-6769-6E4B-FBBF-045B99409E43}"/>
              </a:ext>
            </a:extLst>
          </p:cNvPr>
          <p:cNvSpPr txBox="1"/>
          <p:nvPr/>
        </p:nvSpPr>
        <p:spPr>
          <a:xfrm>
            <a:off x="2826077" y="516828"/>
            <a:ext cx="1878844" cy="276999"/>
          </a:xfrm>
          <a:prstGeom prst="rect">
            <a:avLst/>
          </a:prstGeom>
          <a:noFill/>
        </p:spPr>
        <p:txBody>
          <a:bodyPr wrap="square" rtlCol="0">
            <a:spAutoFit/>
          </a:bodyPr>
          <a:lstStyle/>
          <a:p>
            <a:r>
              <a:rPr lang="en-US" sz="1200" b="1" dirty="0"/>
              <a:t>Net to Gross Estimation</a:t>
            </a:r>
            <a:endParaRPr lang="en-IN" sz="1200" b="1" dirty="0"/>
          </a:p>
        </p:txBody>
      </p:sp>
      <p:sp>
        <p:nvSpPr>
          <p:cNvPr id="59" name="TextBox 58">
            <a:extLst>
              <a:ext uri="{FF2B5EF4-FFF2-40B4-BE49-F238E27FC236}">
                <a16:creationId xmlns:a16="http://schemas.microsoft.com/office/drawing/2014/main" id="{E8B6BB75-70F2-0993-49AC-3C67D7C21A89}"/>
              </a:ext>
            </a:extLst>
          </p:cNvPr>
          <p:cNvSpPr txBox="1"/>
          <p:nvPr/>
        </p:nvSpPr>
        <p:spPr>
          <a:xfrm>
            <a:off x="2839886" y="699002"/>
            <a:ext cx="3038398" cy="553998"/>
          </a:xfrm>
          <a:prstGeom prst="rect">
            <a:avLst/>
          </a:prstGeom>
          <a:noFill/>
        </p:spPr>
        <p:txBody>
          <a:bodyPr wrap="square" rtlCol="0">
            <a:spAutoFit/>
          </a:bodyPr>
          <a:lstStyle/>
          <a:p>
            <a:r>
              <a:rPr lang="en-US" sz="1000" dirty="0"/>
              <a:t>Ratio of net reservoir thickness to gross thickness, indicating the proportion of reservoir-quality rock</a:t>
            </a:r>
          </a:p>
          <a:p>
            <a:r>
              <a:rPr lang="en-US" sz="1000" b="1" dirty="0"/>
              <a:t>N/G (%) = (Net Pay thickness / Gross thickness) × 100</a:t>
            </a:r>
            <a:endParaRPr lang="en-IN" sz="1000" b="1" dirty="0"/>
          </a:p>
        </p:txBody>
      </p:sp>
      <p:graphicFrame>
        <p:nvGraphicFramePr>
          <p:cNvPr id="61" name="Table 60">
            <a:extLst>
              <a:ext uri="{FF2B5EF4-FFF2-40B4-BE49-F238E27FC236}">
                <a16:creationId xmlns:a16="http://schemas.microsoft.com/office/drawing/2014/main" id="{106742B0-68CB-63AB-243E-C09211CD0A47}"/>
              </a:ext>
            </a:extLst>
          </p:cNvPr>
          <p:cNvGraphicFramePr>
            <a:graphicFrameLocks noGrp="1"/>
          </p:cNvGraphicFramePr>
          <p:nvPr>
            <p:extLst>
              <p:ext uri="{D42A27DB-BD31-4B8C-83A1-F6EECF244321}">
                <p14:modId xmlns:p14="http://schemas.microsoft.com/office/powerpoint/2010/main" val="1262919725"/>
              </p:ext>
            </p:extLst>
          </p:nvPr>
        </p:nvGraphicFramePr>
        <p:xfrm>
          <a:off x="2870407" y="1538640"/>
          <a:ext cx="3166319" cy="1097280"/>
        </p:xfrm>
        <a:graphic>
          <a:graphicData uri="http://schemas.openxmlformats.org/drawingml/2006/table">
            <a:tbl>
              <a:tblPr firstRow="1" bandRow="1">
                <a:tableStyleId>{5C22544A-7EE6-4342-B048-85BDC9FD1C3A}</a:tableStyleId>
              </a:tblPr>
              <a:tblGrid>
                <a:gridCol w="394509">
                  <a:extLst>
                    <a:ext uri="{9D8B030D-6E8A-4147-A177-3AD203B41FA5}">
                      <a16:colId xmlns:a16="http://schemas.microsoft.com/office/drawing/2014/main" val="3004174911"/>
                    </a:ext>
                  </a:extLst>
                </a:gridCol>
                <a:gridCol w="864817">
                  <a:extLst>
                    <a:ext uri="{9D8B030D-6E8A-4147-A177-3AD203B41FA5}">
                      <a16:colId xmlns:a16="http://schemas.microsoft.com/office/drawing/2014/main" val="1045502078"/>
                    </a:ext>
                  </a:extLst>
                </a:gridCol>
                <a:gridCol w="697302">
                  <a:extLst>
                    <a:ext uri="{9D8B030D-6E8A-4147-A177-3AD203B41FA5}">
                      <a16:colId xmlns:a16="http://schemas.microsoft.com/office/drawing/2014/main" val="3126419214"/>
                    </a:ext>
                  </a:extLst>
                </a:gridCol>
                <a:gridCol w="574657">
                  <a:extLst>
                    <a:ext uri="{9D8B030D-6E8A-4147-A177-3AD203B41FA5}">
                      <a16:colId xmlns:a16="http://schemas.microsoft.com/office/drawing/2014/main" val="506510588"/>
                    </a:ext>
                  </a:extLst>
                </a:gridCol>
                <a:gridCol w="635034">
                  <a:extLst>
                    <a:ext uri="{9D8B030D-6E8A-4147-A177-3AD203B41FA5}">
                      <a16:colId xmlns:a16="http://schemas.microsoft.com/office/drawing/2014/main" val="3587509162"/>
                    </a:ext>
                  </a:extLst>
                </a:gridCol>
              </a:tblGrid>
              <a:tr h="328035">
                <a:tc>
                  <a:txBody>
                    <a:bodyPr/>
                    <a:lstStyle/>
                    <a:p>
                      <a:pPr algn="l">
                        <a:buNone/>
                      </a:pPr>
                      <a:r>
                        <a:rPr lang="en-IN" sz="800" b="1" dirty="0">
                          <a:effectLst/>
                        </a:rPr>
                        <a:t>Well</a:t>
                      </a:r>
                      <a:endParaRPr lang="en-IN" sz="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pPr algn="l">
                        <a:buNone/>
                      </a:pPr>
                      <a:r>
                        <a:rPr lang="en-IN" sz="800" b="1" dirty="0">
                          <a:effectLst/>
                        </a:rPr>
                        <a:t>Gross Thickness (m)</a:t>
                      </a:r>
                      <a:endParaRPr lang="en-IN" sz="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pPr algn="l">
                        <a:buNone/>
                      </a:pPr>
                      <a:r>
                        <a:rPr lang="en-IN" sz="800" b="1" dirty="0">
                          <a:effectLst/>
                        </a:rPr>
                        <a:t>Net Reservoir (m)</a:t>
                      </a:r>
                      <a:endParaRPr lang="en-IN" sz="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pPr algn="l">
                        <a:buNone/>
                      </a:pPr>
                      <a:r>
                        <a:rPr lang="en-IN" sz="800" b="1" dirty="0">
                          <a:effectLst/>
                        </a:rPr>
                        <a:t>Net Pay (m)</a:t>
                      </a:r>
                      <a:endParaRPr lang="en-IN" sz="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tc>
                  <a:txBody>
                    <a:bodyPr/>
                    <a:lstStyle/>
                    <a:p>
                      <a:pPr algn="l">
                        <a:buNone/>
                      </a:pPr>
                      <a:r>
                        <a:rPr lang="en-IN" sz="800" b="1" dirty="0">
                          <a:effectLst/>
                        </a:rPr>
                        <a:t>N/G (%)</a:t>
                      </a:r>
                      <a:endParaRPr lang="en-IN" sz="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00"/>
                    </a:solidFill>
                  </a:tcPr>
                </a:tc>
                <a:extLst>
                  <a:ext uri="{0D108BD9-81ED-4DB2-BD59-A6C34878D82A}">
                    <a16:rowId xmlns:a16="http://schemas.microsoft.com/office/drawing/2014/main" val="705069240"/>
                  </a:ext>
                </a:extLst>
              </a:tr>
              <a:tr h="220684">
                <a:tc>
                  <a:txBody>
                    <a:bodyPr/>
                    <a:lstStyle/>
                    <a:p>
                      <a:pPr algn="l">
                        <a:buNone/>
                      </a:pPr>
                      <a:r>
                        <a:rPr lang="en-IN" sz="800" dirty="0">
                          <a:effectLst/>
                        </a:rPr>
                        <a:t>A01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99.47</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47.39</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36.27</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36.46</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205541995"/>
                  </a:ext>
                </a:extLst>
              </a:tr>
              <a:tr h="220684">
                <a:tc>
                  <a:txBody>
                    <a:bodyPr/>
                    <a:lstStyle/>
                    <a:p>
                      <a:pPr algn="l">
                        <a:buNone/>
                      </a:pPr>
                      <a:r>
                        <a:rPr lang="en-IN" sz="800">
                          <a:effectLst/>
                        </a:rPr>
                        <a:t>A02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a:effectLst/>
                        </a:rPr>
                        <a:t>95.10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dirty="0">
                          <a:effectLst/>
                        </a:rPr>
                        <a:t>53.03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dirty="0">
                          <a:effectLst/>
                        </a:rPr>
                        <a:t>52.27</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800" dirty="0">
                          <a:effectLst/>
                        </a:rPr>
                        <a:t>54.96</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8697143"/>
                  </a:ext>
                </a:extLst>
              </a:tr>
              <a:tr h="220684">
                <a:tc>
                  <a:txBody>
                    <a:bodyPr/>
                    <a:lstStyle/>
                    <a:p>
                      <a:pPr algn="l">
                        <a:buNone/>
                      </a:pPr>
                      <a:r>
                        <a:rPr lang="en-IN" sz="800" dirty="0">
                          <a:effectLst/>
                        </a:rPr>
                        <a:t>A03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59.87</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22.25</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21.03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buNone/>
                      </a:pPr>
                      <a:r>
                        <a:rPr lang="en-IN" sz="800" dirty="0">
                          <a:effectLst/>
                        </a:rPr>
                        <a:t>35.12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4290478670"/>
                  </a:ext>
                </a:extLst>
              </a:tr>
            </a:tbl>
          </a:graphicData>
        </a:graphic>
      </p:graphicFrame>
      <p:sp>
        <p:nvSpPr>
          <p:cNvPr id="63" name="TextBox 62">
            <a:extLst>
              <a:ext uri="{FF2B5EF4-FFF2-40B4-BE49-F238E27FC236}">
                <a16:creationId xmlns:a16="http://schemas.microsoft.com/office/drawing/2014/main" id="{26D31CC6-A2BB-787C-B24F-76A0942E58EE}"/>
              </a:ext>
            </a:extLst>
          </p:cNvPr>
          <p:cNvSpPr txBox="1"/>
          <p:nvPr/>
        </p:nvSpPr>
        <p:spPr>
          <a:xfrm>
            <a:off x="2774572" y="1277335"/>
            <a:ext cx="2254645" cy="276999"/>
          </a:xfrm>
          <a:prstGeom prst="rect">
            <a:avLst/>
          </a:prstGeom>
          <a:noFill/>
        </p:spPr>
        <p:txBody>
          <a:bodyPr wrap="square" rtlCol="0">
            <a:spAutoFit/>
          </a:bodyPr>
          <a:lstStyle/>
          <a:p>
            <a:r>
              <a:rPr lang="en-IN" sz="1200" b="1" dirty="0"/>
              <a:t>Reservoir Thickness Summary</a:t>
            </a:r>
          </a:p>
        </p:txBody>
      </p:sp>
      <p:cxnSp>
        <p:nvCxnSpPr>
          <p:cNvPr id="5" name="Straight Connector 4">
            <a:extLst>
              <a:ext uri="{FF2B5EF4-FFF2-40B4-BE49-F238E27FC236}">
                <a16:creationId xmlns:a16="http://schemas.microsoft.com/office/drawing/2014/main" id="{247A68DB-DB3F-4F31-1844-A7894C09CE2B}"/>
              </a:ext>
            </a:extLst>
          </p:cNvPr>
          <p:cNvCxnSpPr>
            <a:cxnSpLocks/>
          </p:cNvCxnSpPr>
          <p:nvPr/>
        </p:nvCxnSpPr>
        <p:spPr>
          <a:xfrm>
            <a:off x="212075" y="471280"/>
            <a:ext cx="10500" cy="480656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1F12FF2-0C9C-605C-8D3D-239756D54B27}"/>
              </a:ext>
            </a:extLst>
          </p:cNvPr>
          <p:cNvCxnSpPr>
            <a:cxnSpLocks/>
          </p:cNvCxnSpPr>
          <p:nvPr/>
        </p:nvCxnSpPr>
        <p:spPr>
          <a:xfrm>
            <a:off x="232401" y="5263397"/>
            <a:ext cx="9004732" cy="2889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1A611BE-2B57-8CCE-7078-6A325E2E0CD8}"/>
              </a:ext>
            </a:extLst>
          </p:cNvPr>
          <p:cNvCxnSpPr>
            <a:cxnSpLocks/>
          </p:cNvCxnSpPr>
          <p:nvPr/>
        </p:nvCxnSpPr>
        <p:spPr>
          <a:xfrm>
            <a:off x="202245" y="477193"/>
            <a:ext cx="9034884"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532558A-9967-26A2-D32C-D9394537DAFF}"/>
              </a:ext>
            </a:extLst>
          </p:cNvPr>
          <p:cNvCxnSpPr>
            <a:cxnSpLocks/>
          </p:cNvCxnSpPr>
          <p:nvPr/>
        </p:nvCxnSpPr>
        <p:spPr>
          <a:xfrm flipH="1">
            <a:off x="2793657" y="496955"/>
            <a:ext cx="9105" cy="421984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2FD6A32-40D4-1E6F-2880-E8985D965FF8}"/>
              </a:ext>
            </a:extLst>
          </p:cNvPr>
          <p:cNvSpPr txBox="1"/>
          <p:nvPr/>
        </p:nvSpPr>
        <p:spPr>
          <a:xfrm>
            <a:off x="185657" y="4744543"/>
            <a:ext cx="1352773" cy="276999"/>
          </a:xfrm>
          <a:prstGeom prst="rect">
            <a:avLst/>
          </a:prstGeom>
          <a:noFill/>
        </p:spPr>
        <p:txBody>
          <a:bodyPr wrap="square" rtlCol="0">
            <a:spAutoFit/>
          </a:bodyPr>
          <a:lstStyle/>
          <a:p>
            <a:r>
              <a:rPr lang="en-US" sz="1200" b="1" dirty="0"/>
              <a:t>Net Pay Thickness</a:t>
            </a:r>
            <a:endParaRPr lang="en-IN" sz="1200" b="1" dirty="0"/>
          </a:p>
        </p:txBody>
      </p:sp>
      <p:cxnSp>
        <p:nvCxnSpPr>
          <p:cNvPr id="20" name="Straight Connector 19">
            <a:extLst>
              <a:ext uri="{FF2B5EF4-FFF2-40B4-BE49-F238E27FC236}">
                <a16:creationId xmlns:a16="http://schemas.microsoft.com/office/drawing/2014/main" id="{664CF83F-9A85-60CF-C539-A93CDD0A304E}"/>
              </a:ext>
            </a:extLst>
          </p:cNvPr>
          <p:cNvCxnSpPr>
            <a:cxnSpLocks/>
          </p:cNvCxnSpPr>
          <p:nvPr/>
        </p:nvCxnSpPr>
        <p:spPr>
          <a:xfrm>
            <a:off x="222663" y="2694775"/>
            <a:ext cx="2580099"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C6487AD-525A-F0B0-B4D7-0065D8A157F3}"/>
              </a:ext>
            </a:extLst>
          </p:cNvPr>
          <p:cNvCxnSpPr>
            <a:cxnSpLocks/>
          </p:cNvCxnSpPr>
          <p:nvPr/>
        </p:nvCxnSpPr>
        <p:spPr>
          <a:xfrm>
            <a:off x="212075" y="3595691"/>
            <a:ext cx="2572308" cy="20518"/>
          </a:xfrm>
          <a:prstGeom prst="line">
            <a:avLst/>
          </a:prstGeom>
          <a:ln w="6350">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B74DC88-5754-5F29-3589-F1A6FE93310A}"/>
              </a:ext>
            </a:extLst>
          </p:cNvPr>
          <p:cNvCxnSpPr>
            <a:cxnSpLocks/>
          </p:cNvCxnSpPr>
          <p:nvPr/>
        </p:nvCxnSpPr>
        <p:spPr>
          <a:xfrm>
            <a:off x="228110" y="4716795"/>
            <a:ext cx="2597967" cy="838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BB93FEB7-CFBC-E639-6E42-0BADBF3AF6AD}"/>
              </a:ext>
            </a:extLst>
          </p:cNvPr>
          <p:cNvSpPr txBox="1"/>
          <p:nvPr/>
        </p:nvSpPr>
        <p:spPr>
          <a:xfrm>
            <a:off x="185657" y="4898522"/>
            <a:ext cx="2610031" cy="400110"/>
          </a:xfrm>
          <a:prstGeom prst="rect">
            <a:avLst/>
          </a:prstGeom>
          <a:noFill/>
        </p:spPr>
        <p:txBody>
          <a:bodyPr wrap="square">
            <a:spAutoFit/>
          </a:bodyPr>
          <a:lstStyle/>
          <a:p>
            <a:r>
              <a:rPr lang="en-US" sz="1000" b="1" dirty="0"/>
              <a:t>Method:</a:t>
            </a:r>
            <a:r>
              <a:rPr lang="en-US" sz="1000" dirty="0"/>
              <a:t> Same as net reservoir with additional </a:t>
            </a:r>
            <a:r>
              <a:rPr lang="en-US" sz="1000" dirty="0" err="1"/>
              <a:t>Sw</a:t>
            </a:r>
            <a:r>
              <a:rPr lang="en-US" sz="1000" dirty="0"/>
              <a:t> ≤ 70% filtering applied.</a:t>
            </a:r>
          </a:p>
        </p:txBody>
      </p:sp>
      <p:cxnSp>
        <p:nvCxnSpPr>
          <p:cNvPr id="28" name="Straight Connector 27">
            <a:extLst>
              <a:ext uri="{FF2B5EF4-FFF2-40B4-BE49-F238E27FC236}">
                <a16:creationId xmlns:a16="http://schemas.microsoft.com/office/drawing/2014/main" id="{51ECFEAC-8970-50FC-3908-4E1A79B2FB36}"/>
              </a:ext>
            </a:extLst>
          </p:cNvPr>
          <p:cNvCxnSpPr>
            <a:cxnSpLocks/>
          </p:cNvCxnSpPr>
          <p:nvPr/>
        </p:nvCxnSpPr>
        <p:spPr>
          <a:xfrm>
            <a:off x="2793665" y="1241802"/>
            <a:ext cx="3315577" cy="5071"/>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81EAE14-F9E1-74C7-5592-9D851BA91E83}"/>
              </a:ext>
            </a:extLst>
          </p:cNvPr>
          <p:cNvCxnSpPr>
            <a:cxnSpLocks/>
          </p:cNvCxnSpPr>
          <p:nvPr/>
        </p:nvCxnSpPr>
        <p:spPr>
          <a:xfrm>
            <a:off x="2790724" y="4725175"/>
            <a:ext cx="3087560" cy="19368"/>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B287905-EE19-89DD-7839-9AA4A75239FF}"/>
              </a:ext>
            </a:extLst>
          </p:cNvPr>
          <p:cNvCxnSpPr>
            <a:cxnSpLocks/>
          </p:cNvCxnSpPr>
          <p:nvPr/>
        </p:nvCxnSpPr>
        <p:spPr>
          <a:xfrm>
            <a:off x="5880554" y="4734859"/>
            <a:ext cx="0" cy="542984"/>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FF8934C3-1CF5-618F-DD07-B5920894C752}"/>
              </a:ext>
            </a:extLst>
          </p:cNvPr>
          <p:cNvCxnSpPr>
            <a:cxnSpLocks/>
          </p:cNvCxnSpPr>
          <p:nvPr/>
        </p:nvCxnSpPr>
        <p:spPr>
          <a:xfrm>
            <a:off x="2802762" y="2714043"/>
            <a:ext cx="3306480"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53017B12-5027-0C7B-9D1A-D8BE7FF97C3F}"/>
              </a:ext>
            </a:extLst>
          </p:cNvPr>
          <p:cNvCxnSpPr>
            <a:cxnSpLocks/>
          </p:cNvCxnSpPr>
          <p:nvPr/>
        </p:nvCxnSpPr>
        <p:spPr>
          <a:xfrm>
            <a:off x="9223134" y="460381"/>
            <a:ext cx="16259" cy="4838251"/>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379C014B-061C-12C2-DBCC-F0E4B411C04D}"/>
              </a:ext>
            </a:extLst>
          </p:cNvPr>
          <p:cNvSpPr txBox="1"/>
          <p:nvPr/>
        </p:nvSpPr>
        <p:spPr>
          <a:xfrm>
            <a:off x="6080280" y="517116"/>
            <a:ext cx="2312715" cy="338554"/>
          </a:xfrm>
          <a:prstGeom prst="rect">
            <a:avLst/>
          </a:prstGeom>
          <a:noFill/>
        </p:spPr>
        <p:txBody>
          <a:bodyPr wrap="square" rtlCol="0">
            <a:spAutoFit/>
          </a:bodyPr>
          <a:lstStyle/>
          <a:p>
            <a:r>
              <a:rPr lang="en-IN" sz="1600" b="1"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rPr>
              <a:t>Appraisal Well</a:t>
            </a:r>
            <a:endParaRPr lang="en-IN" sz="1600" dirty="0">
              <a:solidFill>
                <a:srgbClr val="006600"/>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9" name="Picture 68">
            <a:extLst>
              <a:ext uri="{FF2B5EF4-FFF2-40B4-BE49-F238E27FC236}">
                <a16:creationId xmlns:a16="http://schemas.microsoft.com/office/drawing/2014/main" id="{004AB89E-F12C-BA10-A777-F5C00A1FAA04}"/>
              </a:ext>
            </a:extLst>
          </p:cNvPr>
          <p:cNvPicPr>
            <a:picLocks noChangeAspect="1"/>
          </p:cNvPicPr>
          <p:nvPr/>
        </p:nvPicPr>
        <p:blipFill>
          <a:blip r:embed="rId2"/>
          <a:stretch>
            <a:fillRect/>
          </a:stretch>
        </p:blipFill>
        <p:spPr>
          <a:xfrm>
            <a:off x="2839886" y="3803803"/>
            <a:ext cx="2074022" cy="895172"/>
          </a:xfrm>
          <a:prstGeom prst="rect">
            <a:avLst/>
          </a:prstGeom>
        </p:spPr>
      </p:pic>
      <p:pic>
        <p:nvPicPr>
          <p:cNvPr id="71" name="Picture 70">
            <a:extLst>
              <a:ext uri="{FF2B5EF4-FFF2-40B4-BE49-F238E27FC236}">
                <a16:creationId xmlns:a16="http://schemas.microsoft.com/office/drawing/2014/main" id="{82EABF88-43A9-8186-B6DE-B54D318C61BA}"/>
              </a:ext>
            </a:extLst>
          </p:cNvPr>
          <p:cNvPicPr>
            <a:picLocks noChangeAspect="1"/>
          </p:cNvPicPr>
          <p:nvPr/>
        </p:nvPicPr>
        <p:blipFill>
          <a:blip r:embed="rId3" cstate="print">
            <a:extLst>
              <a:ext uri="{28A0092B-C50C-407E-A947-70E740481C1C}">
                <a14:useLocalDpi xmlns:a14="http://schemas.microsoft.com/office/drawing/2010/main" val="0"/>
              </a:ext>
            </a:extLst>
          </a:blip>
          <a:srcRect t="7659" r="50000"/>
          <a:stretch>
            <a:fillRect/>
          </a:stretch>
        </p:blipFill>
        <p:spPr>
          <a:xfrm>
            <a:off x="6178834" y="3085952"/>
            <a:ext cx="3029767" cy="2191892"/>
          </a:xfrm>
          <a:prstGeom prst="rect">
            <a:avLst/>
          </a:prstGeom>
        </p:spPr>
      </p:pic>
      <p:sp>
        <p:nvSpPr>
          <p:cNvPr id="75" name="TextBox 74">
            <a:extLst>
              <a:ext uri="{FF2B5EF4-FFF2-40B4-BE49-F238E27FC236}">
                <a16:creationId xmlns:a16="http://schemas.microsoft.com/office/drawing/2014/main" id="{5889D587-B509-E5B8-9AAC-F706BDAAEE46}"/>
              </a:ext>
            </a:extLst>
          </p:cNvPr>
          <p:cNvSpPr txBox="1"/>
          <p:nvPr/>
        </p:nvSpPr>
        <p:spPr>
          <a:xfrm>
            <a:off x="6204857" y="924412"/>
            <a:ext cx="2816281" cy="308418"/>
          </a:xfrm>
          <a:prstGeom prst="rect">
            <a:avLst/>
          </a:prstGeom>
          <a:noFill/>
        </p:spPr>
        <p:txBody>
          <a:bodyPr wrap="square" rtlCol="0">
            <a:spAutoFit/>
          </a:bodyPr>
          <a:lstStyle/>
          <a:p>
            <a:endParaRPr lang="en-IN" dirty="0"/>
          </a:p>
        </p:txBody>
      </p:sp>
      <p:cxnSp>
        <p:nvCxnSpPr>
          <p:cNvPr id="77" name="Straight Connector 76">
            <a:extLst>
              <a:ext uri="{FF2B5EF4-FFF2-40B4-BE49-F238E27FC236}">
                <a16:creationId xmlns:a16="http://schemas.microsoft.com/office/drawing/2014/main" id="{5B9B4D0E-64D9-0E45-D8F3-AA500A08C191}"/>
              </a:ext>
            </a:extLst>
          </p:cNvPr>
          <p:cNvCxnSpPr>
            <a:cxnSpLocks/>
          </p:cNvCxnSpPr>
          <p:nvPr/>
        </p:nvCxnSpPr>
        <p:spPr>
          <a:xfrm>
            <a:off x="7840980" y="4301789"/>
            <a:ext cx="0" cy="866140"/>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70D73036-D9D8-8932-735E-38BE5D2565AC}"/>
              </a:ext>
            </a:extLst>
          </p:cNvPr>
          <p:cNvCxnSpPr>
            <a:cxnSpLocks/>
          </p:cNvCxnSpPr>
          <p:nvPr/>
        </p:nvCxnSpPr>
        <p:spPr>
          <a:xfrm flipV="1">
            <a:off x="6305717" y="4312010"/>
            <a:ext cx="1520730" cy="16149"/>
          </a:xfrm>
          <a:prstGeom prst="line">
            <a:avLst/>
          </a:prstGeom>
        </p:spPr>
        <p:style>
          <a:lnRef idx="2">
            <a:schemeClr val="accent1"/>
          </a:lnRef>
          <a:fillRef idx="0">
            <a:schemeClr val="accent1"/>
          </a:fillRef>
          <a:effectRef idx="1">
            <a:schemeClr val="accent1"/>
          </a:effectRef>
          <a:fontRef idx="minor">
            <a:schemeClr val="tx1"/>
          </a:fontRef>
        </p:style>
      </p:cxnSp>
      <p:sp>
        <p:nvSpPr>
          <p:cNvPr id="83" name="Oval 82">
            <a:extLst>
              <a:ext uri="{FF2B5EF4-FFF2-40B4-BE49-F238E27FC236}">
                <a16:creationId xmlns:a16="http://schemas.microsoft.com/office/drawing/2014/main" id="{FA29D143-42BB-A181-C072-A61142E553CD}"/>
              </a:ext>
            </a:extLst>
          </p:cNvPr>
          <p:cNvSpPr/>
          <p:nvPr/>
        </p:nvSpPr>
        <p:spPr>
          <a:xfrm>
            <a:off x="7826447" y="4284070"/>
            <a:ext cx="45719" cy="45719"/>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84" name="TextBox 83">
            <a:extLst>
              <a:ext uri="{FF2B5EF4-FFF2-40B4-BE49-F238E27FC236}">
                <a16:creationId xmlns:a16="http://schemas.microsoft.com/office/drawing/2014/main" id="{4E7B6415-3612-31FE-0F3F-23BD901FB7FC}"/>
              </a:ext>
            </a:extLst>
          </p:cNvPr>
          <p:cNvSpPr txBox="1"/>
          <p:nvPr/>
        </p:nvSpPr>
        <p:spPr>
          <a:xfrm>
            <a:off x="7877421" y="3653613"/>
            <a:ext cx="967740" cy="524503"/>
          </a:xfrm>
          <a:prstGeom prst="rect">
            <a:avLst/>
          </a:prstGeom>
          <a:noFill/>
        </p:spPr>
        <p:txBody>
          <a:bodyPr wrap="square" rtlCol="0">
            <a:spAutoFit/>
          </a:bodyPr>
          <a:lstStyle/>
          <a:p>
            <a:r>
              <a:rPr lang="en-IN" dirty="0"/>
              <a:t>4448000E, 6690000N</a:t>
            </a:r>
          </a:p>
        </p:txBody>
      </p:sp>
      <p:cxnSp>
        <p:nvCxnSpPr>
          <p:cNvPr id="98" name="Straight Connector 97">
            <a:extLst>
              <a:ext uri="{FF2B5EF4-FFF2-40B4-BE49-F238E27FC236}">
                <a16:creationId xmlns:a16="http://schemas.microsoft.com/office/drawing/2014/main" id="{86118038-5C07-0A16-ECAA-4AC684C9C9AF}"/>
              </a:ext>
            </a:extLst>
          </p:cNvPr>
          <p:cNvCxnSpPr>
            <a:cxnSpLocks/>
          </p:cNvCxnSpPr>
          <p:nvPr/>
        </p:nvCxnSpPr>
        <p:spPr>
          <a:xfrm>
            <a:off x="7212452" y="4194686"/>
            <a:ext cx="802463" cy="56245"/>
          </a:xfrm>
          <a:prstGeom prst="line">
            <a:avLst/>
          </a:prstGeom>
          <a:ln w="19050"/>
        </p:spPr>
        <p:style>
          <a:lnRef idx="3">
            <a:schemeClr val="accent6"/>
          </a:lnRef>
          <a:fillRef idx="0">
            <a:schemeClr val="accent6"/>
          </a:fillRef>
          <a:effectRef idx="2">
            <a:schemeClr val="accent6"/>
          </a:effectRef>
          <a:fontRef idx="minor">
            <a:schemeClr val="tx1"/>
          </a:fontRef>
        </p:style>
      </p:cxnSp>
      <p:cxnSp>
        <p:nvCxnSpPr>
          <p:cNvPr id="101" name="Straight Connector 100">
            <a:extLst>
              <a:ext uri="{FF2B5EF4-FFF2-40B4-BE49-F238E27FC236}">
                <a16:creationId xmlns:a16="http://schemas.microsoft.com/office/drawing/2014/main" id="{F3D09DF8-FC1C-BB2B-8C72-C45647BF95BF}"/>
              </a:ext>
            </a:extLst>
          </p:cNvPr>
          <p:cNvCxnSpPr>
            <a:cxnSpLocks/>
          </p:cNvCxnSpPr>
          <p:nvPr/>
        </p:nvCxnSpPr>
        <p:spPr>
          <a:xfrm>
            <a:off x="6673404" y="3770458"/>
            <a:ext cx="298496" cy="541552"/>
          </a:xfrm>
          <a:prstGeom prst="line">
            <a:avLst/>
          </a:prstGeom>
          <a:ln w="19050"/>
        </p:spPr>
        <p:style>
          <a:lnRef idx="3">
            <a:schemeClr val="accent6"/>
          </a:lnRef>
          <a:fillRef idx="0">
            <a:schemeClr val="accent6"/>
          </a:fillRef>
          <a:effectRef idx="2">
            <a:schemeClr val="accent6"/>
          </a:effectRef>
          <a:fontRef idx="minor">
            <a:schemeClr val="tx1"/>
          </a:fontRef>
        </p:style>
      </p:cxnSp>
      <p:sp>
        <p:nvSpPr>
          <p:cNvPr id="106" name="TextBox 105">
            <a:extLst>
              <a:ext uri="{FF2B5EF4-FFF2-40B4-BE49-F238E27FC236}">
                <a16:creationId xmlns:a16="http://schemas.microsoft.com/office/drawing/2014/main" id="{DF37546E-6065-9269-087C-FA91EA36B14F}"/>
              </a:ext>
            </a:extLst>
          </p:cNvPr>
          <p:cNvSpPr txBox="1"/>
          <p:nvPr/>
        </p:nvSpPr>
        <p:spPr>
          <a:xfrm>
            <a:off x="6104371" y="751472"/>
            <a:ext cx="3239493" cy="2354491"/>
          </a:xfrm>
          <a:prstGeom prst="rect">
            <a:avLst/>
          </a:prstGeom>
          <a:noFill/>
        </p:spPr>
        <p:txBody>
          <a:bodyPr wrap="square" rtlCol="0">
            <a:spAutoFit/>
          </a:bodyPr>
          <a:lstStyle/>
          <a:p>
            <a:r>
              <a:rPr lang="en-US" sz="1050" dirty="0"/>
              <a:t>The selected location is proposed for drilling the </a:t>
            </a:r>
            <a:r>
              <a:rPr lang="en-US" sz="1050" b="1" dirty="0"/>
              <a:t>next appraisal well</a:t>
            </a:r>
            <a:r>
              <a:rPr lang="en-US" sz="1050" dirty="0"/>
              <a:t> to evaluate the </a:t>
            </a:r>
            <a:r>
              <a:rPr lang="en-US" sz="1050" b="1" dirty="0"/>
              <a:t>size, quality, and commercial potential</a:t>
            </a:r>
            <a:r>
              <a:rPr lang="en-US" sz="1050" dirty="0"/>
              <a:t> of the hydrocarbon accumulation.</a:t>
            </a:r>
          </a:p>
          <a:p>
            <a:r>
              <a:rPr lang="en-US" sz="1050" dirty="0"/>
              <a:t>The point lies within a </a:t>
            </a:r>
            <a:r>
              <a:rPr lang="en-US" sz="1050" b="1" dirty="0"/>
              <a:t>channel-levee depositional system</a:t>
            </a:r>
            <a:r>
              <a:rPr lang="en-US" sz="1050" dirty="0"/>
              <a:t> and in the </a:t>
            </a:r>
            <a:r>
              <a:rPr lang="en-US" sz="1050" b="1" dirty="0"/>
              <a:t>upthrown block</a:t>
            </a:r>
            <a:r>
              <a:rPr lang="en-US" sz="1050" dirty="0"/>
              <a:t>, providing a favorable trapping location.</a:t>
            </a:r>
          </a:p>
          <a:p>
            <a:r>
              <a:rPr lang="en-US" sz="1050" b="1" dirty="0"/>
              <a:t>Faults </a:t>
            </a:r>
            <a:r>
              <a:rPr lang="en-US" sz="1050" dirty="0"/>
              <a:t>in the region may act as the </a:t>
            </a:r>
            <a:r>
              <a:rPr lang="en-US" sz="1050" b="1" dirty="0"/>
              <a:t>potential</a:t>
            </a:r>
            <a:r>
              <a:rPr lang="en-US" sz="1050" dirty="0"/>
              <a:t> </a:t>
            </a:r>
            <a:r>
              <a:rPr lang="en-US" sz="1050" b="1" dirty="0"/>
              <a:t>migration pathways</a:t>
            </a:r>
            <a:r>
              <a:rPr lang="en-US" sz="1050" dirty="0"/>
              <a:t>, allowing hydrocarbons to move from the </a:t>
            </a:r>
            <a:r>
              <a:rPr lang="en-US" sz="1050" b="1" dirty="0"/>
              <a:t>source rock to the reservoir </a:t>
            </a:r>
            <a:r>
              <a:rPr lang="en-US" sz="1050" dirty="0"/>
              <a:t>(away from proximal part).</a:t>
            </a:r>
          </a:p>
          <a:p>
            <a:r>
              <a:rPr lang="en-US" sz="1050" dirty="0"/>
              <a:t>The </a:t>
            </a:r>
            <a:r>
              <a:rPr lang="en-US" sz="1050" b="1" dirty="0"/>
              <a:t>SNA attribute map</a:t>
            </a:r>
            <a:r>
              <a:rPr lang="en-US" sz="1050" dirty="0"/>
              <a:t> shows a </a:t>
            </a:r>
            <a:r>
              <a:rPr lang="en-US" sz="1050" b="1" dirty="0"/>
              <a:t>bright spot anomaly</a:t>
            </a:r>
            <a:r>
              <a:rPr lang="en-US" sz="1050" dirty="0"/>
              <a:t>, and the point lies near its boundary, helping to determine the </a:t>
            </a:r>
            <a:r>
              <a:rPr lang="en-US" sz="1050" b="1" dirty="0"/>
              <a:t>lateral extent of the reservoir</a:t>
            </a:r>
            <a:r>
              <a:rPr lang="en-US" sz="1050" dirty="0"/>
              <a:t>.</a:t>
            </a:r>
          </a:p>
          <a:p>
            <a:r>
              <a:rPr lang="en-US" sz="1050" dirty="0"/>
              <a:t>Therefore, </a:t>
            </a:r>
            <a:r>
              <a:rPr lang="en-US" sz="1050" b="1" dirty="0"/>
              <a:t>the appraisal well </a:t>
            </a:r>
            <a:r>
              <a:rPr lang="en-US" sz="1050" dirty="0"/>
              <a:t>is recommended near </a:t>
            </a:r>
            <a:r>
              <a:rPr lang="en-US" sz="1050" b="1" dirty="0"/>
              <a:t>444000E, 6690000N.</a:t>
            </a:r>
            <a:endParaRPr lang="en-US" sz="1050" dirty="0"/>
          </a:p>
        </p:txBody>
      </p:sp>
      <p:sp>
        <p:nvSpPr>
          <p:cNvPr id="110" name="Rectangle 3">
            <a:extLst>
              <a:ext uri="{FF2B5EF4-FFF2-40B4-BE49-F238E27FC236}">
                <a16:creationId xmlns:a16="http://schemas.microsoft.com/office/drawing/2014/main" id="{C6276741-2E64-BAC4-6950-E863C7223BE1}"/>
              </a:ext>
            </a:extLst>
          </p:cNvPr>
          <p:cNvSpPr>
            <a:spLocks noChangeArrowheads="1"/>
          </p:cNvSpPr>
          <p:nvPr/>
        </p:nvSpPr>
        <p:spPr bwMode="auto">
          <a:xfrm>
            <a:off x="2784383" y="2943667"/>
            <a:ext cx="3449622"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rPr>
              <a:t>Well A02</a:t>
            </a:r>
            <a:r>
              <a:rPr kumimoji="0" lang="en-US" altLang="en-US" sz="1050" b="0" i="0" u="none" strike="noStrike" cap="none" normalizeH="0" baseline="0" dirty="0">
                <a:ln>
                  <a:noFill/>
                </a:ln>
                <a:solidFill>
                  <a:schemeClr val="tx1"/>
                </a:solidFill>
                <a:effectLst/>
              </a:rPr>
              <a:t> shows the most favorable </a:t>
            </a:r>
            <a:r>
              <a:rPr kumimoji="0" lang="en-US" altLang="en-US" sz="1050" b="1" i="0" u="none" strike="noStrike" cap="none" normalizeH="0" baseline="0" dirty="0">
                <a:ln>
                  <a:noFill/>
                </a:ln>
                <a:solidFill>
                  <a:schemeClr val="tx1"/>
                </a:solidFill>
                <a:effectLst/>
              </a:rPr>
              <a:t>NTG value and petrophysical properties</a:t>
            </a:r>
            <a:r>
              <a:rPr kumimoji="0" lang="en-US" altLang="en-US" sz="1050" b="0" i="0" u="none" strike="noStrike" cap="none" normalizeH="0" baseline="0" dirty="0">
                <a:ln>
                  <a:noFill/>
                </a:ln>
                <a:solidFill>
                  <a:schemeClr val="tx1"/>
                </a:solidFill>
                <a:effectLst/>
              </a:rPr>
              <a:t> from well log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rPr>
              <a:t>Geological studies and </a:t>
            </a:r>
            <a:r>
              <a:rPr kumimoji="0" lang="en-US" altLang="en-US" sz="1050" b="1" i="0" u="none" strike="noStrike" cap="none" normalizeH="0" baseline="0" dirty="0">
                <a:ln>
                  <a:noFill/>
                </a:ln>
                <a:solidFill>
                  <a:schemeClr val="tx1"/>
                </a:solidFill>
                <a:effectLst/>
              </a:rPr>
              <a:t>well log correlations indicate a fault between Wells A02 and A01</a:t>
            </a:r>
            <a:r>
              <a:rPr kumimoji="0" lang="en-US" altLang="en-US" sz="105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rPr>
              <a:t>Therefore, an </a:t>
            </a:r>
            <a:r>
              <a:rPr kumimoji="0" lang="en-US" altLang="en-US" sz="1050" b="1" i="0" u="none" strike="noStrike" cap="none" normalizeH="0" baseline="0" dirty="0">
                <a:ln>
                  <a:noFill/>
                </a:ln>
                <a:solidFill>
                  <a:schemeClr val="tx1"/>
                </a:solidFill>
                <a:effectLst/>
              </a:rPr>
              <a:t>exploratory well is recommended near A02</a:t>
            </a:r>
            <a:r>
              <a:rPr kumimoji="0" lang="en-US" altLang="en-US" sz="1050" b="0" i="0" u="none" strike="noStrike" cap="none" normalizeH="0" baseline="0" dirty="0">
                <a:ln>
                  <a:noFill/>
                </a:ln>
                <a:solidFill>
                  <a:schemeClr val="tx1"/>
                </a:solidFill>
                <a:effectLst/>
              </a:rPr>
              <a:t>.</a:t>
            </a:r>
          </a:p>
        </p:txBody>
      </p:sp>
      <p:sp>
        <p:nvSpPr>
          <p:cNvPr id="111" name="TextBox 110">
            <a:extLst>
              <a:ext uri="{FF2B5EF4-FFF2-40B4-BE49-F238E27FC236}">
                <a16:creationId xmlns:a16="http://schemas.microsoft.com/office/drawing/2014/main" id="{28DE3D09-C0F5-512B-9312-646A33F25339}"/>
              </a:ext>
            </a:extLst>
          </p:cNvPr>
          <p:cNvSpPr txBox="1"/>
          <p:nvPr/>
        </p:nvSpPr>
        <p:spPr>
          <a:xfrm>
            <a:off x="4922974" y="3705571"/>
            <a:ext cx="1103340" cy="1277914"/>
          </a:xfrm>
          <a:prstGeom prst="rect">
            <a:avLst/>
          </a:prstGeom>
          <a:noFill/>
        </p:spPr>
        <p:txBody>
          <a:bodyPr wrap="square" rtlCol="0">
            <a:spAutoFit/>
          </a:bodyPr>
          <a:lstStyle/>
          <a:p>
            <a:r>
              <a:rPr lang="en-US" altLang="en-US" sz="1050" dirty="0"/>
              <a:t>However, </a:t>
            </a:r>
            <a:r>
              <a:rPr lang="en-US" altLang="en-US" sz="1050" b="1" dirty="0"/>
              <a:t>limited data in this region restricts further detailed interpretation</a:t>
            </a:r>
            <a:r>
              <a:rPr lang="en-US" altLang="en-US" sz="1050" dirty="0"/>
              <a:t>.</a:t>
            </a:r>
          </a:p>
          <a:p>
            <a:endParaRPr lang="en-IN" dirty="0"/>
          </a:p>
        </p:txBody>
      </p:sp>
      <p:sp>
        <p:nvSpPr>
          <p:cNvPr id="112" name="Oval 111">
            <a:extLst>
              <a:ext uri="{FF2B5EF4-FFF2-40B4-BE49-F238E27FC236}">
                <a16:creationId xmlns:a16="http://schemas.microsoft.com/office/drawing/2014/main" id="{E974C9B3-6270-50AB-2791-256186476BD5}"/>
              </a:ext>
            </a:extLst>
          </p:cNvPr>
          <p:cNvSpPr/>
          <p:nvPr/>
        </p:nvSpPr>
        <p:spPr>
          <a:xfrm>
            <a:off x="6566906" y="3945883"/>
            <a:ext cx="220703" cy="284196"/>
          </a:xfrm>
          <a:prstGeom prst="ellipse">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114" name="Straight Arrow Connector 113">
            <a:extLst>
              <a:ext uri="{FF2B5EF4-FFF2-40B4-BE49-F238E27FC236}">
                <a16:creationId xmlns:a16="http://schemas.microsoft.com/office/drawing/2014/main" id="{B320C72F-30E8-D303-BFA9-8904ECFEA389}"/>
              </a:ext>
            </a:extLst>
          </p:cNvPr>
          <p:cNvCxnSpPr>
            <a:cxnSpLocks/>
          </p:cNvCxnSpPr>
          <p:nvPr/>
        </p:nvCxnSpPr>
        <p:spPr>
          <a:xfrm flipH="1">
            <a:off x="7903037" y="4156367"/>
            <a:ext cx="165211" cy="1172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89022120-54BE-2D45-3BA8-6621C67FFA81}"/>
              </a:ext>
            </a:extLst>
          </p:cNvPr>
          <p:cNvSpPr txBox="1"/>
          <p:nvPr/>
        </p:nvSpPr>
        <p:spPr>
          <a:xfrm>
            <a:off x="2782105" y="2725050"/>
            <a:ext cx="3516514" cy="307777"/>
          </a:xfrm>
          <a:prstGeom prst="rect">
            <a:avLst/>
          </a:prstGeom>
          <a:noFill/>
        </p:spPr>
        <p:txBody>
          <a:bodyPr wrap="square" rtlCol="0">
            <a:spAutoFit/>
          </a:bodyPr>
          <a:lstStyle/>
          <a:p>
            <a:r>
              <a:rPr lang="en-IN" sz="1400" b="1" dirty="0">
                <a:solidFill>
                  <a:srgbClr val="006600"/>
                </a:solidFill>
                <a:ea typeface="Sans Serif Collection" panose="020B0502040504020204" pitchFamily="34" charset="0"/>
                <a:cs typeface="Sans Serif Collection" panose="020B0502040504020204" pitchFamily="34" charset="0"/>
              </a:rPr>
              <a:t>Further development recommendation</a:t>
            </a:r>
            <a:endParaRPr lang="en-IN" sz="1400" dirty="0">
              <a:solidFill>
                <a:srgbClr val="006600"/>
              </a:solidFill>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713970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1337D1BC-CA74-328A-C6BD-D7F2154B9D3C}"/>
              </a:ext>
            </a:extLst>
          </p:cNvPr>
          <p:cNvSpPr/>
          <p:nvPr/>
        </p:nvSpPr>
        <p:spPr>
          <a:xfrm>
            <a:off x="6984667" y="2300157"/>
            <a:ext cx="2198135" cy="17316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93" name="Rectangle 92">
            <a:extLst>
              <a:ext uri="{FF2B5EF4-FFF2-40B4-BE49-F238E27FC236}">
                <a16:creationId xmlns:a16="http://schemas.microsoft.com/office/drawing/2014/main" id="{D82650FF-FA00-BF0A-37EA-F02F8070682F}"/>
              </a:ext>
            </a:extLst>
          </p:cNvPr>
          <p:cNvSpPr/>
          <p:nvPr/>
        </p:nvSpPr>
        <p:spPr>
          <a:xfrm>
            <a:off x="4435161" y="717457"/>
            <a:ext cx="2276330" cy="140991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2" name="Wave 1"/>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4" name="Rectangle 3">
            <a:extLst>
              <a:ext uri="{FF2B5EF4-FFF2-40B4-BE49-F238E27FC236}">
                <a16:creationId xmlns:a16="http://schemas.microsoft.com/office/drawing/2014/main" id="{C9D4A1C0-AEF8-643F-E3A9-B76007EF03BB}"/>
              </a:ext>
            </a:extLst>
          </p:cNvPr>
          <p:cNvSpPr/>
          <p:nvPr/>
        </p:nvSpPr>
        <p:spPr>
          <a:xfrm>
            <a:off x="275781" y="510446"/>
            <a:ext cx="3874799" cy="12173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9098" tIns="34549" rIns="69098" bIns="34549" numCol="1" spcCol="0" rtlCol="0" fromWordArt="0" anchor="ctr" anchorCtr="0" forceAA="0" compatLnSpc="1">
            <a:prstTxWarp prst="textNoShape">
              <a:avLst/>
            </a:prstTxWarp>
            <a:noAutofit/>
          </a:bodyPr>
          <a:lstStyle/>
          <a:p>
            <a:pPr algn="ctr"/>
            <a:endParaRPr lang="en-IN" sz="1061"/>
          </a:p>
        </p:txBody>
      </p:sp>
      <p:sp>
        <p:nvSpPr>
          <p:cNvPr id="5" name="Title 1">
            <a:extLst>
              <a:ext uri="{FF2B5EF4-FFF2-40B4-BE49-F238E27FC236}">
                <a16:creationId xmlns:a16="http://schemas.microsoft.com/office/drawing/2014/main" id="{95C65325-5418-549A-66D2-7DD944663BEA}"/>
              </a:ext>
            </a:extLst>
          </p:cNvPr>
          <p:cNvSpPr txBox="1">
            <a:spLocks/>
          </p:cNvSpPr>
          <p:nvPr/>
        </p:nvSpPr>
        <p:spPr>
          <a:xfrm>
            <a:off x="275782" y="222427"/>
            <a:ext cx="7636219" cy="256097"/>
          </a:xfrm>
          <a:prstGeom prst="rect">
            <a:avLst/>
          </a:prstGeom>
        </p:spPr>
        <p:txBody>
          <a:bodyPr wrap="square" lIns="0" tIns="0" rIns="0" bIns="0">
            <a:noAutofit/>
          </a:bodyPr>
          <a:lstStyle>
            <a:lvl1pPr>
              <a:defRPr sz="2800" b="0" i="0">
                <a:solidFill>
                  <a:srgbClr val="006500"/>
                </a:solidFill>
                <a:latin typeface="Trebuchet MS"/>
                <a:ea typeface="+mj-ea"/>
                <a:cs typeface="Trebuchet MS"/>
              </a:defRPr>
            </a:lvl1p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STOIIP Calculation I</a:t>
            </a:r>
          </a:p>
        </p:txBody>
      </p:sp>
      <p:sp>
        <p:nvSpPr>
          <p:cNvPr id="8" name="TextBox 7">
            <a:extLst>
              <a:ext uri="{FF2B5EF4-FFF2-40B4-BE49-F238E27FC236}">
                <a16:creationId xmlns:a16="http://schemas.microsoft.com/office/drawing/2014/main" id="{1774519F-38FB-0715-E72F-0EFB0F195E03}"/>
              </a:ext>
            </a:extLst>
          </p:cNvPr>
          <p:cNvSpPr txBox="1"/>
          <p:nvPr/>
        </p:nvSpPr>
        <p:spPr>
          <a:xfrm>
            <a:off x="327532" y="2166264"/>
            <a:ext cx="2440056" cy="307777"/>
          </a:xfrm>
          <a:prstGeom prst="rect">
            <a:avLst/>
          </a:prstGeom>
          <a:noFill/>
        </p:spPr>
        <p:txBody>
          <a:bodyPr wrap="square" rtlCol="0">
            <a:spAutoFit/>
          </a:bodyPr>
          <a:lstStyle/>
          <a:p>
            <a:r>
              <a:rPr lang="en-IN" sz="1400" b="1" u="sng" dirty="0">
                <a:solidFill>
                  <a:srgbClr val="006600"/>
                </a:solidFill>
              </a:rPr>
              <a:t>1.Area  </a:t>
            </a:r>
          </a:p>
        </p:txBody>
      </p:sp>
      <p:pic>
        <p:nvPicPr>
          <p:cNvPr id="9" name="Picture 2">
            <a:extLst>
              <a:ext uri="{FF2B5EF4-FFF2-40B4-BE49-F238E27FC236}">
                <a16:creationId xmlns:a16="http://schemas.microsoft.com/office/drawing/2014/main" id="{69EE9088-B86E-4748-B266-44A6E6D2E7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0859" y="4121714"/>
            <a:ext cx="3049824" cy="113877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D7E110B2-1694-E152-4EF0-8A94F3F5E6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3510" y="4261536"/>
            <a:ext cx="2838122" cy="101630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C6705FFA-BFF1-76BD-B60B-20E21F7E5098}"/>
              </a:ext>
            </a:extLst>
          </p:cNvPr>
          <p:cNvSpPr>
            <a:spLocks noChangeArrowheads="1"/>
          </p:cNvSpPr>
          <p:nvPr/>
        </p:nvSpPr>
        <p:spPr bwMode="auto">
          <a:xfrm>
            <a:off x="240194" y="4174451"/>
            <a:ext cx="1153046" cy="76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098" tIns="34549" rIns="69098" bIns="34549" numCol="1" anchor="ctr" anchorCtr="0" compatLnSpc="1">
            <a:prstTxWarp prst="textNoShape">
              <a:avLst/>
            </a:prstTxWarp>
            <a:spAutoFit/>
          </a:bodyPr>
          <a:lstStyle/>
          <a:p>
            <a:pPr defTabSz="691012" eaLnBrk="0" fontAlgn="base" hangingPunct="0">
              <a:spcBef>
                <a:spcPct val="0"/>
              </a:spcBef>
              <a:spcAft>
                <a:spcPct val="0"/>
              </a:spcAft>
            </a:pPr>
            <a:r>
              <a:rPr lang="en-US" altLang="en-US" sz="1000" dirty="0">
                <a:latin typeface="Calibri" panose="020F0502020204030204" pitchFamily="34" charset="0"/>
                <a:ea typeface="Calibri" panose="020F0502020204030204" pitchFamily="34" charset="0"/>
                <a:cs typeface="Times New Roman" panose="02020603050405020304" pitchFamily="18" charset="0"/>
              </a:rPr>
              <a:t>1.2.Most likely:-</a:t>
            </a:r>
            <a:endParaRPr lang="en-US" altLang="en-US" sz="1000" dirty="0"/>
          </a:p>
          <a:p>
            <a:pPr defTabSz="691012" eaLnBrk="0" fontAlgn="base" hangingPunct="0">
              <a:spcBef>
                <a:spcPct val="0"/>
              </a:spcBef>
              <a:spcAft>
                <a:spcPct val="0"/>
              </a:spcAft>
            </a:pPr>
            <a:r>
              <a:rPr lang="en-US" altLang="en-US" sz="1000" dirty="0">
                <a:latin typeface="Calibri" panose="020F0502020204030204" pitchFamily="34" charset="0"/>
                <a:ea typeface="Calibri" panose="020F0502020204030204" pitchFamily="34" charset="0"/>
                <a:cs typeface="Times New Roman" panose="02020603050405020304" pitchFamily="18" charset="0"/>
              </a:rPr>
              <a:t>these polygons encloses the amplitude&gt;10000.</a:t>
            </a:r>
            <a:endParaRPr lang="en-US" altLang="en-US" sz="1000" dirty="0"/>
          </a:p>
          <a:p>
            <a:pPr defTabSz="691012" eaLnBrk="0" fontAlgn="base" hangingPunct="0">
              <a:spcBef>
                <a:spcPct val="0"/>
              </a:spcBef>
              <a:spcAft>
                <a:spcPct val="0"/>
              </a:spcAft>
            </a:pPr>
            <a:endParaRPr lang="en-US" altLang="en-US" sz="529" dirty="0"/>
          </a:p>
        </p:txBody>
      </p:sp>
      <p:sp>
        <p:nvSpPr>
          <p:cNvPr id="12" name="Rectangle 4">
            <a:extLst>
              <a:ext uri="{FF2B5EF4-FFF2-40B4-BE49-F238E27FC236}">
                <a16:creationId xmlns:a16="http://schemas.microsoft.com/office/drawing/2014/main" id="{F6AAC38F-F059-5DE6-1120-7ABE32F10982}"/>
              </a:ext>
            </a:extLst>
          </p:cNvPr>
          <p:cNvSpPr>
            <a:spLocks noChangeArrowheads="1"/>
          </p:cNvSpPr>
          <p:nvPr/>
        </p:nvSpPr>
        <p:spPr bwMode="auto">
          <a:xfrm>
            <a:off x="4491242" y="4132618"/>
            <a:ext cx="1861883" cy="685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098" tIns="34549" rIns="69098" bIns="34549"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defTabSz="691012"/>
            <a:r>
              <a:rPr lang="en-US" altLang="en-US" sz="1000" dirty="0">
                <a:latin typeface="Calibri" panose="020F0502020204030204" pitchFamily="34" charset="0"/>
                <a:ea typeface="Calibri" panose="020F0502020204030204" pitchFamily="34" charset="0"/>
                <a:cs typeface="Times New Roman" panose="02020603050405020304" pitchFamily="18" charset="0"/>
              </a:rPr>
              <a:t>1.3.Min:-</a:t>
            </a:r>
            <a:endParaRPr lang="en-US" altLang="en-US" sz="1000" dirty="0"/>
          </a:p>
          <a:p>
            <a:pPr defTabSz="691012"/>
            <a:r>
              <a:rPr lang="en-US" altLang="en-US" sz="1000" dirty="0">
                <a:latin typeface="Calibri" panose="020F0502020204030204" pitchFamily="34" charset="0"/>
                <a:ea typeface="Calibri" panose="020F0502020204030204" pitchFamily="34" charset="0"/>
                <a:cs typeface="Times New Roman" panose="02020603050405020304" pitchFamily="18" charset="0"/>
              </a:rPr>
              <a:t>For this case we have taken the polygons which encloses the amplitude&gt;16000</a:t>
            </a:r>
            <a:endParaRPr lang="en-US" altLang="en-US" sz="1000" dirty="0"/>
          </a:p>
        </p:txBody>
      </p:sp>
      <p:sp>
        <p:nvSpPr>
          <p:cNvPr id="13" name="Rectangle 5">
            <a:extLst>
              <a:ext uri="{FF2B5EF4-FFF2-40B4-BE49-F238E27FC236}">
                <a16:creationId xmlns:a16="http://schemas.microsoft.com/office/drawing/2014/main" id="{A212221C-ADE0-B7C6-CB63-2B773A971550}"/>
              </a:ext>
            </a:extLst>
          </p:cNvPr>
          <p:cNvSpPr>
            <a:spLocks noChangeArrowheads="1"/>
          </p:cNvSpPr>
          <p:nvPr/>
        </p:nvSpPr>
        <p:spPr bwMode="auto">
          <a:xfrm>
            <a:off x="4523326" y="4808325"/>
            <a:ext cx="1758269" cy="377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098" tIns="34549" rIns="69098" bIns="34549" numCol="1" anchor="ctr" anchorCtr="0" compatLnSpc="1">
            <a:prstTxWarp prst="textNoShape">
              <a:avLst/>
            </a:prstTxWarp>
            <a:spAutoFit/>
          </a:bodyPr>
          <a:lstStyle/>
          <a:p>
            <a:pPr defTabSz="691012" eaLnBrk="0" fontAlgn="base" hangingPunct="0">
              <a:spcBef>
                <a:spcPct val="0"/>
              </a:spcBef>
              <a:spcAft>
                <a:spcPct val="0"/>
              </a:spcAft>
            </a:pPr>
            <a:r>
              <a:rPr lang="en-US" altLang="en-US" sz="1000" dirty="0">
                <a:ea typeface="Calibri" panose="020F0502020204030204" pitchFamily="34" charset="0"/>
                <a:cs typeface="Times New Roman" panose="02020603050405020304" pitchFamily="18" charset="0"/>
              </a:rPr>
              <a:t>Area=0.306+1.123+0.098 sq. Km=</a:t>
            </a:r>
            <a:r>
              <a:rPr lang="en-US" altLang="en-US" sz="1000" b="1" dirty="0">
                <a:ea typeface="Calibri" panose="020F0502020204030204" pitchFamily="34" charset="0"/>
                <a:cs typeface="Times New Roman" panose="02020603050405020304" pitchFamily="18" charset="0"/>
              </a:rPr>
              <a:t>1.527 </a:t>
            </a:r>
            <a:r>
              <a:rPr lang="en-US" altLang="en-US" sz="1000" b="1" dirty="0" err="1">
                <a:ea typeface="Calibri" panose="020F0502020204030204" pitchFamily="34" charset="0"/>
                <a:cs typeface="Times New Roman" panose="02020603050405020304" pitchFamily="18" charset="0"/>
              </a:rPr>
              <a:t>sq.Km</a:t>
            </a:r>
            <a:r>
              <a:rPr lang="en-US" altLang="en-US" sz="1000" dirty="0"/>
              <a:t> </a:t>
            </a:r>
          </a:p>
        </p:txBody>
      </p:sp>
      <p:sp>
        <p:nvSpPr>
          <p:cNvPr id="14" name="Rectangle 7">
            <a:extLst>
              <a:ext uri="{FF2B5EF4-FFF2-40B4-BE49-F238E27FC236}">
                <a16:creationId xmlns:a16="http://schemas.microsoft.com/office/drawing/2014/main" id="{212F6EF3-A2DF-C2B8-F4DE-AAF9F918F2C5}"/>
              </a:ext>
            </a:extLst>
          </p:cNvPr>
          <p:cNvSpPr>
            <a:spLocks noChangeArrowheads="1"/>
          </p:cNvSpPr>
          <p:nvPr/>
        </p:nvSpPr>
        <p:spPr bwMode="auto">
          <a:xfrm>
            <a:off x="212075" y="2367194"/>
            <a:ext cx="4146056" cy="377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098" tIns="34549" rIns="69098" bIns="34549" numCol="1" anchor="ctr" anchorCtr="0" compatLnSpc="1">
            <a:prstTxWarp prst="textNoShape">
              <a:avLst/>
            </a:prstTxWarp>
            <a:spAutoFit/>
          </a:bodyPr>
          <a:lstStyle/>
          <a:p>
            <a:pPr defTabSz="691012" eaLnBrk="0" fontAlgn="base" hangingPunct="0">
              <a:spcBef>
                <a:spcPct val="0"/>
              </a:spcBef>
              <a:spcAft>
                <a:spcPct val="0"/>
              </a:spcAft>
            </a:pPr>
            <a:r>
              <a:rPr lang="en-US" altLang="en-US" sz="1000" dirty="0">
                <a:latin typeface="Calibri" panose="020F0502020204030204" pitchFamily="34" charset="0"/>
                <a:ea typeface="Calibri" panose="020F0502020204030204" pitchFamily="34" charset="0"/>
                <a:cs typeface="Times New Roman" panose="02020603050405020304" pitchFamily="18" charset="0"/>
              </a:rPr>
              <a:t>1.1.Max:-</a:t>
            </a:r>
            <a:endParaRPr lang="en-US" altLang="en-US" sz="1000" dirty="0"/>
          </a:p>
          <a:p>
            <a:pPr defTabSz="691012" eaLnBrk="0" fontAlgn="base" hangingPunct="0">
              <a:spcBef>
                <a:spcPct val="0"/>
              </a:spcBef>
              <a:spcAft>
                <a:spcPct val="0"/>
              </a:spcAft>
            </a:pPr>
            <a:r>
              <a:rPr lang="en-US" altLang="en-US" sz="1000" dirty="0">
                <a:latin typeface="Calibri" panose="020F0502020204030204" pitchFamily="34" charset="0"/>
                <a:ea typeface="Calibri" panose="020F0502020204030204" pitchFamily="34" charset="0"/>
                <a:cs typeface="Times New Roman" panose="02020603050405020304" pitchFamily="18" charset="0"/>
              </a:rPr>
              <a:t>For this case we have taken the polygons which encloses the amplitude&gt;6000</a:t>
            </a:r>
            <a:endParaRPr lang="en-US" altLang="en-US" sz="1000" dirty="0"/>
          </a:p>
        </p:txBody>
      </p:sp>
      <p:sp>
        <p:nvSpPr>
          <p:cNvPr id="15" name="Rectangle 8">
            <a:extLst>
              <a:ext uri="{FF2B5EF4-FFF2-40B4-BE49-F238E27FC236}">
                <a16:creationId xmlns:a16="http://schemas.microsoft.com/office/drawing/2014/main" id="{A5721D62-0CC7-51E0-401C-686907CB71C7}"/>
              </a:ext>
            </a:extLst>
          </p:cNvPr>
          <p:cNvSpPr>
            <a:spLocks noChangeArrowheads="1"/>
          </p:cNvSpPr>
          <p:nvPr/>
        </p:nvSpPr>
        <p:spPr bwMode="auto">
          <a:xfrm>
            <a:off x="202249" y="3845882"/>
            <a:ext cx="3369410" cy="223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9098" tIns="34549" rIns="69098" bIns="34549" numCol="1" anchor="ctr" anchorCtr="0" compatLnSpc="1">
            <a:prstTxWarp prst="textNoShape">
              <a:avLst/>
            </a:prstTxWarp>
            <a:spAutoFit/>
          </a:bodyPr>
          <a:lstStyle/>
          <a:p>
            <a:pPr defTabSz="691012" eaLnBrk="0" fontAlgn="base" hangingPunct="0">
              <a:spcBef>
                <a:spcPct val="0"/>
              </a:spcBef>
              <a:spcAft>
                <a:spcPct val="0"/>
              </a:spcAft>
            </a:pPr>
            <a:r>
              <a:rPr lang="en-US" altLang="en-US" sz="1000" dirty="0">
                <a:latin typeface="Calibri" panose="020F0502020204030204" pitchFamily="34" charset="0"/>
                <a:ea typeface="Calibri" panose="020F0502020204030204" pitchFamily="34" charset="0"/>
                <a:cs typeface="Times New Roman" panose="02020603050405020304" pitchFamily="18" charset="0"/>
              </a:rPr>
              <a:t>Area=</a:t>
            </a:r>
            <a:r>
              <a:rPr lang="en-US" altLang="en-US" sz="1000" b="1" dirty="0">
                <a:latin typeface="Calibri" panose="020F0502020204030204" pitchFamily="34" charset="0"/>
                <a:ea typeface="Calibri" panose="020F0502020204030204" pitchFamily="34" charset="0"/>
                <a:cs typeface="Times New Roman" panose="02020603050405020304" pitchFamily="18" charset="0"/>
              </a:rPr>
              <a:t>7.983sq.Km</a:t>
            </a:r>
            <a:endParaRPr lang="en-US" altLang="en-US" sz="1000" dirty="0">
              <a:latin typeface="Arial" panose="020B0604020202020204" pitchFamily="34" charset="0"/>
            </a:endParaRPr>
          </a:p>
        </p:txBody>
      </p:sp>
      <p:pic>
        <p:nvPicPr>
          <p:cNvPr id="16" name="Picture 7">
            <a:extLst>
              <a:ext uri="{FF2B5EF4-FFF2-40B4-BE49-F238E27FC236}">
                <a16:creationId xmlns:a16="http://schemas.microsoft.com/office/drawing/2014/main" id="{432A5065-BB79-7CD4-6D62-14297BF07C4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666" y="2748589"/>
            <a:ext cx="3331581" cy="113595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BBBBB621-C689-4969-E9EB-104B5CA0511B}"/>
              </a:ext>
            </a:extLst>
          </p:cNvPr>
          <p:cNvGrpSpPr/>
          <p:nvPr/>
        </p:nvGrpSpPr>
        <p:grpSpPr>
          <a:xfrm>
            <a:off x="275782" y="519699"/>
            <a:ext cx="3874799" cy="1192581"/>
            <a:chOff x="275782" y="694621"/>
            <a:chExt cx="3874799" cy="1192581"/>
          </a:xfrm>
        </p:grpSpPr>
        <p:sp>
          <p:nvSpPr>
            <p:cNvPr id="6" name="TextBox 5">
              <a:extLst>
                <a:ext uri="{FF2B5EF4-FFF2-40B4-BE49-F238E27FC236}">
                  <a16:creationId xmlns:a16="http://schemas.microsoft.com/office/drawing/2014/main" id="{4C4FF1C3-8974-64A9-35FA-CA4E4823CA91}"/>
                </a:ext>
              </a:extLst>
            </p:cNvPr>
            <p:cNvSpPr txBox="1"/>
            <p:nvPr/>
          </p:nvSpPr>
          <p:spPr>
            <a:xfrm>
              <a:off x="275782" y="876476"/>
              <a:ext cx="3874799" cy="1010726"/>
            </a:xfrm>
            <a:prstGeom prst="rect">
              <a:avLst/>
            </a:prstGeom>
            <a:noFill/>
          </p:spPr>
          <p:txBody>
            <a:bodyPr wrap="square">
              <a:spAutoFit/>
            </a:bodyPr>
            <a:lstStyle/>
            <a:p>
              <a:endParaRPr lang="en-IN" sz="1061" dirty="0">
                <a:solidFill>
                  <a:srgbClr val="231F20"/>
                </a:solidFill>
                <a:latin typeface="GillSans_2k"/>
              </a:endParaRPr>
            </a:p>
            <a:p>
              <a:endParaRPr lang="en-IN" sz="907" dirty="0">
                <a:solidFill>
                  <a:srgbClr val="231F20"/>
                </a:solidFill>
              </a:endParaRPr>
            </a:p>
            <a:p>
              <a:r>
                <a:rPr lang="en-IN" sz="1000" dirty="0">
                  <a:solidFill>
                    <a:srgbClr val="231F20"/>
                  </a:solidFill>
                </a:rPr>
                <a:t>Bulk Rock Volume (acre feet) = A * h , A = Drainage area (acres), h = Net pay thickness (feet), 7,758 = API </a:t>
              </a:r>
              <a:r>
                <a:rPr lang="en-IN" sz="1000" dirty="0" err="1">
                  <a:solidFill>
                    <a:srgbClr val="231F20"/>
                  </a:solidFill>
                </a:rPr>
                <a:t>Bbl</a:t>
              </a:r>
              <a:r>
                <a:rPr lang="en-IN" sz="1000" dirty="0">
                  <a:solidFill>
                    <a:srgbClr val="231F20"/>
                  </a:solidFill>
                </a:rPr>
                <a:t> per acre-feet </a:t>
              </a:r>
            </a:p>
            <a:p>
              <a:r>
                <a:rPr lang="en-IN" sz="1000" dirty="0">
                  <a:solidFill>
                    <a:srgbClr val="231F20"/>
                  </a:solidFill>
                </a:rPr>
                <a:t> = Porosity, </a:t>
              </a:r>
              <a:r>
                <a:rPr lang="en-IN" sz="1000" dirty="0" err="1">
                  <a:solidFill>
                    <a:srgbClr val="231F20"/>
                  </a:solidFill>
                </a:rPr>
                <a:t>Sw</a:t>
              </a:r>
              <a:r>
                <a:rPr lang="en-IN" sz="1000" dirty="0">
                  <a:solidFill>
                    <a:srgbClr val="231F20"/>
                  </a:solidFill>
                </a:rPr>
                <a:t> = water saturation, Bo =1.3 Formation volume factor (Reservoir </a:t>
              </a:r>
              <a:r>
                <a:rPr lang="en-IN" sz="1000" dirty="0" err="1">
                  <a:solidFill>
                    <a:srgbClr val="231F20"/>
                  </a:solidFill>
                </a:rPr>
                <a:t>Bbl</a:t>
              </a:r>
              <a:r>
                <a:rPr lang="en-IN" sz="1000" dirty="0">
                  <a:solidFill>
                    <a:srgbClr val="231F20"/>
                  </a:solidFill>
                </a:rPr>
                <a:t>/STB) 1/Bo = Shrinkage (STB/reservoir </a:t>
              </a:r>
              <a:r>
                <a:rPr lang="en-IN" sz="1000" dirty="0" err="1">
                  <a:solidFill>
                    <a:srgbClr val="231F20"/>
                  </a:solidFill>
                </a:rPr>
                <a:t>Bbl</a:t>
              </a:r>
              <a:r>
                <a:rPr lang="en-IN" sz="1000" dirty="0">
                  <a:solidFill>
                    <a:srgbClr val="231F20"/>
                  </a:solidFill>
                </a:rPr>
                <a:t>) </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2419A183-94BB-B5BA-050F-7D0280A69FCE}"/>
                    </a:ext>
                  </a:extLst>
                </p:cNvPr>
                <p:cNvSpPr txBox="1"/>
                <p:nvPr/>
              </p:nvSpPr>
              <p:spPr>
                <a:xfrm>
                  <a:off x="324662" y="694621"/>
                  <a:ext cx="3825919" cy="524503"/>
                </a:xfrm>
                <a:prstGeom prst="rect">
                  <a:avLst/>
                </a:prstGeom>
                <a:noFill/>
              </p:spPr>
              <p:txBody>
                <a:bodyPr wrap="square" rtlCol="0">
                  <a:spAutoFit/>
                </a:bodyPr>
                <a:lstStyle/>
                <a:p>
                  <a:r>
                    <a:rPr lang="en-IN" sz="1400" dirty="0"/>
                    <a:t>STOIIP(MMBO):-</a:t>
                  </a:r>
                </a:p>
                <a:p>
                  <a:r>
                    <a:rPr lang="en-IN" sz="1400" dirty="0"/>
                    <a:t>(Bulk Rock Volume*7758*</a:t>
                  </a:r>
                  <a14:m>
                    <m:oMath xmlns:m="http://schemas.openxmlformats.org/officeDocument/2006/math">
                      <m:r>
                        <a:rPr lang="en-IN" sz="1400" i="1" smtClean="0">
                          <a:latin typeface="Cambria Math" panose="02040503050406030204" pitchFamily="18" charset="0"/>
                        </a:rPr>
                        <m:t>𝛷</m:t>
                      </m:r>
                    </m:oMath>
                  </a14:m>
                  <a:r>
                    <a:rPr lang="en-IN" sz="1400" dirty="0"/>
                    <a:t>*(1-</a:t>
                  </a:r>
                  <a14:m>
                    <m:oMath xmlns:m="http://schemas.openxmlformats.org/officeDocument/2006/math">
                      <m:sSub>
                        <m:sSubPr>
                          <m:ctrlPr>
                            <a:rPr lang="en-IN" sz="1400" smtClean="0">
                              <a:latin typeface="Cambria Math" panose="02040503050406030204" pitchFamily="18" charset="0"/>
                            </a:rPr>
                          </m:ctrlPr>
                        </m:sSubPr>
                        <m:e>
                          <m:r>
                            <a:rPr lang="en-IN" sz="1400" i="1" smtClean="0">
                              <a:latin typeface="Cambria Math" panose="02040503050406030204" pitchFamily="18" charset="0"/>
                            </a:rPr>
                            <m:t>𝑠</m:t>
                          </m:r>
                        </m:e>
                        <m:sub>
                          <m:r>
                            <a:rPr lang="en-IN" sz="1400" i="1" smtClean="0">
                              <a:latin typeface="Cambria Math" panose="02040503050406030204" pitchFamily="18" charset="0"/>
                            </a:rPr>
                            <m:t>𝑤</m:t>
                          </m:r>
                        </m:sub>
                      </m:sSub>
                    </m:oMath>
                  </a14:m>
                  <a:r>
                    <a:rPr lang="en-IN" sz="1400" dirty="0"/>
                    <a:t>)*1/</a:t>
                  </a:r>
                  <a14:m>
                    <m:oMath xmlns:m="http://schemas.openxmlformats.org/officeDocument/2006/math">
                      <m:sSub>
                        <m:sSubPr>
                          <m:ctrlPr>
                            <a:rPr lang="en-IN" sz="1400" dirty="0" smtClean="0">
                              <a:latin typeface="Cambria Math" panose="02040503050406030204" pitchFamily="18" charset="0"/>
                            </a:rPr>
                          </m:ctrlPr>
                        </m:sSubPr>
                        <m:e>
                          <m:r>
                            <a:rPr lang="en-IN" sz="1400" i="1" dirty="0">
                              <a:latin typeface="Cambria Math" panose="02040503050406030204" pitchFamily="18" charset="0"/>
                            </a:rPr>
                            <m:t>𝐵</m:t>
                          </m:r>
                        </m:e>
                        <m:sub>
                          <m:r>
                            <a:rPr lang="en-IN" sz="1400" i="0" dirty="0">
                              <a:latin typeface="Cambria Math" panose="02040503050406030204" pitchFamily="18" charset="0"/>
                            </a:rPr>
                            <m:t>0</m:t>
                          </m:r>
                        </m:sub>
                      </m:sSub>
                      <m:r>
                        <a:rPr lang="en-IN" sz="1400" b="0" i="1" dirty="0" smtClean="0">
                          <a:latin typeface="Cambria Math" panose="02040503050406030204" pitchFamily="18" charset="0"/>
                        </a:rPr>
                        <m:t>)</m:t>
                      </m:r>
                    </m:oMath>
                  </a14:m>
                  <a:r>
                    <a:rPr lang="en-IN" sz="1400" dirty="0"/>
                    <a:t>*1/</a:t>
                  </a:r>
                  <a14:m>
                    <m:oMath xmlns:m="http://schemas.openxmlformats.org/officeDocument/2006/math">
                      <m:sSup>
                        <m:sSupPr>
                          <m:ctrlPr>
                            <a:rPr lang="en-IN" sz="1400" dirty="0" smtClean="0">
                              <a:latin typeface="Cambria Math" panose="02040503050406030204" pitchFamily="18" charset="0"/>
                            </a:rPr>
                          </m:ctrlPr>
                        </m:sSupPr>
                        <m:e>
                          <m:r>
                            <a:rPr lang="en-IN" sz="1400" dirty="0">
                              <a:latin typeface="Cambria Math" panose="02040503050406030204" pitchFamily="18" charset="0"/>
                            </a:rPr>
                            <m:t>10</m:t>
                          </m:r>
                        </m:e>
                        <m:sup>
                          <m:r>
                            <a:rPr lang="en-IN" sz="1400" i="0" dirty="0">
                              <a:latin typeface="Cambria Math" panose="02040503050406030204" pitchFamily="18" charset="0"/>
                            </a:rPr>
                            <m:t>6</m:t>
                          </m:r>
                        </m:sup>
                      </m:sSup>
                    </m:oMath>
                  </a14:m>
                  <a:endParaRPr lang="en-IN" sz="1400" dirty="0"/>
                </a:p>
              </p:txBody>
            </p:sp>
          </mc:Choice>
          <mc:Fallback>
            <p:sp>
              <p:nvSpPr>
                <p:cNvPr id="18" name="TextBox 17">
                  <a:extLst>
                    <a:ext uri="{FF2B5EF4-FFF2-40B4-BE49-F238E27FC236}">
                      <a16:creationId xmlns:a16="http://schemas.microsoft.com/office/drawing/2014/main" id="{2419A183-94BB-B5BA-050F-7D0280A69FCE}"/>
                    </a:ext>
                  </a:extLst>
                </p:cNvPr>
                <p:cNvSpPr txBox="1">
                  <a:spLocks noRot="1" noChangeAspect="1" noMove="1" noResize="1" noEditPoints="1" noAdjustHandles="1" noChangeArrowheads="1" noChangeShapeType="1" noTextEdit="1"/>
                </p:cNvSpPr>
                <p:nvPr/>
              </p:nvSpPr>
              <p:spPr>
                <a:xfrm>
                  <a:off x="324662" y="694621"/>
                  <a:ext cx="3825919" cy="524503"/>
                </a:xfrm>
                <a:prstGeom prst="rect">
                  <a:avLst/>
                </a:prstGeom>
                <a:blipFill>
                  <a:blip r:embed="rId5"/>
                  <a:stretch>
                    <a:fillRect l="-478" t="-1163" b="-12791"/>
                  </a:stretch>
                </a:blipFill>
              </p:spPr>
              <p:txBody>
                <a:bodyPr/>
                <a:lstStyle/>
                <a:p>
                  <a:r>
                    <a:rPr lang="en-IN">
                      <a:noFill/>
                    </a:rPr>
                    <a:t> </a:t>
                  </a:r>
                </a:p>
              </p:txBody>
            </p:sp>
          </mc:Fallback>
        </mc:AlternateContent>
      </p:grpSp>
      <p:cxnSp>
        <p:nvCxnSpPr>
          <p:cNvPr id="23" name="Straight Connector 22">
            <a:extLst>
              <a:ext uri="{FF2B5EF4-FFF2-40B4-BE49-F238E27FC236}">
                <a16:creationId xmlns:a16="http://schemas.microsoft.com/office/drawing/2014/main" id="{8747D360-0E01-C299-4BAE-FE6A8E39C6FB}"/>
              </a:ext>
            </a:extLst>
          </p:cNvPr>
          <p:cNvCxnSpPr>
            <a:cxnSpLocks/>
          </p:cNvCxnSpPr>
          <p:nvPr/>
        </p:nvCxnSpPr>
        <p:spPr>
          <a:xfrm flipH="1">
            <a:off x="4334734" y="457029"/>
            <a:ext cx="8542" cy="3612514"/>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E2B866C-AD57-4C77-AAB7-B56583B05130}"/>
              </a:ext>
            </a:extLst>
          </p:cNvPr>
          <p:cNvCxnSpPr>
            <a:cxnSpLocks/>
          </p:cNvCxnSpPr>
          <p:nvPr/>
        </p:nvCxnSpPr>
        <p:spPr>
          <a:xfrm>
            <a:off x="212075" y="471280"/>
            <a:ext cx="10500" cy="480656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076F5D0-7AA7-E298-F645-B08E330DE0A1}"/>
              </a:ext>
            </a:extLst>
          </p:cNvPr>
          <p:cNvCxnSpPr>
            <a:cxnSpLocks/>
          </p:cNvCxnSpPr>
          <p:nvPr/>
        </p:nvCxnSpPr>
        <p:spPr>
          <a:xfrm>
            <a:off x="232401" y="5263397"/>
            <a:ext cx="9004732" cy="2889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C14CDBFC-EF7F-3417-B733-B5AABEAB2992}"/>
              </a:ext>
            </a:extLst>
          </p:cNvPr>
          <p:cNvCxnSpPr>
            <a:cxnSpLocks/>
          </p:cNvCxnSpPr>
          <p:nvPr/>
        </p:nvCxnSpPr>
        <p:spPr>
          <a:xfrm>
            <a:off x="202249" y="469238"/>
            <a:ext cx="9034884"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D7E6349-77E9-E00C-1C31-956448A07680}"/>
              </a:ext>
            </a:extLst>
          </p:cNvPr>
          <p:cNvCxnSpPr>
            <a:cxnSpLocks/>
          </p:cNvCxnSpPr>
          <p:nvPr/>
        </p:nvCxnSpPr>
        <p:spPr>
          <a:xfrm>
            <a:off x="9231632" y="472009"/>
            <a:ext cx="5501" cy="4816392"/>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DB549D1-DE68-0B9D-D8E0-40FB3AB6B9FA}"/>
              </a:ext>
            </a:extLst>
          </p:cNvPr>
          <p:cNvCxnSpPr>
            <a:cxnSpLocks/>
          </p:cNvCxnSpPr>
          <p:nvPr/>
        </p:nvCxnSpPr>
        <p:spPr>
          <a:xfrm>
            <a:off x="4341927" y="2207446"/>
            <a:ext cx="4889705" cy="2444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84A0CEA7-6A04-1C4E-36C3-0893A30DA462}"/>
              </a:ext>
            </a:extLst>
          </p:cNvPr>
          <p:cNvCxnSpPr>
            <a:cxnSpLocks/>
          </p:cNvCxnSpPr>
          <p:nvPr/>
        </p:nvCxnSpPr>
        <p:spPr>
          <a:xfrm>
            <a:off x="222575" y="4062983"/>
            <a:ext cx="9014558" cy="27568"/>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A29C7E0-D5A0-B7F8-8FBB-0E8691058C37}"/>
              </a:ext>
            </a:extLst>
          </p:cNvPr>
          <p:cNvCxnSpPr>
            <a:cxnSpLocks/>
          </p:cNvCxnSpPr>
          <p:nvPr/>
        </p:nvCxnSpPr>
        <p:spPr>
          <a:xfrm>
            <a:off x="4470508" y="4081752"/>
            <a:ext cx="1" cy="118816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C0B44B99-FA69-0710-29A1-1726660580C7}"/>
              </a:ext>
            </a:extLst>
          </p:cNvPr>
          <p:cNvSpPr txBox="1"/>
          <p:nvPr/>
        </p:nvSpPr>
        <p:spPr>
          <a:xfrm>
            <a:off x="202249" y="4857347"/>
            <a:ext cx="1329735"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Area=0.722+3.580 sq. Km.= </a:t>
            </a:r>
            <a:r>
              <a:rPr kumimoji="0" lang="en-US" altLang="en-US" sz="1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4.302 </a:t>
            </a:r>
            <a:r>
              <a:rPr kumimoji="0" lang="en-US" altLang="en-US" sz="1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sq.Km</a:t>
            </a:r>
            <a:r>
              <a:rPr kumimoji="0" lang="en-US" altLang="en-US" sz="1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73" name="TextBox 72">
            <a:extLst>
              <a:ext uri="{FF2B5EF4-FFF2-40B4-BE49-F238E27FC236}">
                <a16:creationId xmlns:a16="http://schemas.microsoft.com/office/drawing/2014/main" id="{4557ADF3-80CC-6A73-11FB-A73849E7FF8A}"/>
              </a:ext>
            </a:extLst>
          </p:cNvPr>
          <p:cNvSpPr txBox="1"/>
          <p:nvPr/>
        </p:nvSpPr>
        <p:spPr>
          <a:xfrm>
            <a:off x="212075" y="1703178"/>
            <a:ext cx="3874799" cy="553998"/>
          </a:xfrm>
          <a:prstGeom prst="rect">
            <a:avLst/>
          </a:prstGeom>
          <a:noFill/>
        </p:spPr>
        <p:txBody>
          <a:bodyPr wrap="square" rtlCol="0">
            <a:spAutoFit/>
          </a:bodyPr>
          <a:lstStyle/>
          <a:p>
            <a:r>
              <a:rPr lang="en-IN" sz="1000" b="1" dirty="0"/>
              <a:t>We have calculated 3 STOIIP values in order to give a probabilistic estimation- min, most likely and max. Methods used for calculating the parameters are explained below </a:t>
            </a:r>
          </a:p>
        </p:txBody>
      </p:sp>
      <p:cxnSp>
        <p:nvCxnSpPr>
          <p:cNvPr id="82" name="Straight Connector 81">
            <a:extLst>
              <a:ext uri="{FF2B5EF4-FFF2-40B4-BE49-F238E27FC236}">
                <a16:creationId xmlns:a16="http://schemas.microsoft.com/office/drawing/2014/main" id="{FAD3FFC1-C83E-CCAB-8BA0-619ED150E83A}"/>
              </a:ext>
            </a:extLst>
          </p:cNvPr>
          <p:cNvCxnSpPr>
            <a:cxnSpLocks/>
          </p:cNvCxnSpPr>
          <p:nvPr/>
        </p:nvCxnSpPr>
        <p:spPr>
          <a:xfrm>
            <a:off x="227295" y="2202287"/>
            <a:ext cx="4130836" cy="11441"/>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pic>
        <p:nvPicPr>
          <p:cNvPr id="108" name="Picture 107">
            <a:extLst>
              <a:ext uri="{FF2B5EF4-FFF2-40B4-BE49-F238E27FC236}">
                <a16:creationId xmlns:a16="http://schemas.microsoft.com/office/drawing/2014/main" id="{6BDAB6A4-EC46-B1CB-3F7C-2BCDD0D87EB6}"/>
              </a:ext>
            </a:extLst>
          </p:cNvPr>
          <p:cNvPicPr>
            <a:picLocks noChangeAspect="1"/>
          </p:cNvPicPr>
          <p:nvPr/>
        </p:nvPicPr>
        <p:blipFill>
          <a:blip r:embed="rId6"/>
          <a:srcRect r="12342"/>
          <a:stretch>
            <a:fillRect/>
          </a:stretch>
        </p:blipFill>
        <p:spPr>
          <a:xfrm>
            <a:off x="6837917" y="627884"/>
            <a:ext cx="2276333" cy="1548171"/>
          </a:xfrm>
          <a:prstGeom prst="rect">
            <a:avLst/>
          </a:prstGeom>
        </p:spPr>
      </p:pic>
      <p:sp>
        <p:nvSpPr>
          <p:cNvPr id="109" name="TextBox 108">
            <a:extLst>
              <a:ext uri="{FF2B5EF4-FFF2-40B4-BE49-F238E27FC236}">
                <a16:creationId xmlns:a16="http://schemas.microsoft.com/office/drawing/2014/main" id="{F4C87124-7AE9-7176-5E8A-120B83C78F6B}"/>
              </a:ext>
            </a:extLst>
          </p:cNvPr>
          <p:cNvSpPr txBox="1"/>
          <p:nvPr/>
        </p:nvSpPr>
        <p:spPr>
          <a:xfrm>
            <a:off x="4343276" y="442582"/>
            <a:ext cx="2838122" cy="308418"/>
          </a:xfrm>
          <a:prstGeom prst="rect">
            <a:avLst/>
          </a:prstGeom>
          <a:noFill/>
        </p:spPr>
        <p:txBody>
          <a:bodyPr wrap="square" rtlCol="0">
            <a:spAutoFit/>
          </a:bodyPr>
          <a:lstStyle/>
          <a:p>
            <a:r>
              <a:rPr lang="en-IN" b="1" u="sng" dirty="0">
                <a:solidFill>
                  <a:srgbClr val="006600"/>
                </a:solidFill>
              </a:rPr>
              <a:t>2. Average net pay thickness:-</a:t>
            </a:r>
          </a:p>
        </p:txBody>
      </p:sp>
      <p:sp>
        <p:nvSpPr>
          <p:cNvPr id="110" name="TextBox 109">
            <a:extLst>
              <a:ext uri="{FF2B5EF4-FFF2-40B4-BE49-F238E27FC236}">
                <a16:creationId xmlns:a16="http://schemas.microsoft.com/office/drawing/2014/main" id="{B0FBAAFD-2400-87A3-0CFD-83E3B4B3CAE1}"/>
              </a:ext>
            </a:extLst>
          </p:cNvPr>
          <p:cNvSpPr txBox="1"/>
          <p:nvPr/>
        </p:nvSpPr>
        <p:spPr>
          <a:xfrm>
            <a:off x="4374387" y="725913"/>
            <a:ext cx="2424043" cy="1477328"/>
          </a:xfrm>
          <a:prstGeom prst="rect">
            <a:avLst/>
          </a:prstGeom>
          <a:noFill/>
        </p:spPr>
        <p:txBody>
          <a:bodyPr wrap="square" rtlCol="0">
            <a:spAutoFit/>
          </a:bodyPr>
          <a:lstStyle/>
          <a:p>
            <a:r>
              <a:rPr lang="en-IN" sz="1000" dirty="0"/>
              <a:t>Channel thickness values are digitized and extracted from the given channel thickness map by dividing it into 100X100m grids.</a:t>
            </a:r>
          </a:p>
          <a:p>
            <a:r>
              <a:rPr lang="en-IN" sz="1000" dirty="0"/>
              <a:t>We have used Voronoi partition by connecting the wells. We have 3 groups of channel thickness data, this is multiplied with the net to gross ratio of the respective wells. Mean of these net pay thickness is taken for h= 29ft (8.9m)</a:t>
            </a:r>
          </a:p>
        </p:txBody>
      </p:sp>
      <p:cxnSp>
        <p:nvCxnSpPr>
          <p:cNvPr id="111" name="Straight Connector 110">
            <a:extLst>
              <a:ext uri="{FF2B5EF4-FFF2-40B4-BE49-F238E27FC236}">
                <a16:creationId xmlns:a16="http://schemas.microsoft.com/office/drawing/2014/main" id="{6B481610-131B-663B-A61B-AD8D6C76D94A}"/>
              </a:ext>
            </a:extLst>
          </p:cNvPr>
          <p:cNvCxnSpPr/>
          <p:nvPr/>
        </p:nvCxnSpPr>
        <p:spPr>
          <a:xfrm>
            <a:off x="4435161" y="1399433"/>
            <a:ext cx="2276330" cy="0"/>
          </a:xfrm>
          <a:prstGeom prst="line">
            <a:avLst/>
          </a:prstGeom>
        </p:spPr>
        <p:style>
          <a:lnRef idx="1">
            <a:schemeClr val="accent3"/>
          </a:lnRef>
          <a:fillRef idx="0">
            <a:schemeClr val="accent3"/>
          </a:fillRef>
          <a:effectRef idx="0">
            <a:schemeClr val="accent3"/>
          </a:effectRef>
          <a:fontRef idx="minor">
            <a:schemeClr val="tx1"/>
          </a:fontRef>
        </p:style>
      </p:cxnSp>
      <p:sp>
        <p:nvSpPr>
          <p:cNvPr id="112" name="TextBox 111">
            <a:extLst>
              <a:ext uri="{FF2B5EF4-FFF2-40B4-BE49-F238E27FC236}">
                <a16:creationId xmlns:a16="http://schemas.microsoft.com/office/drawing/2014/main" id="{E5A9F518-86DB-77CA-7926-C6052EEDBCA1}"/>
              </a:ext>
            </a:extLst>
          </p:cNvPr>
          <p:cNvSpPr txBox="1"/>
          <p:nvPr/>
        </p:nvSpPr>
        <p:spPr>
          <a:xfrm>
            <a:off x="4314634" y="2247550"/>
            <a:ext cx="2838122" cy="308418"/>
          </a:xfrm>
          <a:prstGeom prst="rect">
            <a:avLst/>
          </a:prstGeom>
          <a:noFill/>
        </p:spPr>
        <p:txBody>
          <a:bodyPr wrap="square" rtlCol="0">
            <a:spAutoFit/>
          </a:bodyPr>
          <a:lstStyle/>
          <a:p>
            <a:r>
              <a:rPr lang="en-IN" b="1" u="sng" dirty="0">
                <a:solidFill>
                  <a:srgbClr val="006600"/>
                </a:solidFill>
              </a:rPr>
              <a:t>3. Petrophysical parameters:-</a:t>
            </a:r>
          </a:p>
        </p:txBody>
      </p:sp>
      <p:sp>
        <p:nvSpPr>
          <p:cNvPr id="113" name="TextBox 112">
            <a:extLst>
              <a:ext uri="{FF2B5EF4-FFF2-40B4-BE49-F238E27FC236}">
                <a16:creationId xmlns:a16="http://schemas.microsoft.com/office/drawing/2014/main" id="{2588F9F9-AB3E-3CCC-C3E1-81CECFD6235C}"/>
              </a:ext>
            </a:extLst>
          </p:cNvPr>
          <p:cNvSpPr txBox="1"/>
          <p:nvPr/>
        </p:nvSpPr>
        <p:spPr>
          <a:xfrm>
            <a:off x="6984667" y="2300157"/>
            <a:ext cx="2246965" cy="1785104"/>
          </a:xfrm>
          <a:prstGeom prst="rect">
            <a:avLst/>
          </a:prstGeom>
          <a:noFill/>
        </p:spPr>
        <p:txBody>
          <a:bodyPr wrap="square" rtlCol="0">
            <a:spAutoFit/>
          </a:bodyPr>
          <a:lstStyle/>
          <a:p>
            <a:r>
              <a:rPr lang="en-IN" sz="1000" dirty="0"/>
              <a:t>For porosity and saturation values, we have taken 3 values for min, max and most likely values for each wells A01, A02 and A03 from their histograms.</a:t>
            </a:r>
          </a:p>
          <a:p>
            <a:r>
              <a:rPr lang="en-IN" sz="1000" dirty="0"/>
              <a:t>By using the Voronoi partition we have the count of the points belonging to each group and its respective wells.</a:t>
            </a:r>
          </a:p>
          <a:p>
            <a:r>
              <a:rPr lang="en-IN" sz="1000" dirty="0"/>
              <a:t>Using this as the weights for the values we have calculated the weighted average for each models (min, max, most likely)</a:t>
            </a:r>
          </a:p>
        </p:txBody>
      </p:sp>
      <p:sp>
        <p:nvSpPr>
          <p:cNvPr id="120" name="TextBox 119">
            <a:extLst>
              <a:ext uri="{FF2B5EF4-FFF2-40B4-BE49-F238E27FC236}">
                <a16:creationId xmlns:a16="http://schemas.microsoft.com/office/drawing/2014/main" id="{E08F5867-F5EA-9701-5CAF-309E0B3B3DA3}"/>
              </a:ext>
            </a:extLst>
          </p:cNvPr>
          <p:cNvSpPr txBox="1"/>
          <p:nvPr/>
        </p:nvSpPr>
        <p:spPr>
          <a:xfrm>
            <a:off x="4389218" y="2498802"/>
            <a:ext cx="1986991" cy="276999"/>
          </a:xfrm>
          <a:prstGeom prst="rect">
            <a:avLst/>
          </a:prstGeom>
          <a:noFill/>
        </p:spPr>
        <p:txBody>
          <a:bodyPr wrap="square" rtlCol="0">
            <a:spAutoFit/>
          </a:bodyPr>
          <a:lstStyle/>
          <a:p>
            <a:r>
              <a:rPr lang="en-IN" sz="1200" dirty="0"/>
              <a:t>Porosity histogram plots</a:t>
            </a:r>
          </a:p>
        </p:txBody>
      </p:sp>
      <p:pic>
        <p:nvPicPr>
          <p:cNvPr id="124" name="Picture 123">
            <a:extLst>
              <a:ext uri="{FF2B5EF4-FFF2-40B4-BE49-F238E27FC236}">
                <a16:creationId xmlns:a16="http://schemas.microsoft.com/office/drawing/2014/main" id="{3B5D2FB0-9169-A6CD-008C-393EDD1B8F38}"/>
              </a:ext>
            </a:extLst>
          </p:cNvPr>
          <p:cNvPicPr>
            <a:picLocks noChangeAspect="1"/>
          </p:cNvPicPr>
          <p:nvPr/>
        </p:nvPicPr>
        <p:blipFill>
          <a:blip r:embed="rId7"/>
          <a:stretch>
            <a:fillRect/>
          </a:stretch>
        </p:blipFill>
        <p:spPr>
          <a:xfrm>
            <a:off x="4502378" y="2874561"/>
            <a:ext cx="2435814" cy="1127131"/>
          </a:xfrm>
          <a:prstGeom prst="rect">
            <a:avLst/>
          </a:prstGeom>
        </p:spPr>
      </p:pic>
      <p:sp>
        <p:nvSpPr>
          <p:cNvPr id="125" name="TextBox 124">
            <a:extLst>
              <a:ext uri="{FF2B5EF4-FFF2-40B4-BE49-F238E27FC236}">
                <a16:creationId xmlns:a16="http://schemas.microsoft.com/office/drawing/2014/main" id="{86E569FB-CB8D-E613-0AA2-C46B90762E7D}"/>
              </a:ext>
            </a:extLst>
          </p:cNvPr>
          <p:cNvSpPr txBox="1"/>
          <p:nvPr/>
        </p:nvSpPr>
        <p:spPr>
          <a:xfrm>
            <a:off x="5551620" y="2668720"/>
            <a:ext cx="810144" cy="276999"/>
          </a:xfrm>
          <a:prstGeom prst="rect">
            <a:avLst/>
          </a:prstGeom>
          <a:noFill/>
        </p:spPr>
        <p:txBody>
          <a:bodyPr wrap="square" rtlCol="0">
            <a:spAutoFit/>
          </a:bodyPr>
          <a:lstStyle/>
          <a:p>
            <a:r>
              <a:rPr lang="en-IN" sz="1200" dirty="0"/>
              <a:t>A01</a:t>
            </a:r>
          </a:p>
        </p:txBody>
      </p:sp>
      <p:cxnSp>
        <p:nvCxnSpPr>
          <p:cNvPr id="128" name="Straight Connector 127">
            <a:extLst>
              <a:ext uri="{FF2B5EF4-FFF2-40B4-BE49-F238E27FC236}">
                <a16:creationId xmlns:a16="http://schemas.microsoft.com/office/drawing/2014/main" id="{1650B875-96D6-5DDF-2736-A5697BD66FD0}"/>
              </a:ext>
            </a:extLst>
          </p:cNvPr>
          <p:cNvCxnSpPr/>
          <p:nvPr/>
        </p:nvCxnSpPr>
        <p:spPr>
          <a:xfrm>
            <a:off x="6984667" y="2945719"/>
            <a:ext cx="219813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29" name="Straight Connector 128">
            <a:extLst>
              <a:ext uri="{FF2B5EF4-FFF2-40B4-BE49-F238E27FC236}">
                <a16:creationId xmlns:a16="http://schemas.microsoft.com/office/drawing/2014/main" id="{5407AAAF-525A-1D1F-0FBD-44EE1FCD456F}"/>
              </a:ext>
            </a:extLst>
          </p:cNvPr>
          <p:cNvCxnSpPr/>
          <p:nvPr/>
        </p:nvCxnSpPr>
        <p:spPr>
          <a:xfrm>
            <a:off x="6978042" y="3408215"/>
            <a:ext cx="2198135" cy="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0AFFA-13AB-FE22-EF93-2668E36D8553}"/>
            </a:ext>
          </a:extLst>
        </p:cNvPr>
        <p:cNvGrpSpPr/>
        <p:nvPr/>
      </p:nvGrpSpPr>
      <p:grpSpPr>
        <a:xfrm>
          <a:off x="0" y="0"/>
          <a:ext cx="0" cy="0"/>
          <a:chOff x="0" y="0"/>
          <a:chExt cx="0" cy="0"/>
        </a:xfrm>
      </p:grpSpPr>
      <p:sp>
        <p:nvSpPr>
          <p:cNvPr id="2" name="Wave 1">
            <a:extLst>
              <a:ext uri="{FF2B5EF4-FFF2-40B4-BE49-F238E27FC236}">
                <a16:creationId xmlns:a16="http://schemas.microsoft.com/office/drawing/2014/main" id="{F9E0EF3B-159E-6093-2D57-D4DDC75FDF19}"/>
              </a:ext>
            </a:extLst>
          </p:cNvPr>
          <p:cNvSpPr/>
          <p:nvPr/>
        </p:nvSpPr>
        <p:spPr>
          <a:xfrm>
            <a:off x="0" y="5313405"/>
            <a:ext cx="10160000" cy="321423"/>
          </a:xfrm>
          <a:prstGeom prst="wave">
            <a:avLst/>
          </a:prstGeom>
          <a:solidFill>
            <a:srgbClr val="8FD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3" name="Wave 2">
            <a:extLst>
              <a:ext uri="{FF2B5EF4-FFF2-40B4-BE49-F238E27FC236}">
                <a16:creationId xmlns:a16="http://schemas.microsoft.com/office/drawing/2014/main" id="{FC463084-B30E-A767-00E9-3A5FF3B3B082}"/>
              </a:ext>
            </a:extLst>
          </p:cNvPr>
          <p:cNvSpPr/>
          <p:nvPr/>
        </p:nvSpPr>
        <p:spPr>
          <a:xfrm>
            <a:off x="0" y="5453450"/>
            <a:ext cx="10160000" cy="261552"/>
          </a:xfrm>
          <a:prstGeom prst="wave">
            <a:avLst/>
          </a:prstGeom>
          <a:solidFill>
            <a:srgbClr val="2FA8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26" dirty="0"/>
          </a:p>
        </p:txBody>
      </p:sp>
      <p:sp>
        <p:nvSpPr>
          <p:cNvPr id="4" name="Title 1">
            <a:extLst>
              <a:ext uri="{FF2B5EF4-FFF2-40B4-BE49-F238E27FC236}">
                <a16:creationId xmlns:a16="http://schemas.microsoft.com/office/drawing/2014/main" id="{3DEFD093-9C8E-9648-4FAE-5ED12E7F2348}"/>
              </a:ext>
            </a:extLst>
          </p:cNvPr>
          <p:cNvSpPr txBox="1">
            <a:spLocks/>
          </p:cNvSpPr>
          <p:nvPr/>
        </p:nvSpPr>
        <p:spPr>
          <a:xfrm>
            <a:off x="275782" y="222427"/>
            <a:ext cx="7636219" cy="256097"/>
          </a:xfrm>
          <a:prstGeom prst="rect">
            <a:avLst/>
          </a:prstGeom>
        </p:spPr>
        <p:txBody>
          <a:bodyPr wrap="square" lIns="0" tIns="0" rIns="0" bIns="0">
            <a:noAutofit/>
          </a:bodyPr>
          <a:lstStyle>
            <a:lvl1pPr>
              <a:defRPr sz="2800" b="0" i="0">
                <a:solidFill>
                  <a:srgbClr val="006500"/>
                </a:solidFill>
                <a:latin typeface="Trebuchet MS"/>
                <a:ea typeface="+mj-ea"/>
                <a:cs typeface="Trebuchet MS"/>
              </a:defRPr>
            </a:lvl1pPr>
          </a:lstStyle>
          <a:p>
            <a:r>
              <a:rPr lang="en-US" sz="1600" b="1" dirty="0"/>
              <a:t>STOIIP </a:t>
            </a:r>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Calculation II</a:t>
            </a:r>
            <a:endParaRPr lang="en-US" sz="1600" b="1" dirty="0"/>
          </a:p>
        </p:txBody>
      </p:sp>
      <p:cxnSp>
        <p:nvCxnSpPr>
          <p:cNvPr id="5" name="Straight Connector 4">
            <a:extLst>
              <a:ext uri="{FF2B5EF4-FFF2-40B4-BE49-F238E27FC236}">
                <a16:creationId xmlns:a16="http://schemas.microsoft.com/office/drawing/2014/main" id="{DDFD7669-8BC2-464C-0032-5CCA75A86A4B}"/>
              </a:ext>
            </a:extLst>
          </p:cNvPr>
          <p:cNvCxnSpPr>
            <a:cxnSpLocks/>
          </p:cNvCxnSpPr>
          <p:nvPr/>
        </p:nvCxnSpPr>
        <p:spPr>
          <a:xfrm>
            <a:off x="212075" y="471280"/>
            <a:ext cx="10500" cy="480656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D6685DB-5D7A-C60C-BB4E-62A69438693D}"/>
              </a:ext>
            </a:extLst>
          </p:cNvPr>
          <p:cNvCxnSpPr>
            <a:cxnSpLocks/>
          </p:cNvCxnSpPr>
          <p:nvPr/>
        </p:nvCxnSpPr>
        <p:spPr>
          <a:xfrm>
            <a:off x="232401" y="5263397"/>
            <a:ext cx="9004732" cy="2889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21B2C30-2C2F-71FD-E480-8517A2230ACD}"/>
              </a:ext>
            </a:extLst>
          </p:cNvPr>
          <p:cNvCxnSpPr>
            <a:cxnSpLocks/>
          </p:cNvCxnSpPr>
          <p:nvPr/>
        </p:nvCxnSpPr>
        <p:spPr>
          <a:xfrm>
            <a:off x="202249" y="469238"/>
            <a:ext cx="9034884"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9BD0027-F3A8-AAA1-F7F9-28A896D0074F}"/>
              </a:ext>
            </a:extLst>
          </p:cNvPr>
          <p:cNvCxnSpPr>
            <a:cxnSpLocks/>
          </p:cNvCxnSpPr>
          <p:nvPr/>
        </p:nvCxnSpPr>
        <p:spPr>
          <a:xfrm>
            <a:off x="9231632" y="472009"/>
            <a:ext cx="5501" cy="4816392"/>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D631B073-ADD8-8DBC-AD28-0727077753B1}"/>
              </a:ext>
            </a:extLst>
          </p:cNvPr>
          <p:cNvPicPr>
            <a:picLocks noChangeAspect="1"/>
          </p:cNvPicPr>
          <p:nvPr/>
        </p:nvPicPr>
        <p:blipFill>
          <a:blip r:embed="rId2"/>
          <a:stretch>
            <a:fillRect/>
          </a:stretch>
        </p:blipFill>
        <p:spPr>
          <a:xfrm>
            <a:off x="303581" y="1022793"/>
            <a:ext cx="1801448" cy="828169"/>
          </a:xfrm>
          <a:prstGeom prst="rect">
            <a:avLst/>
          </a:prstGeom>
        </p:spPr>
      </p:pic>
      <p:sp>
        <p:nvSpPr>
          <p:cNvPr id="12" name="TextBox 11">
            <a:extLst>
              <a:ext uri="{FF2B5EF4-FFF2-40B4-BE49-F238E27FC236}">
                <a16:creationId xmlns:a16="http://schemas.microsoft.com/office/drawing/2014/main" id="{268A7A6D-D767-DBE3-4C9B-646D57488872}"/>
              </a:ext>
            </a:extLst>
          </p:cNvPr>
          <p:cNvSpPr txBox="1"/>
          <p:nvPr/>
        </p:nvSpPr>
        <p:spPr>
          <a:xfrm>
            <a:off x="232401" y="535379"/>
            <a:ext cx="2838122" cy="308418"/>
          </a:xfrm>
          <a:prstGeom prst="rect">
            <a:avLst/>
          </a:prstGeom>
          <a:noFill/>
        </p:spPr>
        <p:txBody>
          <a:bodyPr wrap="square" rtlCol="0">
            <a:spAutoFit/>
          </a:bodyPr>
          <a:lstStyle/>
          <a:p>
            <a:r>
              <a:rPr lang="en-IN" b="1" u="sng" dirty="0">
                <a:solidFill>
                  <a:srgbClr val="006600"/>
                </a:solidFill>
              </a:rPr>
              <a:t>3. Petrophysical parameters:-</a:t>
            </a:r>
          </a:p>
        </p:txBody>
      </p:sp>
      <p:sp>
        <p:nvSpPr>
          <p:cNvPr id="13" name="TextBox 12">
            <a:extLst>
              <a:ext uri="{FF2B5EF4-FFF2-40B4-BE49-F238E27FC236}">
                <a16:creationId xmlns:a16="http://schemas.microsoft.com/office/drawing/2014/main" id="{5A601433-7DDD-0086-15A5-A9ADB0F14CB9}"/>
              </a:ext>
            </a:extLst>
          </p:cNvPr>
          <p:cNvSpPr txBox="1"/>
          <p:nvPr/>
        </p:nvSpPr>
        <p:spPr>
          <a:xfrm>
            <a:off x="1771410" y="749638"/>
            <a:ext cx="776645" cy="254361"/>
          </a:xfrm>
          <a:prstGeom prst="rect">
            <a:avLst/>
          </a:prstGeom>
          <a:noFill/>
        </p:spPr>
        <p:txBody>
          <a:bodyPr wrap="square" rtlCol="0">
            <a:spAutoFit/>
          </a:bodyPr>
          <a:lstStyle/>
          <a:p>
            <a:r>
              <a:rPr lang="en-IN" sz="1400" dirty="0"/>
              <a:t>Porosity</a:t>
            </a:r>
          </a:p>
        </p:txBody>
      </p:sp>
      <p:sp>
        <p:nvSpPr>
          <p:cNvPr id="14" name="TextBox 13">
            <a:extLst>
              <a:ext uri="{FF2B5EF4-FFF2-40B4-BE49-F238E27FC236}">
                <a16:creationId xmlns:a16="http://schemas.microsoft.com/office/drawing/2014/main" id="{25900FB0-67CD-681F-0EE5-BA4449CD2070}"/>
              </a:ext>
            </a:extLst>
          </p:cNvPr>
          <p:cNvSpPr txBox="1"/>
          <p:nvPr/>
        </p:nvSpPr>
        <p:spPr>
          <a:xfrm>
            <a:off x="964969" y="779048"/>
            <a:ext cx="472035" cy="251817"/>
          </a:xfrm>
          <a:prstGeom prst="rect">
            <a:avLst/>
          </a:prstGeom>
          <a:noFill/>
        </p:spPr>
        <p:txBody>
          <a:bodyPr wrap="square" rtlCol="0">
            <a:spAutoFit/>
          </a:bodyPr>
          <a:lstStyle/>
          <a:p>
            <a:r>
              <a:rPr lang="en-IN" sz="1200" dirty="0"/>
              <a:t>A02</a:t>
            </a:r>
          </a:p>
        </p:txBody>
      </p:sp>
      <p:pic>
        <p:nvPicPr>
          <p:cNvPr id="16" name="Picture 15">
            <a:extLst>
              <a:ext uri="{FF2B5EF4-FFF2-40B4-BE49-F238E27FC236}">
                <a16:creationId xmlns:a16="http://schemas.microsoft.com/office/drawing/2014/main" id="{D004FF26-19DF-C75E-EF28-FB8FB397D6A7}"/>
              </a:ext>
            </a:extLst>
          </p:cNvPr>
          <p:cNvPicPr>
            <a:picLocks noChangeAspect="1"/>
          </p:cNvPicPr>
          <p:nvPr/>
        </p:nvPicPr>
        <p:blipFill>
          <a:blip r:embed="rId3"/>
          <a:stretch>
            <a:fillRect/>
          </a:stretch>
        </p:blipFill>
        <p:spPr>
          <a:xfrm>
            <a:off x="2163288" y="1024521"/>
            <a:ext cx="1772572" cy="838610"/>
          </a:xfrm>
          <a:prstGeom prst="rect">
            <a:avLst/>
          </a:prstGeom>
        </p:spPr>
      </p:pic>
      <p:sp>
        <p:nvSpPr>
          <p:cNvPr id="17" name="TextBox 16">
            <a:extLst>
              <a:ext uri="{FF2B5EF4-FFF2-40B4-BE49-F238E27FC236}">
                <a16:creationId xmlns:a16="http://schemas.microsoft.com/office/drawing/2014/main" id="{A74A926F-3A4E-80EE-26AA-020D0A153F87}"/>
              </a:ext>
            </a:extLst>
          </p:cNvPr>
          <p:cNvSpPr txBox="1"/>
          <p:nvPr/>
        </p:nvSpPr>
        <p:spPr>
          <a:xfrm>
            <a:off x="2932822" y="799404"/>
            <a:ext cx="472035" cy="251817"/>
          </a:xfrm>
          <a:prstGeom prst="rect">
            <a:avLst/>
          </a:prstGeom>
          <a:noFill/>
        </p:spPr>
        <p:txBody>
          <a:bodyPr wrap="square" rtlCol="0">
            <a:spAutoFit/>
          </a:bodyPr>
          <a:lstStyle/>
          <a:p>
            <a:r>
              <a:rPr lang="en-IN" sz="1200" dirty="0"/>
              <a:t>A03</a:t>
            </a:r>
          </a:p>
        </p:txBody>
      </p:sp>
      <p:sp>
        <p:nvSpPr>
          <p:cNvPr id="18" name="TextBox 17">
            <a:extLst>
              <a:ext uri="{FF2B5EF4-FFF2-40B4-BE49-F238E27FC236}">
                <a16:creationId xmlns:a16="http://schemas.microsoft.com/office/drawing/2014/main" id="{7BB22319-DF95-B267-F644-83297C091061}"/>
              </a:ext>
            </a:extLst>
          </p:cNvPr>
          <p:cNvSpPr txBox="1"/>
          <p:nvPr/>
        </p:nvSpPr>
        <p:spPr>
          <a:xfrm>
            <a:off x="1611954" y="1903622"/>
            <a:ext cx="939785" cy="254361"/>
          </a:xfrm>
          <a:prstGeom prst="rect">
            <a:avLst/>
          </a:prstGeom>
          <a:noFill/>
        </p:spPr>
        <p:txBody>
          <a:bodyPr wrap="square" rtlCol="0">
            <a:spAutoFit/>
          </a:bodyPr>
          <a:lstStyle/>
          <a:p>
            <a:r>
              <a:rPr lang="en-IN" sz="1400" dirty="0"/>
              <a:t>Saturation</a:t>
            </a:r>
          </a:p>
        </p:txBody>
      </p:sp>
      <p:pic>
        <p:nvPicPr>
          <p:cNvPr id="20" name="Picture 19">
            <a:extLst>
              <a:ext uri="{FF2B5EF4-FFF2-40B4-BE49-F238E27FC236}">
                <a16:creationId xmlns:a16="http://schemas.microsoft.com/office/drawing/2014/main" id="{83E0F5C7-51E7-9FD2-2D0E-B41B23197677}"/>
              </a:ext>
            </a:extLst>
          </p:cNvPr>
          <p:cNvPicPr>
            <a:picLocks noChangeAspect="1"/>
          </p:cNvPicPr>
          <p:nvPr/>
        </p:nvPicPr>
        <p:blipFill>
          <a:blip r:embed="rId4"/>
          <a:stretch>
            <a:fillRect/>
          </a:stretch>
        </p:blipFill>
        <p:spPr>
          <a:xfrm>
            <a:off x="295627" y="2197416"/>
            <a:ext cx="1801448" cy="831815"/>
          </a:xfrm>
          <a:prstGeom prst="rect">
            <a:avLst/>
          </a:prstGeom>
        </p:spPr>
      </p:pic>
      <p:pic>
        <p:nvPicPr>
          <p:cNvPr id="22" name="Picture 21">
            <a:extLst>
              <a:ext uri="{FF2B5EF4-FFF2-40B4-BE49-F238E27FC236}">
                <a16:creationId xmlns:a16="http://schemas.microsoft.com/office/drawing/2014/main" id="{327B5592-7D43-C7C7-C89E-AC6F01B18CD2}"/>
              </a:ext>
            </a:extLst>
          </p:cNvPr>
          <p:cNvPicPr>
            <a:picLocks noChangeAspect="1"/>
          </p:cNvPicPr>
          <p:nvPr/>
        </p:nvPicPr>
        <p:blipFill>
          <a:blip r:embed="rId5"/>
          <a:stretch>
            <a:fillRect/>
          </a:stretch>
        </p:blipFill>
        <p:spPr>
          <a:xfrm>
            <a:off x="2162883" y="2189927"/>
            <a:ext cx="1781874" cy="838241"/>
          </a:xfrm>
          <a:prstGeom prst="rect">
            <a:avLst/>
          </a:prstGeom>
        </p:spPr>
      </p:pic>
      <p:sp>
        <p:nvSpPr>
          <p:cNvPr id="23" name="TextBox 22">
            <a:extLst>
              <a:ext uri="{FF2B5EF4-FFF2-40B4-BE49-F238E27FC236}">
                <a16:creationId xmlns:a16="http://schemas.microsoft.com/office/drawing/2014/main" id="{1C870B22-84DB-06D5-114D-7B7EEA0E7DE9}"/>
              </a:ext>
            </a:extLst>
          </p:cNvPr>
          <p:cNvSpPr txBox="1"/>
          <p:nvPr/>
        </p:nvSpPr>
        <p:spPr>
          <a:xfrm>
            <a:off x="2906530" y="1946416"/>
            <a:ext cx="455534" cy="251817"/>
          </a:xfrm>
          <a:prstGeom prst="rect">
            <a:avLst/>
          </a:prstGeom>
          <a:noFill/>
        </p:spPr>
        <p:txBody>
          <a:bodyPr wrap="square" rtlCol="0">
            <a:spAutoFit/>
          </a:bodyPr>
          <a:lstStyle/>
          <a:p>
            <a:r>
              <a:rPr lang="en-IN" sz="1200" dirty="0"/>
              <a:t>A02</a:t>
            </a:r>
          </a:p>
        </p:txBody>
      </p:sp>
      <p:sp>
        <p:nvSpPr>
          <p:cNvPr id="24" name="TextBox 23">
            <a:extLst>
              <a:ext uri="{FF2B5EF4-FFF2-40B4-BE49-F238E27FC236}">
                <a16:creationId xmlns:a16="http://schemas.microsoft.com/office/drawing/2014/main" id="{36E2E4F4-54FF-4CA4-9D4D-B16BE17FCB2A}"/>
              </a:ext>
            </a:extLst>
          </p:cNvPr>
          <p:cNvSpPr txBox="1"/>
          <p:nvPr/>
        </p:nvSpPr>
        <p:spPr>
          <a:xfrm>
            <a:off x="988001" y="1936463"/>
            <a:ext cx="472035" cy="251817"/>
          </a:xfrm>
          <a:prstGeom prst="rect">
            <a:avLst/>
          </a:prstGeom>
          <a:noFill/>
        </p:spPr>
        <p:txBody>
          <a:bodyPr wrap="square" rtlCol="0">
            <a:spAutoFit/>
          </a:bodyPr>
          <a:lstStyle/>
          <a:p>
            <a:r>
              <a:rPr lang="en-IN" sz="1200" dirty="0"/>
              <a:t>A01</a:t>
            </a:r>
          </a:p>
        </p:txBody>
      </p:sp>
      <p:pic>
        <p:nvPicPr>
          <p:cNvPr id="26" name="Picture 25">
            <a:extLst>
              <a:ext uri="{FF2B5EF4-FFF2-40B4-BE49-F238E27FC236}">
                <a16:creationId xmlns:a16="http://schemas.microsoft.com/office/drawing/2014/main" id="{A066B8D9-0430-7464-9CEF-16AFD55CEA5A}"/>
              </a:ext>
            </a:extLst>
          </p:cNvPr>
          <p:cNvPicPr>
            <a:picLocks noChangeAspect="1"/>
          </p:cNvPicPr>
          <p:nvPr/>
        </p:nvPicPr>
        <p:blipFill>
          <a:blip r:embed="rId6"/>
          <a:stretch>
            <a:fillRect/>
          </a:stretch>
        </p:blipFill>
        <p:spPr>
          <a:xfrm>
            <a:off x="1169697" y="3247030"/>
            <a:ext cx="1785670" cy="831815"/>
          </a:xfrm>
          <a:prstGeom prst="rect">
            <a:avLst/>
          </a:prstGeom>
        </p:spPr>
      </p:pic>
      <p:sp>
        <p:nvSpPr>
          <p:cNvPr id="27" name="TextBox 26">
            <a:extLst>
              <a:ext uri="{FF2B5EF4-FFF2-40B4-BE49-F238E27FC236}">
                <a16:creationId xmlns:a16="http://schemas.microsoft.com/office/drawing/2014/main" id="{E892307F-0308-008E-CFB0-FF4F9A4DFD2D}"/>
              </a:ext>
            </a:extLst>
          </p:cNvPr>
          <p:cNvSpPr txBox="1"/>
          <p:nvPr/>
        </p:nvSpPr>
        <p:spPr>
          <a:xfrm>
            <a:off x="1925209" y="3008099"/>
            <a:ext cx="433672" cy="208114"/>
          </a:xfrm>
          <a:prstGeom prst="rect">
            <a:avLst/>
          </a:prstGeom>
          <a:noFill/>
        </p:spPr>
        <p:txBody>
          <a:bodyPr wrap="square" rtlCol="0">
            <a:spAutoFit/>
          </a:bodyPr>
          <a:lstStyle/>
          <a:p>
            <a:r>
              <a:rPr lang="en-IN" sz="1200" dirty="0"/>
              <a:t>A03</a:t>
            </a:r>
            <a:endParaRPr lang="en-IN" sz="1400" dirty="0"/>
          </a:p>
        </p:txBody>
      </p:sp>
      <p:cxnSp>
        <p:nvCxnSpPr>
          <p:cNvPr id="29" name="Straight Connector 28">
            <a:extLst>
              <a:ext uri="{FF2B5EF4-FFF2-40B4-BE49-F238E27FC236}">
                <a16:creationId xmlns:a16="http://schemas.microsoft.com/office/drawing/2014/main" id="{BBFAE618-328E-21D7-A96D-C0B6C34A7136}"/>
              </a:ext>
            </a:extLst>
          </p:cNvPr>
          <p:cNvCxnSpPr>
            <a:cxnSpLocks/>
          </p:cNvCxnSpPr>
          <p:nvPr/>
        </p:nvCxnSpPr>
        <p:spPr>
          <a:xfrm>
            <a:off x="4026171" y="475898"/>
            <a:ext cx="5501" cy="4816392"/>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graphicFrame>
        <p:nvGraphicFramePr>
          <p:cNvPr id="30" name="Table 29">
            <a:extLst>
              <a:ext uri="{FF2B5EF4-FFF2-40B4-BE49-F238E27FC236}">
                <a16:creationId xmlns:a16="http://schemas.microsoft.com/office/drawing/2014/main" id="{EF0452F3-DDF5-F9BE-4277-CE87A3EC1D11}"/>
              </a:ext>
            </a:extLst>
          </p:cNvPr>
          <p:cNvGraphicFramePr>
            <a:graphicFrameLocks noGrp="1"/>
          </p:cNvGraphicFramePr>
          <p:nvPr>
            <p:extLst>
              <p:ext uri="{D42A27DB-BD31-4B8C-83A1-F6EECF244321}">
                <p14:modId xmlns:p14="http://schemas.microsoft.com/office/powerpoint/2010/main" val="955064648"/>
              </p:ext>
            </p:extLst>
          </p:nvPr>
        </p:nvGraphicFramePr>
        <p:xfrm>
          <a:off x="4089232" y="792835"/>
          <a:ext cx="3236564" cy="975360"/>
        </p:xfrm>
        <a:graphic>
          <a:graphicData uri="http://schemas.openxmlformats.org/drawingml/2006/table">
            <a:tbl>
              <a:tblPr firstRow="1" bandRow="1">
                <a:tableStyleId>{F2DE63D5-997A-4646-A377-4702673A728D}</a:tableStyleId>
              </a:tblPr>
              <a:tblGrid>
                <a:gridCol w="809141">
                  <a:extLst>
                    <a:ext uri="{9D8B030D-6E8A-4147-A177-3AD203B41FA5}">
                      <a16:colId xmlns:a16="http://schemas.microsoft.com/office/drawing/2014/main" val="2951836564"/>
                    </a:ext>
                  </a:extLst>
                </a:gridCol>
                <a:gridCol w="809141">
                  <a:extLst>
                    <a:ext uri="{9D8B030D-6E8A-4147-A177-3AD203B41FA5}">
                      <a16:colId xmlns:a16="http://schemas.microsoft.com/office/drawing/2014/main" val="1594399465"/>
                    </a:ext>
                  </a:extLst>
                </a:gridCol>
                <a:gridCol w="809141">
                  <a:extLst>
                    <a:ext uri="{9D8B030D-6E8A-4147-A177-3AD203B41FA5}">
                      <a16:colId xmlns:a16="http://schemas.microsoft.com/office/drawing/2014/main" val="3657890156"/>
                    </a:ext>
                  </a:extLst>
                </a:gridCol>
                <a:gridCol w="809141">
                  <a:extLst>
                    <a:ext uri="{9D8B030D-6E8A-4147-A177-3AD203B41FA5}">
                      <a16:colId xmlns:a16="http://schemas.microsoft.com/office/drawing/2014/main" val="1002829954"/>
                    </a:ext>
                  </a:extLst>
                </a:gridCol>
              </a:tblGrid>
              <a:tr h="235491">
                <a:tc>
                  <a:txBody>
                    <a:bodyPr/>
                    <a:lstStyle/>
                    <a:p>
                      <a:pPr algn="ctr"/>
                      <a:r>
                        <a:rPr lang="en-IN" sz="1000" dirty="0"/>
                        <a:t>Model</a:t>
                      </a:r>
                    </a:p>
                  </a:txBody>
                  <a:tcPr/>
                </a:tc>
                <a:tc>
                  <a:txBody>
                    <a:bodyPr/>
                    <a:lstStyle/>
                    <a:p>
                      <a:pPr algn="ctr"/>
                      <a:r>
                        <a:rPr lang="en-IN" sz="1000" dirty="0"/>
                        <a:t>A01</a:t>
                      </a:r>
                    </a:p>
                  </a:txBody>
                  <a:tcPr/>
                </a:tc>
                <a:tc>
                  <a:txBody>
                    <a:bodyPr/>
                    <a:lstStyle/>
                    <a:p>
                      <a:pPr algn="ctr"/>
                      <a:r>
                        <a:rPr lang="en-IN" sz="1000" dirty="0"/>
                        <a:t>A02</a:t>
                      </a:r>
                    </a:p>
                  </a:txBody>
                  <a:tcPr/>
                </a:tc>
                <a:tc>
                  <a:txBody>
                    <a:bodyPr/>
                    <a:lstStyle/>
                    <a:p>
                      <a:pPr algn="ctr"/>
                      <a:r>
                        <a:rPr lang="en-IN" sz="1000" dirty="0"/>
                        <a:t>A03</a:t>
                      </a:r>
                    </a:p>
                  </a:txBody>
                  <a:tcPr/>
                </a:tc>
                <a:extLst>
                  <a:ext uri="{0D108BD9-81ED-4DB2-BD59-A6C34878D82A}">
                    <a16:rowId xmlns:a16="http://schemas.microsoft.com/office/drawing/2014/main" val="291699255"/>
                  </a:ext>
                </a:extLst>
              </a:tr>
              <a:tr h="223645">
                <a:tc>
                  <a:txBody>
                    <a:bodyPr/>
                    <a:lstStyle/>
                    <a:p>
                      <a:pPr algn="ctr"/>
                      <a:r>
                        <a:rPr lang="en-IN" sz="1000" dirty="0"/>
                        <a:t>Max</a:t>
                      </a:r>
                    </a:p>
                  </a:txBody>
                  <a:tcPr/>
                </a:tc>
                <a:tc>
                  <a:txBody>
                    <a:bodyPr/>
                    <a:lstStyle/>
                    <a:p>
                      <a:pPr algn="ctr"/>
                      <a:r>
                        <a:rPr lang="en-IN" sz="1000" dirty="0"/>
                        <a:t>0.3</a:t>
                      </a:r>
                    </a:p>
                  </a:txBody>
                  <a:tcPr/>
                </a:tc>
                <a:tc>
                  <a:txBody>
                    <a:bodyPr/>
                    <a:lstStyle/>
                    <a:p>
                      <a:pPr algn="ctr"/>
                      <a:r>
                        <a:rPr lang="en-IN" sz="1000" dirty="0"/>
                        <a:t>0.3</a:t>
                      </a:r>
                    </a:p>
                  </a:txBody>
                  <a:tcPr/>
                </a:tc>
                <a:tc>
                  <a:txBody>
                    <a:bodyPr/>
                    <a:lstStyle/>
                    <a:p>
                      <a:pPr algn="ctr"/>
                      <a:r>
                        <a:rPr lang="en-IN" sz="1000" dirty="0"/>
                        <a:t>0.28</a:t>
                      </a:r>
                    </a:p>
                  </a:txBody>
                  <a:tcPr/>
                </a:tc>
                <a:extLst>
                  <a:ext uri="{0D108BD9-81ED-4DB2-BD59-A6C34878D82A}">
                    <a16:rowId xmlns:a16="http://schemas.microsoft.com/office/drawing/2014/main" val="526529185"/>
                  </a:ext>
                </a:extLst>
              </a:tr>
              <a:tr h="223645">
                <a:tc>
                  <a:txBody>
                    <a:bodyPr/>
                    <a:lstStyle/>
                    <a:p>
                      <a:pPr algn="ctr"/>
                      <a:r>
                        <a:rPr lang="en-IN" sz="1000" dirty="0"/>
                        <a:t>Most Likely</a:t>
                      </a:r>
                    </a:p>
                  </a:txBody>
                  <a:tcPr/>
                </a:tc>
                <a:tc>
                  <a:txBody>
                    <a:bodyPr/>
                    <a:lstStyle/>
                    <a:p>
                      <a:pPr algn="ctr"/>
                      <a:r>
                        <a:rPr lang="en-IN" sz="1000" dirty="0"/>
                        <a:t>0.24</a:t>
                      </a:r>
                    </a:p>
                  </a:txBody>
                  <a:tcPr/>
                </a:tc>
                <a:tc>
                  <a:txBody>
                    <a:bodyPr/>
                    <a:lstStyle/>
                    <a:p>
                      <a:pPr algn="ctr"/>
                      <a:r>
                        <a:rPr lang="en-IN" sz="1000" dirty="0"/>
                        <a:t>0.27</a:t>
                      </a:r>
                    </a:p>
                  </a:txBody>
                  <a:tcPr/>
                </a:tc>
                <a:tc>
                  <a:txBody>
                    <a:bodyPr/>
                    <a:lstStyle/>
                    <a:p>
                      <a:pPr algn="ctr"/>
                      <a:r>
                        <a:rPr lang="en-IN" sz="1000" dirty="0"/>
                        <a:t>0.22</a:t>
                      </a:r>
                    </a:p>
                  </a:txBody>
                  <a:tcPr/>
                </a:tc>
                <a:extLst>
                  <a:ext uri="{0D108BD9-81ED-4DB2-BD59-A6C34878D82A}">
                    <a16:rowId xmlns:a16="http://schemas.microsoft.com/office/drawing/2014/main" val="3031393911"/>
                  </a:ext>
                </a:extLst>
              </a:tr>
              <a:tr h="223645">
                <a:tc>
                  <a:txBody>
                    <a:bodyPr/>
                    <a:lstStyle/>
                    <a:p>
                      <a:pPr algn="ctr"/>
                      <a:r>
                        <a:rPr lang="en-IN" sz="1000" dirty="0"/>
                        <a:t>Min</a:t>
                      </a:r>
                    </a:p>
                  </a:txBody>
                  <a:tcPr/>
                </a:tc>
                <a:tc>
                  <a:txBody>
                    <a:bodyPr/>
                    <a:lstStyle/>
                    <a:p>
                      <a:pPr algn="ctr"/>
                      <a:r>
                        <a:rPr lang="en-IN" sz="1000" dirty="0"/>
                        <a:t>0.2</a:t>
                      </a:r>
                    </a:p>
                  </a:txBody>
                  <a:tcPr/>
                </a:tc>
                <a:tc>
                  <a:txBody>
                    <a:bodyPr/>
                    <a:lstStyle/>
                    <a:p>
                      <a:pPr algn="ctr"/>
                      <a:r>
                        <a:rPr lang="en-IN" sz="1000" dirty="0"/>
                        <a:t>0.23</a:t>
                      </a:r>
                    </a:p>
                  </a:txBody>
                  <a:tcPr/>
                </a:tc>
                <a:tc>
                  <a:txBody>
                    <a:bodyPr/>
                    <a:lstStyle/>
                    <a:p>
                      <a:pPr algn="ctr"/>
                      <a:r>
                        <a:rPr lang="en-IN" sz="1000" dirty="0"/>
                        <a:t>0.18</a:t>
                      </a:r>
                    </a:p>
                  </a:txBody>
                  <a:tcPr/>
                </a:tc>
                <a:extLst>
                  <a:ext uri="{0D108BD9-81ED-4DB2-BD59-A6C34878D82A}">
                    <a16:rowId xmlns:a16="http://schemas.microsoft.com/office/drawing/2014/main" val="3114286596"/>
                  </a:ext>
                </a:extLst>
              </a:tr>
            </a:tbl>
          </a:graphicData>
        </a:graphic>
      </p:graphicFrame>
      <p:sp>
        <p:nvSpPr>
          <p:cNvPr id="31" name="TextBox 30">
            <a:extLst>
              <a:ext uri="{FF2B5EF4-FFF2-40B4-BE49-F238E27FC236}">
                <a16:creationId xmlns:a16="http://schemas.microsoft.com/office/drawing/2014/main" id="{DE6F7CD6-6F70-3AA3-D5F3-BA56D7440D56}"/>
              </a:ext>
            </a:extLst>
          </p:cNvPr>
          <p:cNvSpPr txBox="1"/>
          <p:nvPr/>
        </p:nvSpPr>
        <p:spPr>
          <a:xfrm>
            <a:off x="4089234" y="497751"/>
            <a:ext cx="805942" cy="308418"/>
          </a:xfrm>
          <a:prstGeom prst="rect">
            <a:avLst/>
          </a:prstGeom>
          <a:noFill/>
        </p:spPr>
        <p:txBody>
          <a:bodyPr wrap="square" rtlCol="0">
            <a:spAutoFit/>
          </a:bodyPr>
          <a:lstStyle/>
          <a:p>
            <a:r>
              <a:rPr lang="en-IN" dirty="0"/>
              <a:t>Porosity</a:t>
            </a:r>
          </a:p>
        </p:txBody>
      </p:sp>
      <p:graphicFrame>
        <p:nvGraphicFramePr>
          <p:cNvPr id="34" name="Table 33">
            <a:extLst>
              <a:ext uri="{FF2B5EF4-FFF2-40B4-BE49-F238E27FC236}">
                <a16:creationId xmlns:a16="http://schemas.microsoft.com/office/drawing/2014/main" id="{10B734BA-21A4-ADED-110D-C90E4D656BDD}"/>
              </a:ext>
            </a:extLst>
          </p:cNvPr>
          <p:cNvGraphicFramePr>
            <a:graphicFrameLocks noGrp="1"/>
          </p:cNvGraphicFramePr>
          <p:nvPr>
            <p:extLst>
              <p:ext uri="{D42A27DB-BD31-4B8C-83A1-F6EECF244321}">
                <p14:modId xmlns:p14="http://schemas.microsoft.com/office/powerpoint/2010/main" val="2140733134"/>
              </p:ext>
            </p:extLst>
          </p:nvPr>
        </p:nvGraphicFramePr>
        <p:xfrm>
          <a:off x="4089231" y="2067721"/>
          <a:ext cx="3236564" cy="975360"/>
        </p:xfrm>
        <a:graphic>
          <a:graphicData uri="http://schemas.openxmlformats.org/drawingml/2006/table">
            <a:tbl>
              <a:tblPr firstRow="1" bandRow="1">
                <a:tableStyleId>{F2DE63D5-997A-4646-A377-4702673A728D}</a:tableStyleId>
              </a:tblPr>
              <a:tblGrid>
                <a:gridCol w="809141">
                  <a:extLst>
                    <a:ext uri="{9D8B030D-6E8A-4147-A177-3AD203B41FA5}">
                      <a16:colId xmlns:a16="http://schemas.microsoft.com/office/drawing/2014/main" val="2951836564"/>
                    </a:ext>
                  </a:extLst>
                </a:gridCol>
                <a:gridCol w="809141">
                  <a:extLst>
                    <a:ext uri="{9D8B030D-6E8A-4147-A177-3AD203B41FA5}">
                      <a16:colId xmlns:a16="http://schemas.microsoft.com/office/drawing/2014/main" val="1594399465"/>
                    </a:ext>
                  </a:extLst>
                </a:gridCol>
                <a:gridCol w="809141">
                  <a:extLst>
                    <a:ext uri="{9D8B030D-6E8A-4147-A177-3AD203B41FA5}">
                      <a16:colId xmlns:a16="http://schemas.microsoft.com/office/drawing/2014/main" val="3657890156"/>
                    </a:ext>
                  </a:extLst>
                </a:gridCol>
                <a:gridCol w="809141">
                  <a:extLst>
                    <a:ext uri="{9D8B030D-6E8A-4147-A177-3AD203B41FA5}">
                      <a16:colId xmlns:a16="http://schemas.microsoft.com/office/drawing/2014/main" val="1002829954"/>
                    </a:ext>
                  </a:extLst>
                </a:gridCol>
              </a:tblGrid>
              <a:tr h="236942">
                <a:tc>
                  <a:txBody>
                    <a:bodyPr/>
                    <a:lstStyle/>
                    <a:p>
                      <a:pPr algn="ctr"/>
                      <a:r>
                        <a:rPr lang="en-IN" sz="1000" dirty="0"/>
                        <a:t>Model</a:t>
                      </a:r>
                    </a:p>
                  </a:txBody>
                  <a:tcPr/>
                </a:tc>
                <a:tc>
                  <a:txBody>
                    <a:bodyPr/>
                    <a:lstStyle/>
                    <a:p>
                      <a:pPr algn="ctr"/>
                      <a:r>
                        <a:rPr lang="en-IN" sz="1000" dirty="0"/>
                        <a:t>A01</a:t>
                      </a:r>
                    </a:p>
                  </a:txBody>
                  <a:tcPr/>
                </a:tc>
                <a:tc>
                  <a:txBody>
                    <a:bodyPr/>
                    <a:lstStyle/>
                    <a:p>
                      <a:pPr algn="ctr"/>
                      <a:r>
                        <a:rPr lang="en-IN" sz="1000" dirty="0"/>
                        <a:t>A02</a:t>
                      </a:r>
                    </a:p>
                  </a:txBody>
                  <a:tcPr/>
                </a:tc>
                <a:tc>
                  <a:txBody>
                    <a:bodyPr/>
                    <a:lstStyle/>
                    <a:p>
                      <a:pPr algn="ctr"/>
                      <a:r>
                        <a:rPr lang="en-IN" sz="1000" dirty="0"/>
                        <a:t>A03</a:t>
                      </a:r>
                    </a:p>
                  </a:txBody>
                  <a:tcPr/>
                </a:tc>
                <a:extLst>
                  <a:ext uri="{0D108BD9-81ED-4DB2-BD59-A6C34878D82A}">
                    <a16:rowId xmlns:a16="http://schemas.microsoft.com/office/drawing/2014/main" val="291699255"/>
                  </a:ext>
                </a:extLst>
              </a:tr>
              <a:tr h="217247">
                <a:tc>
                  <a:txBody>
                    <a:bodyPr/>
                    <a:lstStyle/>
                    <a:p>
                      <a:pPr algn="ctr"/>
                      <a:r>
                        <a:rPr lang="en-IN" sz="1000" dirty="0"/>
                        <a:t>Max</a:t>
                      </a:r>
                    </a:p>
                  </a:txBody>
                  <a:tcPr/>
                </a:tc>
                <a:tc>
                  <a:txBody>
                    <a:bodyPr/>
                    <a:lstStyle/>
                    <a:p>
                      <a:pPr algn="ctr"/>
                      <a:r>
                        <a:rPr lang="en-IN" sz="1000" dirty="0"/>
                        <a:t>0.45</a:t>
                      </a:r>
                    </a:p>
                  </a:txBody>
                  <a:tcPr/>
                </a:tc>
                <a:tc>
                  <a:txBody>
                    <a:bodyPr/>
                    <a:lstStyle/>
                    <a:p>
                      <a:pPr algn="ctr"/>
                      <a:r>
                        <a:rPr lang="en-IN" sz="1000" dirty="0"/>
                        <a:t>0.11</a:t>
                      </a:r>
                    </a:p>
                  </a:txBody>
                  <a:tcPr/>
                </a:tc>
                <a:tc>
                  <a:txBody>
                    <a:bodyPr/>
                    <a:lstStyle/>
                    <a:p>
                      <a:pPr algn="ctr"/>
                      <a:r>
                        <a:rPr lang="en-IN" sz="1000" dirty="0"/>
                        <a:t>0.47</a:t>
                      </a:r>
                    </a:p>
                  </a:txBody>
                  <a:tcPr/>
                </a:tc>
                <a:extLst>
                  <a:ext uri="{0D108BD9-81ED-4DB2-BD59-A6C34878D82A}">
                    <a16:rowId xmlns:a16="http://schemas.microsoft.com/office/drawing/2014/main" val="526529185"/>
                  </a:ext>
                </a:extLst>
              </a:tr>
              <a:tr h="217247">
                <a:tc>
                  <a:txBody>
                    <a:bodyPr/>
                    <a:lstStyle/>
                    <a:p>
                      <a:pPr algn="ctr"/>
                      <a:r>
                        <a:rPr lang="en-IN" sz="1000" dirty="0"/>
                        <a:t>Most Likely</a:t>
                      </a:r>
                    </a:p>
                  </a:txBody>
                  <a:tcPr/>
                </a:tc>
                <a:tc>
                  <a:txBody>
                    <a:bodyPr/>
                    <a:lstStyle/>
                    <a:p>
                      <a:pPr algn="ctr"/>
                      <a:r>
                        <a:rPr lang="en-IN" sz="1000" dirty="0"/>
                        <a:t>0.5</a:t>
                      </a:r>
                    </a:p>
                  </a:txBody>
                  <a:tcPr/>
                </a:tc>
                <a:tc>
                  <a:txBody>
                    <a:bodyPr/>
                    <a:lstStyle/>
                    <a:p>
                      <a:pPr algn="ctr"/>
                      <a:r>
                        <a:rPr lang="en-IN" sz="1000" dirty="0"/>
                        <a:t>0.21</a:t>
                      </a:r>
                    </a:p>
                  </a:txBody>
                  <a:tcPr/>
                </a:tc>
                <a:tc>
                  <a:txBody>
                    <a:bodyPr/>
                    <a:lstStyle/>
                    <a:p>
                      <a:pPr algn="ctr"/>
                      <a:r>
                        <a:rPr lang="en-IN" sz="1000" dirty="0"/>
                        <a:t>0.55</a:t>
                      </a:r>
                    </a:p>
                  </a:txBody>
                  <a:tcPr/>
                </a:tc>
                <a:extLst>
                  <a:ext uri="{0D108BD9-81ED-4DB2-BD59-A6C34878D82A}">
                    <a16:rowId xmlns:a16="http://schemas.microsoft.com/office/drawing/2014/main" val="3031393911"/>
                  </a:ext>
                </a:extLst>
              </a:tr>
              <a:tr h="217247">
                <a:tc>
                  <a:txBody>
                    <a:bodyPr/>
                    <a:lstStyle/>
                    <a:p>
                      <a:pPr algn="ctr"/>
                      <a:r>
                        <a:rPr lang="en-IN" sz="1000" dirty="0"/>
                        <a:t>Min</a:t>
                      </a:r>
                    </a:p>
                  </a:txBody>
                  <a:tcPr/>
                </a:tc>
                <a:tc>
                  <a:txBody>
                    <a:bodyPr/>
                    <a:lstStyle/>
                    <a:p>
                      <a:pPr algn="ctr"/>
                      <a:r>
                        <a:rPr lang="en-IN" sz="1000" dirty="0"/>
                        <a:t>0.6</a:t>
                      </a:r>
                    </a:p>
                  </a:txBody>
                  <a:tcPr/>
                </a:tc>
                <a:tc>
                  <a:txBody>
                    <a:bodyPr/>
                    <a:lstStyle/>
                    <a:p>
                      <a:pPr algn="ctr"/>
                      <a:r>
                        <a:rPr lang="en-IN" sz="1000" dirty="0"/>
                        <a:t>0.37</a:t>
                      </a:r>
                    </a:p>
                  </a:txBody>
                  <a:tcPr/>
                </a:tc>
                <a:tc>
                  <a:txBody>
                    <a:bodyPr/>
                    <a:lstStyle/>
                    <a:p>
                      <a:pPr algn="ctr"/>
                      <a:r>
                        <a:rPr lang="en-IN" sz="1000" dirty="0"/>
                        <a:t>0.67</a:t>
                      </a:r>
                    </a:p>
                  </a:txBody>
                  <a:tcPr/>
                </a:tc>
                <a:extLst>
                  <a:ext uri="{0D108BD9-81ED-4DB2-BD59-A6C34878D82A}">
                    <a16:rowId xmlns:a16="http://schemas.microsoft.com/office/drawing/2014/main" val="3114286596"/>
                  </a:ext>
                </a:extLst>
              </a:tr>
            </a:tbl>
          </a:graphicData>
        </a:graphic>
      </p:graphicFrame>
      <p:cxnSp>
        <p:nvCxnSpPr>
          <p:cNvPr id="35" name="Straight Connector 34">
            <a:extLst>
              <a:ext uri="{FF2B5EF4-FFF2-40B4-BE49-F238E27FC236}">
                <a16:creationId xmlns:a16="http://schemas.microsoft.com/office/drawing/2014/main" id="{FE119B10-F8D4-9E1B-2FBC-472814F439AB}"/>
              </a:ext>
            </a:extLst>
          </p:cNvPr>
          <p:cNvCxnSpPr>
            <a:cxnSpLocks/>
          </p:cNvCxnSpPr>
          <p:nvPr/>
        </p:nvCxnSpPr>
        <p:spPr>
          <a:xfrm>
            <a:off x="232401" y="4169012"/>
            <a:ext cx="3793770"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C461502E-EC68-2633-27F5-84B29852F0E7}"/>
              </a:ext>
            </a:extLst>
          </p:cNvPr>
          <p:cNvSpPr txBox="1"/>
          <p:nvPr/>
        </p:nvSpPr>
        <p:spPr>
          <a:xfrm>
            <a:off x="4094120" y="1795122"/>
            <a:ext cx="1025119" cy="308418"/>
          </a:xfrm>
          <a:prstGeom prst="rect">
            <a:avLst/>
          </a:prstGeom>
          <a:noFill/>
        </p:spPr>
        <p:txBody>
          <a:bodyPr wrap="square" rtlCol="0">
            <a:spAutoFit/>
          </a:bodyPr>
          <a:lstStyle/>
          <a:p>
            <a:r>
              <a:rPr lang="en-IN" dirty="0"/>
              <a:t>Saturation</a:t>
            </a:r>
          </a:p>
        </p:txBody>
      </p:sp>
      <p:cxnSp>
        <p:nvCxnSpPr>
          <p:cNvPr id="40" name="Straight Connector 39">
            <a:extLst>
              <a:ext uri="{FF2B5EF4-FFF2-40B4-BE49-F238E27FC236}">
                <a16:creationId xmlns:a16="http://schemas.microsoft.com/office/drawing/2014/main" id="{A779E6FF-D39A-5D64-F47C-623DCE9D1265}"/>
              </a:ext>
            </a:extLst>
          </p:cNvPr>
          <p:cNvCxnSpPr>
            <a:cxnSpLocks/>
          </p:cNvCxnSpPr>
          <p:nvPr/>
        </p:nvCxnSpPr>
        <p:spPr>
          <a:xfrm>
            <a:off x="232401" y="1936463"/>
            <a:ext cx="3793770"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1B06F467-53B7-95D7-EDCF-01821102A4EF}"/>
              </a:ext>
            </a:extLst>
          </p:cNvPr>
          <p:cNvCxnSpPr>
            <a:cxnSpLocks/>
          </p:cNvCxnSpPr>
          <p:nvPr/>
        </p:nvCxnSpPr>
        <p:spPr>
          <a:xfrm>
            <a:off x="7373501" y="475898"/>
            <a:ext cx="5501" cy="4816392"/>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pic>
        <p:nvPicPr>
          <p:cNvPr id="43" name="Picture 42">
            <a:extLst>
              <a:ext uri="{FF2B5EF4-FFF2-40B4-BE49-F238E27FC236}">
                <a16:creationId xmlns:a16="http://schemas.microsoft.com/office/drawing/2014/main" id="{A7D68CDF-C932-B49D-7C94-FDFEF9B0D65B}"/>
              </a:ext>
            </a:extLst>
          </p:cNvPr>
          <p:cNvPicPr>
            <a:picLocks noChangeAspect="1"/>
          </p:cNvPicPr>
          <p:nvPr/>
        </p:nvPicPr>
        <p:blipFill>
          <a:blip r:embed="rId7"/>
          <a:stretch>
            <a:fillRect/>
          </a:stretch>
        </p:blipFill>
        <p:spPr>
          <a:xfrm>
            <a:off x="382647" y="4456600"/>
            <a:ext cx="3327402" cy="664680"/>
          </a:xfrm>
          <a:prstGeom prst="rect">
            <a:avLst/>
          </a:prstGeom>
        </p:spPr>
      </p:pic>
      <p:sp>
        <p:nvSpPr>
          <p:cNvPr id="44" name="Rectangle 43">
            <a:extLst>
              <a:ext uri="{FF2B5EF4-FFF2-40B4-BE49-F238E27FC236}">
                <a16:creationId xmlns:a16="http://schemas.microsoft.com/office/drawing/2014/main" id="{543E34D0-5FAD-C9E3-98BC-28077C335FF0}"/>
              </a:ext>
            </a:extLst>
          </p:cNvPr>
          <p:cNvSpPr/>
          <p:nvPr/>
        </p:nvSpPr>
        <p:spPr>
          <a:xfrm>
            <a:off x="2932821" y="4546423"/>
            <a:ext cx="785655" cy="385837"/>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IN"/>
          </a:p>
        </p:txBody>
      </p:sp>
      <p:sp>
        <p:nvSpPr>
          <p:cNvPr id="45" name="TextBox 44">
            <a:extLst>
              <a:ext uri="{FF2B5EF4-FFF2-40B4-BE49-F238E27FC236}">
                <a16:creationId xmlns:a16="http://schemas.microsoft.com/office/drawing/2014/main" id="{C0091D88-AE31-B090-2F43-99AA79D5F76F}"/>
              </a:ext>
            </a:extLst>
          </p:cNvPr>
          <p:cNvSpPr txBox="1"/>
          <p:nvPr/>
        </p:nvSpPr>
        <p:spPr>
          <a:xfrm>
            <a:off x="1022333" y="4191701"/>
            <a:ext cx="2048189" cy="308418"/>
          </a:xfrm>
          <a:prstGeom prst="rect">
            <a:avLst/>
          </a:prstGeom>
          <a:noFill/>
        </p:spPr>
        <p:txBody>
          <a:bodyPr wrap="square" rtlCol="0">
            <a:spAutoFit/>
          </a:bodyPr>
          <a:lstStyle/>
          <a:p>
            <a:r>
              <a:rPr lang="en-IN" dirty="0"/>
              <a:t>Weights for each well</a:t>
            </a:r>
          </a:p>
        </p:txBody>
      </p:sp>
      <p:cxnSp>
        <p:nvCxnSpPr>
          <p:cNvPr id="47" name="Connector: Elbow 46">
            <a:extLst>
              <a:ext uri="{FF2B5EF4-FFF2-40B4-BE49-F238E27FC236}">
                <a16:creationId xmlns:a16="http://schemas.microsoft.com/office/drawing/2014/main" id="{7C8096F3-65B8-5404-7891-E244DC8EB5E2}"/>
              </a:ext>
            </a:extLst>
          </p:cNvPr>
          <p:cNvCxnSpPr>
            <a:cxnSpLocks/>
          </p:cNvCxnSpPr>
          <p:nvPr/>
        </p:nvCxnSpPr>
        <p:spPr>
          <a:xfrm>
            <a:off x="2705100" y="4345911"/>
            <a:ext cx="579120" cy="244031"/>
          </a:xfrm>
          <a:prstGeom prst="bentConnector3">
            <a:avLst>
              <a:gd name="adj1" fmla="val 1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A56B26A9-8F82-D3F3-4796-218AB373EDEE}"/>
              </a:ext>
            </a:extLst>
          </p:cNvPr>
          <p:cNvCxnSpPr>
            <a:cxnSpLocks/>
          </p:cNvCxnSpPr>
          <p:nvPr/>
        </p:nvCxnSpPr>
        <p:spPr>
          <a:xfrm>
            <a:off x="4026171" y="3112156"/>
            <a:ext cx="3352831"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C9C050B0-5D12-7E73-4C1B-79FE088F53F0}"/>
              </a:ext>
            </a:extLst>
          </p:cNvPr>
          <p:cNvCxnSpPr>
            <a:cxnSpLocks/>
          </p:cNvCxnSpPr>
          <p:nvPr/>
        </p:nvCxnSpPr>
        <p:spPr>
          <a:xfrm>
            <a:off x="4031672" y="1795122"/>
            <a:ext cx="3352831"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FB136F48-AE39-97DC-2FB9-3D290625762C}"/>
              </a:ext>
            </a:extLst>
          </p:cNvPr>
          <p:cNvSpPr txBox="1"/>
          <p:nvPr/>
        </p:nvSpPr>
        <p:spPr>
          <a:xfrm>
            <a:off x="4017644" y="3147719"/>
            <a:ext cx="3308151" cy="709168"/>
          </a:xfrm>
          <a:prstGeom prst="rect">
            <a:avLst/>
          </a:prstGeom>
          <a:noFill/>
        </p:spPr>
        <p:txBody>
          <a:bodyPr wrap="square" rtlCol="0">
            <a:spAutoFit/>
          </a:bodyPr>
          <a:lstStyle/>
          <a:p>
            <a:r>
              <a:rPr lang="en-IN" dirty="0"/>
              <a:t>Weighted mean:-(W1*P1+W2*P2+W3*P3)/(W1+W2+W3)</a:t>
            </a:r>
          </a:p>
          <a:p>
            <a:r>
              <a:rPr lang="en-IN" sz="1200" dirty="0"/>
              <a:t>Where P-petrophysical properties</a:t>
            </a:r>
          </a:p>
        </p:txBody>
      </p:sp>
      <mc:AlternateContent xmlns:mc="http://schemas.openxmlformats.org/markup-compatibility/2006">
        <mc:Choice xmlns:a14="http://schemas.microsoft.com/office/drawing/2010/main" Requires="a14">
          <p:graphicFrame>
            <p:nvGraphicFramePr>
              <p:cNvPr id="58" name="Table 57">
                <a:extLst>
                  <a:ext uri="{FF2B5EF4-FFF2-40B4-BE49-F238E27FC236}">
                    <a16:creationId xmlns:a16="http://schemas.microsoft.com/office/drawing/2014/main" id="{067D4F7D-4992-483D-2D75-0DDEBE4BE82B}"/>
                  </a:ext>
                </a:extLst>
              </p:cNvPr>
              <p:cNvGraphicFramePr>
                <a:graphicFrameLocks noGrp="1"/>
              </p:cNvGraphicFramePr>
              <p:nvPr>
                <p:extLst>
                  <p:ext uri="{D42A27DB-BD31-4B8C-83A1-F6EECF244321}">
                    <p14:modId xmlns:p14="http://schemas.microsoft.com/office/powerpoint/2010/main" val="604829782"/>
                  </p:ext>
                </p:extLst>
              </p:nvPr>
            </p:nvGraphicFramePr>
            <p:xfrm>
              <a:off x="4089231" y="4188765"/>
              <a:ext cx="3236564" cy="975360"/>
            </p:xfrm>
            <a:graphic>
              <a:graphicData uri="http://schemas.openxmlformats.org/drawingml/2006/table">
                <a:tbl>
                  <a:tblPr firstRow="1" bandRow="1">
                    <a:tableStyleId>{F5AB1C69-6EDB-4FF4-983F-18BD219EF322}</a:tableStyleId>
                  </a:tblPr>
                  <a:tblGrid>
                    <a:gridCol w="809141">
                      <a:extLst>
                        <a:ext uri="{9D8B030D-6E8A-4147-A177-3AD203B41FA5}">
                          <a16:colId xmlns:a16="http://schemas.microsoft.com/office/drawing/2014/main" val="2951836564"/>
                        </a:ext>
                      </a:extLst>
                    </a:gridCol>
                    <a:gridCol w="809141">
                      <a:extLst>
                        <a:ext uri="{9D8B030D-6E8A-4147-A177-3AD203B41FA5}">
                          <a16:colId xmlns:a16="http://schemas.microsoft.com/office/drawing/2014/main" val="1594399465"/>
                        </a:ext>
                      </a:extLst>
                    </a:gridCol>
                    <a:gridCol w="809141">
                      <a:extLst>
                        <a:ext uri="{9D8B030D-6E8A-4147-A177-3AD203B41FA5}">
                          <a16:colId xmlns:a16="http://schemas.microsoft.com/office/drawing/2014/main" val="3657890156"/>
                        </a:ext>
                      </a:extLst>
                    </a:gridCol>
                    <a:gridCol w="809141">
                      <a:extLst>
                        <a:ext uri="{9D8B030D-6E8A-4147-A177-3AD203B41FA5}">
                          <a16:colId xmlns:a16="http://schemas.microsoft.com/office/drawing/2014/main" val="1002829954"/>
                        </a:ext>
                      </a:extLst>
                    </a:gridCol>
                  </a:tblGrid>
                  <a:tr h="235491">
                    <a:tc>
                      <a:txBody>
                        <a:bodyPr/>
                        <a:lstStyle/>
                        <a:p>
                          <a:pPr algn="ctr"/>
                          <a:r>
                            <a:rPr lang="en-IN" sz="1000" dirty="0"/>
                            <a:t>Model</a:t>
                          </a:r>
                        </a:p>
                      </a:txBody>
                      <a:tcPr/>
                    </a:tc>
                    <a:tc>
                      <a:txBody>
                        <a:bodyPr/>
                        <a:lstStyle/>
                        <a:p>
                          <a:pPr algn="ctr"/>
                          <a14:m>
                            <m:oMathPara xmlns:m="http://schemas.openxmlformats.org/officeDocument/2006/math">
                              <m:oMathParaPr>
                                <m:jc m:val="centerGroup"/>
                              </m:oMathParaPr>
                              <m:oMath xmlns:m="http://schemas.openxmlformats.org/officeDocument/2006/math">
                                <m:r>
                                  <a:rPr lang="en-IN" sz="1000" i="1" dirty="0" smtClean="0">
                                    <a:latin typeface="Cambria Math" panose="02040503050406030204" pitchFamily="18" charset="0"/>
                                  </a:rPr>
                                  <m:t>𝜙</m:t>
                                </m:r>
                              </m:oMath>
                            </m:oMathPara>
                          </a14:m>
                          <a:endParaRPr lang="en-IN" sz="10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sz="1000" dirty="0" smtClean="0">
                                        <a:latin typeface="Cambria Math" panose="02040503050406030204" pitchFamily="18" charset="0"/>
                                      </a:rPr>
                                    </m:ctrlPr>
                                  </m:sSubPr>
                                  <m:e>
                                    <m:r>
                                      <a:rPr lang="en-IN" sz="1000" i="1" dirty="0">
                                        <a:latin typeface="Cambria Math" panose="02040503050406030204" pitchFamily="18" charset="0"/>
                                      </a:rPr>
                                      <m:t>𝑆</m:t>
                                    </m:r>
                                  </m:e>
                                  <m:sub>
                                    <m:r>
                                      <a:rPr lang="en-IN" sz="1000" i="1" dirty="0">
                                        <a:latin typeface="Cambria Math" panose="02040503050406030204" pitchFamily="18" charset="0"/>
                                      </a:rPr>
                                      <m:t>𝑤</m:t>
                                    </m:r>
                                  </m:sub>
                                </m:sSub>
                              </m:oMath>
                            </m:oMathPara>
                          </a14:m>
                          <a:endParaRPr lang="en-IN" sz="1000" dirty="0"/>
                        </a:p>
                      </a:txBody>
                      <a:tcPr/>
                    </a:tc>
                    <a:tc>
                      <a:txBody>
                        <a:bodyPr/>
                        <a:lstStyle/>
                        <a:p>
                          <a:pPr algn="ctr"/>
                          <a:r>
                            <a:rPr lang="en-IN" sz="1000" dirty="0"/>
                            <a:t>Area(</a:t>
                          </a:r>
                          <a14:m>
                            <m:oMath xmlns:m="http://schemas.openxmlformats.org/officeDocument/2006/math">
                              <m:r>
                                <a:rPr lang="en-IN" sz="1000" i="1" smtClean="0">
                                  <a:latin typeface="Cambria Math" panose="02040503050406030204" pitchFamily="18" charset="0"/>
                                </a:rPr>
                                <m:t>𝑘</m:t>
                              </m:r>
                              <m:sSup>
                                <m:sSupPr>
                                  <m:ctrlPr>
                                    <a:rPr lang="en-IN" sz="1000" i="1" smtClean="0">
                                      <a:latin typeface="Cambria Math" panose="02040503050406030204" pitchFamily="18" charset="0"/>
                                    </a:rPr>
                                  </m:ctrlPr>
                                </m:sSupPr>
                                <m:e>
                                  <m:r>
                                    <a:rPr lang="en-IN" sz="1000" i="1" smtClean="0">
                                      <a:latin typeface="Cambria Math" panose="02040503050406030204" pitchFamily="18" charset="0"/>
                                    </a:rPr>
                                    <m:t>𝑚</m:t>
                                  </m:r>
                                </m:e>
                                <m:sup>
                                  <m:r>
                                    <a:rPr lang="en-IN" sz="1000" i="0" smtClean="0">
                                      <a:latin typeface="Cambria Math" panose="02040503050406030204" pitchFamily="18" charset="0"/>
                                    </a:rPr>
                                    <m:t>2</m:t>
                                  </m:r>
                                </m:sup>
                              </m:sSup>
                            </m:oMath>
                          </a14:m>
                          <a:r>
                            <a:rPr lang="en-IN" sz="1000" dirty="0"/>
                            <a:t>)</a:t>
                          </a:r>
                        </a:p>
                      </a:txBody>
                      <a:tcPr/>
                    </a:tc>
                    <a:extLst>
                      <a:ext uri="{0D108BD9-81ED-4DB2-BD59-A6C34878D82A}">
                        <a16:rowId xmlns:a16="http://schemas.microsoft.com/office/drawing/2014/main" val="291699255"/>
                      </a:ext>
                    </a:extLst>
                  </a:tr>
                  <a:tr h="223645">
                    <a:tc>
                      <a:txBody>
                        <a:bodyPr/>
                        <a:lstStyle/>
                        <a:p>
                          <a:pPr algn="ctr"/>
                          <a:r>
                            <a:rPr lang="en-IN" sz="1000" dirty="0"/>
                            <a:t>Max</a:t>
                          </a:r>
                        </a:p>
                      </a:txBody>
                      <a:tcPr/>
                    </a:tc>
                    <a:tc>
                      <a:txBody>
                        <a:bodyPr/>
                        <a:lstStyle/>
                        <a:p>
                          <a:pPr algn="ctr"/>
                          <a:r>
                            <a:rPr lang="en-IN" sz="1000" dirty="0"/>
                            <a:t>0.2918</a:t>
                          </a:r>
                        </a:p>
                      </a:txBody>
                      <a:tcPr/>
                    </a:tc>
                    <a:tc>
                      <a:txBody>
                        <a:bodyPr/>
                        <a:lstStyle/>
                        <a:p>
                          <a:pPr algn="ctr"/>
                          <a:r>
                            <a:rPr lang="en-IN" sz="1000" dirty="0"/>
                            <a:t>0.431</a:t>
                          </a:r>
                        </a:p>
                      </a:txBody>
                      <a:tcPr/>
                    </a:tc>
                    <a:tc>
                      <a:txBody>
                        <a:bodyPr/>
                        <a:lstStyle/>
                        <a:p>
                          <a:pPr algn="ctr"/>
                          <a:r>
                            <a:rPr lang="en-IN" sz="1000" dirty="0"/>
                            <a:t>7.983</a:t>
                          </a:r>
                        </a:p>
                      </a:txBody>
                      <a:tcPr/>
                    </a:tc>
                    <a:extLst>
                      <a:ext uri="{0D108BD9-81ED-4DB2-BD59-A6C34878D82A}">
                        <a16:rowId xmlns:a16="http://schemas.microsoft.com/office/drawing/2014/main" val="526529185"/>
                      </a:ext>
                    </a:extLst>
                  </a:tr>
                  <a:tr h="223645">
                    <a:tc>
                      <a:txBody>
                        <a:bodyPr/>
                        <a:lstStyle/>
                        <a:p>
                          <a:pPr algn="ctr"/>
                          <a:r>
                            <a:rPr lang="en-IN" sz="1000" dirty="0"/>
                            <a:t>Most Likely</a:t>
                          </a:r>
                        </a:p>
                      </a:txBody>
                      <a:tcPr/>
                    </a:tc>
                    <a:tc>
                      <a:txBody>
                        <a:bodyPr/>
                        <a:lstStyle/>
                        <a:p>
                          <a:pPr algn="ctr"/>
                          <a:r>
                            <a:rPr lang="en-IN" sz="1000" dirty="0"/>
                            <a:t>0.23417</a:t>
                          </a:r>
                        </a:p>
                      </a:txBody>
                      <a:tcPr/>
                    </a:tc>
                    <a:tc>
                      <a:txBody>
                        <a:bodyPr/>
                        <a:lstStyle/>
                        <a:p>
                          <a:pPr algn="ctr"/>
                          <a:r>
                            <a:rPr lang="en-IN" sz="1000" dirty="0"/>
                            <a:t>0.49801</a:t>
                          </a:r>
                        </a:p>
                      </a:txBody>
                      <a:tcPr/>
                    </a:tc>
                    <a:tc>
                      <a:txBody>
                        <a:bodyPr/>
                        <a:lstStyle/>
                        <a:p>
                          <a:pPr algn="ctr"/>
                          <a:r>
                            <a:rPr lang="en-IN" sz="1000" dirty="0"/>
                            <a:t>4.302</a:t>
                          </a:r>
                        </a:p>
                      </a:txBody>
                      <a:tcPr/>
                    </a:tc>
                    <a:extLst>
                      <a:ext uri="{0D108BD9-81ED-4DB2-BD59-A6C34878D82A}">
                        <a16:rowId xmlns:a16="http://schemas.microsoft.com/office/drawing/2014/main" val="3031393911"/>
                      </a:ext>
                    </a:extLst>
                  </a:tr>
                  <a:tr h="223645">
                    <a:tc>
                      <a:txBody>
                        <a:bodyPr/>
                        <a:lstStyle/>
                        <a:p>
                          <a:pPr algn="ctr"/>
                          <a:r>
                            <a:rPr lang="en-IN" sz="1000" dirty="0"/>
                            <a:t>Min</a:t>
                          </a:r>
                        </a:p>
                      </a:txBody>
                      <a:tcPr/>
                    </a:tc>
                    <a:tc>
                      <a:txBody>
                        <a:bodyPr/>
                        <a:lstStyle/>
                        <a:p>
                          <a:pPr algn="ctr"/>
                          <a:r>
                            <a:rPr lang="en-IN" sz="1000" dirty="0"/>
                            <a:t>0.19417</a:t>
                          </a:r>
                        </a:p>
                      </a:txBody>
                      <a:tcPr/>
                    </a:tc>
                    <a:tc>
                      <a:txBody>
                        <a:bodyPr/>
                        <a:lstStyle/>
                        <a:p>
                          <a:pPr algn="ctr"/>
                          <a:r>
                            <a:rPr lang="en-IN" sz="1000" dirty="0"/>
                            <a:t>0.61077</a:t>
                          </a:r>
                        </a:p>
                      </a:txBody>
                      <a:tcPr/>
                    </a:tc>
                    <a:tc>
                      <a:txBody>
                        <a:bodyPr/>
                        <a:lstStyle/>
                        <a:p>
                          <a:pPr algn="ctr"/>
                          <a:r>
                            <a:rPr lang="en-IN" sz="1000" dirty="0"/>
                            <a:t>1.527</a:t>
                          </a:r>
                        </a:p>
                      </a:txBody>
                      <a:tcPr/>
                    </a:tc>
                    <a:extLst>
                      <a:ext uri="{0D108BD9-81ED-4DB2-BD59-A6C34878D82A}">
                        <a16:rowId xmlns:a16="http://schemas.microsoft.com/office/drawing/2014/main" val="3114286596"/>
                      </a:ext>
                    </a:extLst>
                  </a:tr>
                </a:tbl>
              </a:graphicData>
            </a:graphic>
          </p:graphicFrame>
        </mc:Choice>
        <mc:Fallback>
          <p:graphicFrame>
            <p:nvGraphicFramePr>
              <p:cNvPr id="58" name="Table 57">
                <a:extLst>
                  <a:ext uri="{FF2B5EF4-FFF2-40B4-BE49-F238E27FC236}">
                    <a16:creationId xmlns:a16="http://schemas.microsoft.com/office/drawing/2014/main" id="{067D4F7D-4992-483D-2D75-0DDEBE4BE82B}"/>
                  </a:ext>
                </a:extLst>
              </p:cNvPr>
              <p:cNvGraphicFramePr>
                <a:graphicFrameLocks noGrp="1"/>
              </p:cNvGraphicFramePr>
              <p:nvPr>
                <p:extLst>
                  <p:ext uri="{D42A27DB-BD31-4B8C-83A1-F6EECF244321}">
                    <p14:modId xmlns:p14="http://schemas.microsoft.com/office/powerpoint/2010/main" val="604829782"/>
                  </p:ext>
                </p:extLst>
              </p:nvPr>
            </p:nvGraphicFramePr>
            <p:xfrm>
              <a:off x="4089231" y="4188765"/>
              <a:ext cx="3236564" cy="975360"/>
            </p:xfrm>
            <a:graphic>
              <a:graphicData uri="http://schemas.openxmlformats.org/drawingml/2006/table">
                <a:tbl>
                  <a:tblPr firstRow="1" bandRow="1">
                    <a:tableStyleId>{F5AB1C69-6EDB-4FF4-983F-18BD219EF322}</a:tableStyleId>
                  </a:tblPr>
                  <a:tblGrid>
                    <a:gridCol w="809141">
                      <a:extLst>
                        <a:ext uri="{9D8B030D-6E8A-4147-A177-3AD203B41FA5}">
                          <a16:colId xmlns:a16="http://schemas.microsoft.com/office/drawing/2014/main" val="2951836564"/>
                        </a:ext>
                      </a:extLst>
                    </a:gridCol>
                    <a:gridCol w="809141">
                      <a:extLst>
                        <a:ext uri="{9D8B030D-6E8A-4147-A177-3AD203B41FA5}">
                          <a16:colId xmlns:a16="http://schemas.microsoft.com/office/drawing/2014/main" val="1594399465"/>
                        </a:ext>
                      </a:extLst>
                    </a:gridCol>
                    <a:gridCol w="809141">
                      <a:extLst>
                        <a:ext uri="{9D8B030D-6E8A-4147-A177-3AD203B41FA5}">
                          <a16:colId xmlns:a16="http://schemas.microsoft.com/office/drawing/2014/main" val="3657890156"/>
                        </a:ext>
                      </a:extLst>
                    </a:gridCol>
                    <a:gridCol w="809141">
                      <a:extLst>
                        <a:ext uri="{9D8B030D-6E8A-4147-A177-3AD203B41FA5}">
                          <a16:colId xmlns:a16="http://schemas.microsoft.com/office/drawing/2014/main" val="1002829954"/>
                        </a:ext>
                      </a:extLst>
                    </a:gridCol>
                  </a:tblGrid>
                  <a:tr h="243840">
                    <a:tc>
                      <a:txBody>
                        <a:bodyPr/>
                        <a:lstStyle/>
                        <a:p>
                          <a:pPr algn="ctr"/>
                          <a:r>
                            <a:rPr lang="en-IN" sz="1000" dirty="0"/>
                            <a:t>Model</a:t>
                          </a:r>
                        </a:p>
                      </a:txBody>
                      <a:tcPr/>
                    </a:tc>
                    <a:tc>
                      <a:txBody>
                        <a:bodyPr/>
                        <a:lstStyle/>
                        <a:p>
                          <a:endParaRPr lang="en-US"/>
                        </a:p>
                      </a:txBody>
                      <a:tcPr>
                        <a:blipFill>
                          <a:blip r:embed="rId8"/>
                          <a:stretch>
                            <a:fillRect l="-100752" t="-2500" r="-203008" b="-317500"/>
                          </a:stretch>
                        </a:blipFill>
                      </a:tcPr>
                    </a:tc>
                    <a:tc>
                      <a:txBody>
                        <a:bodyPr/>
                        <a:lstStyle/>
                        <a:p>
                          <a:endParaRPr lang="en-US"/>
                        </a:p>
                      </a:txBody>
                      <a:tcPr>
                        <a:blipFill>
                          <a:blip r:embed="rId8"/>
                          <a:stretch>
                            <a:fillRect l="-200752" t="-2500" r="-103008" b="-317500"/>
                          </a:stretch>
                        </a:blipFill>
                      </a:tcPr>
                    </a:tc>
                    <a:tc>
                      <a:txBody>
                        <a:bodyPr/>
                        <a:lstStyle/>
                        <a:p>
                          <a:endParaRPr lang="en-US"/>
                        </a:p>
                      </a:txBody>
                      <a:tcPr>
                        <a:blipFill>
                          <a:blip r:embed="rId8"/>
                          <a:stretch>
                            <a:fillRect l="-300752" t="-2500" r="-3008" b="-317500"/>
                          </a:stretch>
                        </a:blipFill>
                      </a:tcPr>
                    </a:tc>
                    <a:extLst>
                      <a:ext uri="{0D108BD9-81ED-4DB2-BD59-A6C34878D82A}">
                        <a16:rowId xmlns:a16="http://schemas.microsoft.com/office/drawing/2014/main" val="291699255"/>
                      </a:ext>
                    </a:extLst>
                  </a:tr>
                  <a:tr h="243840">
                    <a:tc>
                      <a:txBody>
                        <a:bodyPr/>
                        <a:lstStyle/>
                        <a:p>
                          <a:pPr algn="ctr"/>
                          <a:r>
                            <a:rPr lang="en-IN" sz="1000" dirty="0"/>
                            <a:t>Max</a:t>
                          </a:r>
                        </a:p>
                      </a:txBody>
                      <a:tcPr/>
                    </a:tc>
                    <a:tc>
                      <a:txBody>
                        <a:bodyPr/>
                        <a:lstStyle/>
                        <a:p>
                          <a:pPr algn="ctr"/>
                          <a:r>
                            <a:rPr lang="en-IN" sz="1000" dirty="0"/>
                            <a:t>0.2918</a:t>
                          </a:r>
                        </a:p>
                      </a:txBody>
                      <a:tcPr/>
                    </a:tc>
                    <a:tc>
                      <a:txBody>
                        <a:bodyPr/>
                        <a:lstStyle/>
                        <a:p>
                          <a:pPr algn="ctr"/>
                          <a:r>
                            <a:rPr lang="en-IN" sz="1000" dirty="0"/>
                            <a:t>0.431</a:t>
                          </a:r>
                        </a:p>
                      </a:txBody>
                      <a:tcPr/>
                    </a:tc>
                    <a:tc>
                      <a:txBody>
                        <a:bodyPr/>
                        <a:lstStyle/>
                        <a:p>
                          <a:pPr algn="ctr"/>
                          <a:r>
                            <a:rPr lang="en-IN" sz="1000" dirty="0"/>
                            <a:t>7.983</a:t>
                          </a:r>
                        </a:p>
                      </a:txBody>
                      <a:tcPr/>
                    </a:tc>
                    <a:extLst>
                      <a:ext uri="{0D108BD9-81ED-4DB2-BD59-A6C34878D82A}">
                        <a16:rowId xmlns:a16="http://schemas.microsoft.com/office/drawing/2014/main" val="526529185"/>
                      </a:ext>
                    </a:extLst>
                  </a:tr>
                  <a:tr h="243840">
                    <a:tc>
                      <a:txBody>
                        <a:bodyPr/>
                        <a:lstStyle/>
                        <a:p>
                          <a:pPr algn="ctr"/>
                          <a:r>
                            <a:rPr lang="en-IN" sz="1000" dirty="0"/>
                            <a:t>Most Likely</a:t>
                          </a:r>
                        </a:p>
                      </a:txBody>
                      <a:tcPr/>
                    </a:tc>
                    <a:tc>
                      <a:txBody>
                        <a:bodyPr/>
                        <a:lstStyle/>
                        <a:p>
                          <a:pPr algn="ctr"/>
                          <a:r>
                            <a:rPr lang="en-IN" sz="1000" dirty="0"/>
                            <a:t>0.23417</a:t>
                          </a:r>
                        </a:p>
                      </a:txBody>
                      <a:tcPr/>
                    </a:tc>
                    <a:tc>
                      <a:txBody>
                        <a:bodyPr/>
                        <a:lstStyle/>
                        <a:p>
                          <a:pPr algn="ctr"/>
                          <a:r>
                            <a:rPr lang="en-IN" sz="1000" dirty="0"/>
                            <a:t>0.49801</a:t>
                          </a:r>
                        </a:p>
                      </a:txBody>
                      <a:tcPr/>
                    </a:tc>
                    <a:tc>
                      <a:txBody>
                        <a:bodyPr/>
                        <a:lstStyle/>
                        <a:p>
                          <a:pPr algn="ctr"/>
                          <a:r>
                            <a:rPr lang="en-IN" sz="1000" dirty="0"/>
                            <a:t>4.302</a:t>
                          </a:r>
                        </a:p>
                      </a:txBody>
                      <a:tcPr/>
                    </a:tc>
                    <a:extLst>
                      <a:ext uri="{0D108BD9-81ED-4DB2-BD59-A6C34878D82A}">
                        <a16:rowId xmlns:a16="http://schemas.microsoft.com/office/drawing/2014/main" val="3031393911"/>
                      </a:ext>
                    </a:extLst>
                  </a:tr>
                  <a:tr h="243840">
                    <a:tc>
                      <a:txBody>
                        <a:bodyPr/>
                        <a:lstStyle/>
                        <a:p>
                          <a:pPr algn="ctr"/>
                          <a:r>
                            <a:rPr lang="en-IN" sz="1000" dirty="0"/>
                            <a:t>Min</a:t>
                          </a:r>
                        </a:p>
                      </a:txBody>
                      <a:tcPr/>
                    </a:tc>
                    <a:tc>
                      <a:txBody>
                        <a:bodyPr/>
                        <a:lstStyle/>
                        <a:p>
                          <a:pPr algn="ctr"/>
                          <a:r>
                            <a:rPr lang="en-IN" sz="1000" dirty="0"/>
                            <a:t>0.19417</a:t>
                          </a:r>
                        </a:p>
                      </a:txBody>
                      <a:tcPr/>
                    </a:tc>
                    <a:tc>
                      <a:txBody>
                        <a:bodyPr/>
                        <a:lstStyle/>
                        <a:p>
                          <a:pPr algn="ctr"/>
                          <a:r>
                            <a:rPr lang="en-IN" sz="1000" dirty="0"/>
                            <a:t>0.61077</a:t>
                          </a:r>
                        </a:p>
                      </a:txBody>
                      <a:tcPr/>
                    </a:tc>
                    <a:tc>
                      <a:txBody>
                        <a:bodyPr/>
                        <a:lstStyle/>
                        <a:p>
                          <a:pPr algn="ctr"/>
                          <a:r>
                            <a:rPr lang="en-IN" sz="1000" dirty="0"/>
                            <a:t>1.527</a:t>
                          </a:r>
                        </a:p>
                      </a:txBody>
                      <a:tcPr/>
                    </a:tc>
                    <a:extLst>
                      <a:ext uri="{0D108BD9-81ED-4DB2-BD59-A6C34878D82A}">
                        <a16:rowId xmlns:a16="http://schemas.microsoft.com/office/drawing/2014/main" val="3114286596"/>
                      </a:ext>
                    </a:extLst>
                  </a:tr>
                </a:tbl>
              </a:graphicData>
            </a:graphic>
          </p:graphicFrame>
        </mc:Fallback>
      </mc:AlternateContent>
      <p:cxnSp>
        <p:nvCxnSpPr>
          <p:cNvPr id="59" name="Straight Connector 58">
            <a:extLst>
              <a:ext uri="{FF2B5EF4-FFF2-40B4-BE49-F238E27FC236}">
                <a16:creationId xmlns:a16="http://schemas.microsoft.com/office/drawing/2014/main" id="{B02D9139-95CE-A243-ADD8-59E5B61BA6DB}"/>
              </a:ext>
            </a:extLst>
          </p:cNvPr>
          <p:cNvCxnSpPr>
            <a:cxnSpLocks/>
          </p:cNvCxnSpPr>
          <p:nvPr/>
        </p:nvCxnSpPr>
        <p:spPr>
          <a:xfrm>
            <a:off x="3995303" y="3856887"/>
            <a:ext cx="3389200"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pic>
        <p:nvPicPr>
          <p:cNvPr id="67" name="Picture 66">
            <a:extLst>
              <a:ext uri="{FF2B5EF4-FFF2-40B4-BE49-F238E27FC236}">
                <a16:creationId xmlns:a16="http://schemas.microsoft.com/office/drawing/2014/main" id="{18A67DFE-2CA9-DEA5-C219-6D69BB50779E}"/>
              </a:ext>
            </a:extLst>
          </p:cNvPr>
          <p:cNvPicPr>
            <a:picLocks noChangeAspect="1"/>
          </p:cNvPicPr>
          <p:nvPr/>
        </p:nvPicPr>
        <p:blipFill>
          <a:blip r:embed="rId9"/>
          <a:stretch>
            <a:fillRect/>
          </a:stretch>
        </p:blipFill>
        <p:spPr>
          <a:xfrm>
            <a:off x="7422549" y="535379"/>
            <a:ext cx="1765535" cy="1506478"/>
          </a:xfrm>
          <a:prstGeom prst="rect">
            <a:avLst/>
          </a:prstGeom>
        </p:spPr>
      </p:pic>
      <p:sp>
        <p:nvSpPr>
          <p:cNvPr id="71" name="TextBox 70">
            <a:extLst>
              <a:ext uri="{FF2B5EF4-FFF2-40B4-BE49-F238E27FC236}">
                <a16:creationId xmlns:a16="http://schemas.microsoft.com/office/drawing/2014/main" id="{5E65222B-19A4-264D-9F5A-F4DC16115EE8}"/>
              </a:ext>
            </a:extLst>
          </p:cNvPr>
          <p:cNvSpPr txBox="1"/>
          <p:nvPr/>
        </p:nvSpPr>
        <p:spPr>
          <a:xfrm>
            <a:off x="4026171" y="3877018"/>
            <a:ext cx="1852630" cy="308418"/>
          </a:xfrm>
          <a:prstGeom prst="rect">
            <a:avLst/>
          </a:prstGeom>
          <a:noFill/>
        </p:spPr>
        <p:txBody>
          <a:bodyPr wrap="square" rtlCol="0">
            <a:spAutoFit/>
          </a:bodyPr>
          <a:lstStyle/>
          <a:p>
            <a:r>
              <a:rPr lang="en-IN" b="1" u="sng" dirty="0">
                <a:solidFill>
                  <a:srgbClr val="006600"/>
                </a:solidFill>
              </a:rPr>
              <a:t>4. Final STOIIP values:-</a:t>
            </a:r>
          </a:p>
        </p:txBody>
      </p:sp>
      <p:graphicFrame>
        <p:nvGraphicFramePr>
          <p:cNvPr id="72" name="Table 71">
            <a:extLst>
              <a:ext uri="{FF2B5EF4-FFF2-40B4-BE49-F238E27FC236}">
                <a16:creationId xmlns:a16="http://schemas.microsoft.com/office/drawing/2014/main" id="{F309D701-1786-B02E-71BF-478613B87259}"/>
              </a:ext>
            </a:extLst>
          </p:cNvPr>
          <p:cNvGraphicFramePr>
            <a:graphicFrameLocks noGrp="1"/>
          </p:cNvGraphicFramePr>
          <p:nvPr>
            <p:extLst>
              <p:ext uri="{D42A27DB-BD31-4B8C-83A1-F6EECF244321}">
                <p14:modId xmlns:p14="http://schemas.microsoft.com/office/powerpoint/2010/main" val="3278956883"/>
              </p:ext>
            </p:extLst>
          </p:nvPr>
        </p:nvGraphicFramePr>
        <p:xfrm>
          <a:off x="7436561" y="2138374"/>
          <a:ext cx="1765536" cy="1645920"/>
        </p:xfrm>
        <a:graphic>
          <a:graphicData uri="http://schemas.openxmlformats.org/drawingml/2006/table">
            <a:tbl>
              <a:tblPr firstRow="1" bandRow="1">
                <a:tableStyleId>{10A1B5D5-9B99-4C35-A422-299274C87663}</a:tableStyleId>
              </a:tblPr>
              <a:tblGrid>
                <a:gridCol w="882768">
                  <a:extLst>
                    <a:ext uri="{9D8B030D-6E8A-4147-A177-3AD203B41FA5}">
                      <a16:colId xmlns:a16="http://schemas.microsoft.com/office/drawing/2014/main" val="2951836564"/>
                    </a:ext>
                  </a:extLst>
                </a:gridCol>
                <a:gridCol w="882768">
                  <a:extLst>
                    <a:ext uri="{9D8B030D-6E8A-4147-A177-3AD203B41FA5}">
                      <a16:colId xmlns:a16="http://schemas.microsoft.com/office/drawing/2014/main" val="1594399465"/>
                    </a:ext>
                  </a:extLst>
                </a:gridCol>
              </a:tblGrid>
              <a:tr h="235491">
                <a:tc>
                  <a:txBody>
                    <a:bodyPr/>
                    <a:lstStyle/>
                    <a:p>
                      <a:pPr algn="ctr"/>
                      <a:endParaRPr lang="en-IN" sz="1400" dirty="0"/>
                    </a:p>
                    <a:p>
                      <a:pPr algn="ctr"/>
                      <a:r>
                        <a:rPr lang="en-IN" sz="1400" dirty="0"/>
                        <a:t>Model</a:t>
                      </a:r>
                    </a:p>
                  </a:txBody>
                  <a:tcPr/>
                </a:tc>
                <a:tc>
                  <a:txBody>
                    <a:bodyPr/>
                    <a:lstStyle/>
                    <a:p>
                      <a:pPr algn="ctr"/>
                      <a:r>
                        <a:rPr lang="en-IN" sz="1400" dirty="0"/>
                        <a:t>STOIIP</a:t>
                      </a:r>
                    </a:p>
                    <a:p>
                      <a:pPr algn="ctr"/>
                      <a:r>
                        <a:rPr lang="en-IN" sz="1400" dirty="0"/>
                        <a:t>(MMBO)</a:t>
                      </a:r>
                    </a:p>
                  </a:txBody>
                  <a:tcPr/>
                </a:tc>
                <a:extLst>
                  <a:ext uri="{0D108BD9-81ED-4DB2-BD59-A6C34878D82A}">
                    <a16:rowId xmlns:a16="http://schemas.microsoft.com/office/drawing/2014/main" val="291699255"/>
                  </a:ext>
                </a:extLst>
              </a:tr>
              <a:tr h="223645">
                <a:tc>
                  <a:txBody>
                    <a:bodyPr/>
                    <a:lstStyle/>
                    <a:p>
                      <a:pPr algn="ctr"/>
                      <a:r>
                        <a:rPr lang="en-IN" sz="1400" b="1" dirty="0"/>
                        <a:t>Max</a:t>
                      </a:r>
                    </a:p>
                  </a:txBody>
                  <a:tcPr/>
                </a:tc>
                <a:tc>
                  <a:txBody>
                    <a:bodyPr/>
                    <a:lstStyle/>
                    <a:p>
                      <a:pPr algn="ctr"/>
                      <a:r>
                        <a:rPr lang="en-IN" sz="1400" b="1" kern="1200" dirty="0">
                          <a:solidFill>
                            <a:schemeClr val="dk1"/>
                          </a:solidFill>
                          <a:effectLst/>
                        </a:rPr>
                        <a:t>57.06</a:t>
                      </a:r>
                      <a:endParaRPr lang="en-IN" sz="1400" b="1" dirty="0"/>
                    </a:p>
                  </a:txBody>
                  <a:tcPr/>
                </a:tc>
                <a:extLst>
                  <a:ext uri="{0D108BD9-81ED-4DB2-BD59-A6C34878D82A}">
                    <a16:rowId xmlns:a16="http://schemas.microsoft.com/office/drawing/2014/main" val="526529185"/>
                  </a:ext>
                </a:extLst>
              </a:tr>
              <a:tr h="223645">
                <a:tc>
                  <a:txBody>
                    <a:bodyPr/>
                    <a:lstStyle/>
                    <a:p>
                      <a:pPr algn="ctr"/>
                      <a:r>
                        <a:rPr lang="en-IN" sz="1400" b="1" dirty="0"/>
                        <a:t>Most Likely</a:t>
                      </a:r>
                    </a:p>
                  </a:txBody>
                  <a:tcPr/>
                </a:tc>
                <a:tc>
                  <a:txBody>
                    <a:bodyPr/>
                    <a:lstStyle/>
                    <a:p>
                      <a:pPr algn="ctr"/>
                      <a:endParaRPr lang="en-IN" sz="1400" b="1" dirty="0"/>
                    </a:p>
                    <a:p>
                      <a:pPr algn="ctr"/>
                      <a:r>
                        <a:rPr lang="en-IN" sz="1400" b="1" dirty="0"/>
                        <a:t>21.8</a:t>
                      </a:r>
                    </a:p>
                  </a:txBody>
                  <a:tcPr/>
                </a:tc>
                <a:extLst>
                  <a:ext uri="{0D108BD9-81ED-4DB2-BD59-A6C34878D82A}">
                    <a16:rowId xmlns:a16="http://schemas.microsoft.com/office/drawing/2014/main" val="3031393911"/>
                  </a:ext>
                </a:extLst>
              </a:tr>
              <a:tr h="223645">
                <a:tc>
                  <a:txBody>
                    <a:bodyPr/>
                    <a:lstStyle/>
                    <a:p>
                      <a:pPr algn="ctr"/>
                      <a:r>
                        <a:rPr lang="en-IN" sz="1400" b="1" dirty="0"/>
                        <a:t>Min</a:t>
                      </a:r>
                    </a:p>
                  </a:txBody>
                  <a:tcPr/>
                </a:tc>
                <a:tc>
                  <a:txBody>
                    <a:bodyPr/>
                    <a:lstStyle/>
                    <a:p>
                      <a:pPr algn="ctr"/>
                      <a:r>
                        <a:rPr lang="en-IN" sz="1400" b="1" dirty="0"/>
                        <a:t>4.97</a:t>
                      </a:r>
                    </a:p>
                  </a:txBody>
                  <a:tcPr/>
                </a:tc>
                <a:extLst>
                  <a:ext uri="{0D108BD9-81ED-4DB2-BD59-A6C34878D82A}">
                    <a16:rowId xmlns:a16="http://schemas.microsoft.com/office/drawing/2014/main" val="3114286596"/>
                  </a:ext>
                </a:extLst>
              </a:tr>
            </a:tbl>
          </a:graphicData>
        </a:graphic>
      </p:graphicFrame>
      <p:cxnSp>
        <p:nvCxnSpPr>
          <p:cNvPr id="73" name="Straight Connector 72">
            <a:extLst>
              <a:ext uri="{FF2B5EF4-FFF2-40B4-BE49-F238E27FC236}">
                <a16:creationId xmlns:a16="http://schemas.microsoft.com/office/drawing/2014/main" id="{1879539E-071E-0696-C1E4-EE9FA09EC2C8}"/>
              </a:ext>
            </a:extLst>
          </p:cNvPr>
          <p:cNvCxnSpPr>
            <a:cxnSpLocks/>
          </p:cNvCxnSpPr>
          <p:nvPr/>
        </p:nvCxnSpPr>
        <p:spPr>
          <a:xfrm>
            <a:off x="7384503" y="3868415"/>
            <a:ext cx="1852630" cy="860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pic>
        <p:nvPicPr>
          <p:cNvPr id="76" name="Picture 75">
            <a:extLst>
              <a:ext uri="{FF2B5EF4-FFF2-40B4-BE49-F238E27FC236}">
                <a16:creationId xmlns:a16="http://schemas.microsoft.com/office/drawing/2014/main" id="{DBB5974F-26A1-EBA2-C10C-210D4805EEAC}"/>
              </a:ext>
            </a:extLst>
          </p:cNvPr>
          <p:cNvPicPr>
            <a:picLocks noChangeAspect="1"/>
          </p:cNvPicPr>
          <p:nvPr/>
        </p:nvPicPr>
        <p:blipFill>
          <a:blip r:embed="rId10"/>
          <a:srcRect r="16899"/>
          <a:stretch>
            <a:fillRect/>
          </a:stretch>
        </p:blipFill>
        <p:spPr>
          <a:xfrm>
            <a:off x="7443778" y="3964932"/>
            <a:ext cx="1766080" cy="1248829"/>
          </a:xfrm>
          <a:prstGeom prst="rect">
            <a:avLst/>
          </a:prstGeom>
        </p:spPr>
      </p:pic>
      <p:cxnSp>
        <p:nvCxnSpPr>
          <p:cNvPr id="77" name="Straight Connector 76">
            <a:extLst>
              <a:ext uri="{FF2B5EF4-FFF2-40B4-BE49-F238E27FC236}">
                <a16:creationId xmlns:a16="http://schemas.microsoft.com/office/drawing/2014/main" id="{5ED1B2FE-CB8F-B477-CEA7-B50E5769A04F}"/>
              </a:ext>
            </a:extLst>
          </p:cNvPr>
          <p:cNvCxnSpPr>
            <a:cxnSpLocks/>
          </p:cNvCxnSpPr>
          <p:nvPr/>
        </p:nvCxnSpPr>
        <p:spPr>
          <a:xfrm>
            <a:off x="7384503" y="2005397"/>
            <a:ext cx="1852630" cy="860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5089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728</TotalTime>
  <Words>2599</Words>
  <Application>Microsoft Office PowerPoint</Application>
  <PresentationFormat>Custom</PresentationFormat>
  <Paragraphs>405</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Calibri</vt:lpstr>
      <vt:lpstr>Cambria Math</vt:lpstr>
      <vt:lpstr>GillSans_2k</vt:lpstr>
      <vt:lpstr>Sans Serif Collection</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Harshinee</dc:creator>
  <cp:keywords/>
  <dc:description>generated using python-pptx</dc:description>
  <cp:lastModifiedBy>Harshinee R</cp:lastModifiedBy>
  <cp:revision>130</cp:revision>
  <dcterms:created xsi:type="dcterms:W3CDTF">2013-01-27T09:14:16Z</dcterms:created>
  <dcterms:modified xsi:type="dcterms:W3CDTF">2026-03-09T18:34:06Z</dcterms:modified>
  <cp:category/>
</cp:coreProperties>
</file>